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3"/>
  </p:notesMasterIdLst>
  <p:sldIdLst>
    <p:sldId id="256" r:id="rId3"/>
    <p:sldId id="288" r:id="rId4"/>
    <p:sldId id="287" r:id="rId5"/>
    <p:sldId id="285" r:id="rId6"/>
    <p:sldId id="292" r:id="rId7"/>
    <p:sldId id="289" r:id="rId8"/>
    <p:sldId id="293" r:id="rId9"/>
    <p:sldId id="290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11A46-23A7-4CAD-863D-6397CDAD4FD2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DA3-5A45-4EA5-8847-63371DDB5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32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9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24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38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36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5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8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65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07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65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6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Ref: RCC02)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RCC02: NRF24L01 Wireless </a:t>
            </a:r>
            <a:r>
              <a:rPr lang="en-US" sz="3600" b="1">
                <a:solidFill>
                  <a:srgbClr val="7030A0"/>
                </a:solidFill>
              </a:rPr>
              <a:t>Setup Tx-Rx</a:t>
            </a:r>
            <a:endParaRPr lang="en-GB" sz="3600" b="1" dirty="0">
              <a:solidFill>
                <a:srgbClr val="7030A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5A6A5-3841-4FBA-B455-67883EB31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RCC02: NRF24L01 Wireless Setup </a:t>
            </a:r>
            <a:r>
              <a:rPr lang="en-US" b="1" dirty="0" err="1">
                <a:solidFill>
                  <a:srgbClr val="7030A0"/>
                </a:solidFill>
              </a:rPr>
              <a:t>TxRx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E6832-164B-63D1-992D-505C09285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990" y="4369619"/>
            <a:ext cx="1795010" cy="1574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22F15-E288-B9C4-18BC-19003B39E3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7255674" y="1906828"/>
            <a:ext cx="2842812" cy="3904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9EB0A-9A32-1268-7377-D6E8C58289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993022" y="1906827"/>
            <a:ext cx="3054342" cy="3904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A0B6F-96E7-A7CE-D79C-06C7B54AE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486" y="1324966"/>
            <a:ext cx="1795010" cy="1574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4B8BB-C66F-04C6-A294-DB2D1F68FF74}"/>
              </a:ext>
            </a:extLst>
          </p:cNvPr>
          <p:cNvSpPr txBox="1"/>
          <p:nvPr/>
        </p:nvSpPr>
        <p:spPr bwMode="auto">
          <a:xfrm>
            <a:off x="7017811" y="6354223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C1D6C-E861-25A7-1E8C-9ACCD884A776}"/>
              </a:ext>
            </a:extLst>
          </p:cNvPr>
          <p:cNvSpPr txBox="1"/>
          <p:nvPr/>
        </p:nvSpPr>
        <p:spPr bwMode="auto">
          <a:xfrm>
            <a:off x="568128" y="6354223"/>
            <a:ext cx="3879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</a:t>
            </a:r>
          </a:p>
        </p:txBody>
      </p:sp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RCC02: Joystick Basics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Read X &amp; Y values</a:t>
            </a:r>
          </a:p>
          <a:p>
            <a:r>
              <a:rPr lang="en-GB" dirty="0">
                <a:solidFill>
                  <a:schemeClr val="bg1"/>
                </a:solidFill>
              </a:rPr>
              <a:t>Determine direction</a:t>
            </a:r>
          </a:p>
          <a:p>
            <a:r>
              <a:rPr lang="en-GB" dirty="0">
                <a:solidFill>
                  <a:schemeClr val="bg1"/>
                </a:solidFill>
              </a:rPr>
              <a:t>Clear OLED &amp; print</a:t>
            </a:r>
          </a:p>
          <a:p>
            <a:r>
              <a:rPr lang="en-GB" dirty="0">
                <a:solidFill>
                  <a:schemeClr val="bg1"/>
                </a:solidFill>
              </a:rPr>
              <a:t>Small delay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4FC053-1191-B07D-2FD0-E62C57896A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7991872" y="1400732"/>
            <a:ext cx="3054342" cy="39041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4E4FA6-587B-2547-6644-E80B7BC02310}"/>
              </a:ext>
            </a:extLst>
          </p:cNvPr>
          <p:cNvSpPr txBox="1"/>
          <p:nvPr/>
        </p:nvSpPr>
        <p:spPr bwMode="auto">
          <a:xfrm rot="16200000">
            <a:off x="9355811" y="2974440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D2150D58-97AD-CB73-F9F0-5D4258228361}"/>
              </a:ext>
            </a:extLst>
          </p:cNvPr>
          <p:cNvSpPr txBox="1"/>
          <p:nvPr/>
        </p:nvSpPr>
        <p:spPr bwMode="auto">
          <a:xfrm>
            <a:off x="938630" y="4412942"/>
            <a:ext cx="5810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RCC02 (</a:t>
            </a:r>
            <a:r>
              <a:rPr lang="en-US" b="1" dirty="0"/>
              <a:t>RCC02_a_Joystick_Movement_Functionality_Tx</a:t>
            </a:r>
            <a:r>
              <a:rPr lang="en-GB" b="1" dirty="0"/>
              <a:t>.ino):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CBF04F-BB1B-1976-92F3-7B4022BD2C5B}"/>
              </a:ext>
            </a:extLst>
          </p:cNvPr>
          <p:cNvSpPr txBox="1"/>
          <p:nvPr/>
        </p:nvSpPr>
        <p:spPr>
          <a:xfrm>
            <a:off x="938631" y="5059273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27862B-5407-1F90-6A1F-09CF9E9C595C}"/>
              </a:ext>
            </a:extLst>
          </p:cNvPr>
          <p:cNvSpPr txBox="1"/>
          <p:nvPr/>
        </p:nvSpPr>
        <p:spPr bwMode="auto">
          <a:xfrm>
            <a:off x="7782580" y="5014905"/>
            <a:ext cx="3879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</a:t>
            </a:r>
          </a:p>
        </p:txBody>
      </p:sp>
    </p:spTree>
    <p:extLst>
      <p:ext uri="{BB962C8B-B14F-4D97-AF65-F5344CB8AC3E}">
        <p14:creationId xmlns:p14="http://schemas.microsoft.com/office/powerpoint/2010/main" val="606777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3478-60C2-AA77-E65A-91F653C61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RCC02: Joystick Basics</a:t>
            </a:r>
            <a:br>
              <a:rPr lang="en-GB" b="1" dirty="0">
                <a:solidFill>
                  <a:srgbClr val="7030A0"/>
                </a:solidFill>
              </a:rPr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15BAC-4710-29F1-7639-4EBAA00B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71D14-CB3A-CBAA-B5EE-EA153542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6</a:t>
            </a:fld>
            <a:endParaRPr lang="en-GB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118D868-C428-1CBA-F630-2FC817FBF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29896"/>
            <a:ext cx="7973401" cy="5262979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setup()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Start Serial (9600) for debugging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Initialize OLED display (SSD1306) at I2C address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0x3C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Clear display, set text size and color (WHITE)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Set joystick pins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A0 (X)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A1 (Y)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as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loop()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Read joystick analog values: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xValue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analogRead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(A0)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yValue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analogRead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(A1)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Convert X/Y values into a direction using thresholds: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- Y &gt; 600 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FORWARD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- Y &lt; 400 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BACKWARD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- X &gt; 600 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RIGHT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- X &lt; 400 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LEFT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- Otherwise 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CENTER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Clear OLED and set cursor to top-left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Display heading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“JOYSTICK VALUES”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Print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DIR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(direction text)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Push updated frame to OLED using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display.display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• Delay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50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for smooth refresh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directionText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(x, y)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Checks joystick X/Y against fixed thresholds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Returns one of: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FORWARD / BACKWARD / LEFT / RIGHT / CENTER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91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CC37-3ADD-4CF2-11EF-905B22CB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RCC02: NRF24L01 Wireless Setup </a:t>
            </a:r>
            <a:r>
              <a:rPr lang="en-US" b="1" dirty="0" err="1">
                <a:solidFill>
                  <a:srgbClr val="7030A0"/>
                </a:solidFill>
              </a:rPr>
              <a:t>TxRx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5E17-6AFB-1E6D-6D95-10FFFB1B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739AA-B2B4-8714-73F1-AC833717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7</a:t>
            </a:fld>
            <a:endParaRPr lang="en-GB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ADF46208-C781-3C94-AECE-BAF1DB737222}"/>
              </a:ext>
            </a:extLst>
          </p:cNvPr>
          <p:cNvSpPr txBox="1"/>
          <p:nvPr/>
        </p:nvSpPr>
        <p:spPr bwMode="auto">
          <a:xfrm>
            <a:off x="1008204" y="5277646"/>
            <a:ext cx="5501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RCC02 (</a:t>
            </a:r>
            <a:r>
              <a:rPr lang="en-US" b="1" dirty="0"/>
              <a:t>RCC02_b_NRF24L01_Basic_Transmitter_Tx</a:t>
            </a:r>
            <a:r>
              <a:rPr lang="en-GB" b="1" dirty="0"/>
              <a:t>.ino):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3BC2B-F791-CB7B-EDBD-2BA738EA04D0}"/>
              </a:ext>
            </a:extLst>
          </p:cNvPr>
          <p:cNvSpPr txBox="1"/>
          <p:nvPr/>
        </p:nvSpPr>
        <p:spPr>
          <a:xfrm>
            <a:off x="1008204" y="5923977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B3A9A2B-BAEF-EA7E-8147-8F46AF987F2D}"/>
              </a:ext>
            </a:extLst>
          </p:cNvPr>
          <p:cNvSpPr txBox="1"/>
          <p:nvPr/>
        </p:nvSpPr>
        <p:spPr bwMode="auto">
          <a:xfrm>
            <a:off x="6510130" y="5277646"/>
            <a:ext cx="5501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RCC02 (</a:t>
            </a:r>
            <a:r>
              <a:rPr lang="en-US" b="1" dirty="0"/>
              <a:t>RCC02_b_NRF24L01_Basic_Receiver_Rx</a:t>
            </a:r>
            <a:r>
              <a:rPr lang="en-GB" b="1" dirty="0"/>
              <a:t>.ino):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B0E19-0128-994A-59E6-277370339E8B}"/>
              </a:ext>
            </a:extLst>
          </p:cNvPr>
          <p:cNvSpPr txBox="1"/>
          <p:nvPr/>
        </p:nvSpPr>
        <p:spPr>
          <a:xfrm>
            <a:off x="6510130" y="5923977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63C869-CD41-0F91-F099-AEB91A807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6659109" y="1476935"/>
            <a:ext cx="2842812" cy="39041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75842C-E7B1-BBD1-075E-9F8438C185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1670583" y="1532102"/>
            <a:ext cx="3054342" cy="390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05F5A-115F-2B21-39D1-6E61A5D7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RCC02: NRF24L01 Wireless Setup </a:t>
            </a:r>
            <a:r>
              <a:rPr lang="en-US" b="1" dirty="0" err="1">
                <a:solidFill>
                  <a:srgbClr val="7030A0"/>
                </a:solidFill>
              </a:rPr>
              <a:t>TxRx</a:t>
            </a:r>
            <a:br>
              <a:rPr lang="en-GB" b="1" dirty="0">
                <a:solidFill>
                  <a:srgbClr val="7030A0"/>
                </a:solidFill>
              </a:rPr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0B5AB-E606-96FC-21FE-58A098A91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63FF9-F38D-373D-1897-813A1F20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8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534A2-09D6-C899-E2F9-62B6AC385F03}"/>
              </a:ext>
            </a:extLst>
          </p:cNvPr>
          <p:cNvSpPr txBox="1"/>
          <p:nvPr/>
        </p:nvSpPr>
        <p:spPr>
          <a:xfrm>
            <a:off x="2018087" y="5971629"/>
            <a:ext cx="8411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en-US" sz="2600" b="1" i="0" u="none" dirty="0">
                <a:solidFill>
                  <a:schemeClr val="accent4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Note:</a:t>
            </a: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/>
            </a:pPr>
            <a:r>
              <a:rPr lang="en-US" sz="1800" b="1" i="0" u="none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Ensure both the receiver/transmitter have the identical Device  </a:t>
            </a:r>
            <a:r>
              <a:rPr lang="en-US" sz="1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lang="en-US" sz="1800" b="1" i="0" u="none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ddress (Pipe) and Channel</a:t>
            </a:r>
            <a:endParaRPr lang="en-US" sz="1800" b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AE9E60A-3544-32D4-ACC2-DD0CBAB62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833" y="1515140"/>
            <a:ext cx="3637534" cy="4247317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setup()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Start Serial (9600)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OLED (SSD1306, I2C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0x3C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nRF24L01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receiver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CE=A3, CSN=A2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  <a:latin typeface="Arial" panose="020B0604020202020204" pitchFamily="34" charset="0"/>
              </a:rPr>
              <a:t>Reading pipe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  <a:latin typeface="Arial Unicode MS"/>
              </a:rPr>
              <a:t>"00001"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–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</a:rPr>
              <a:t>Channel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  <a:latin typeface="Arial" panose="020B0604020202020204" pitchFamily="34" charset="0"/>
              </a:rPr>
              <a:t>108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  <a:latin typeface="Arial" panose="020B0604020202020204" pitchFamily="34" charset="0"/>
              </a:rPr>
              <a:t>, Power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  <a:latin typeface="Arial" panose="020B0604020202020204" pitchFamily="34" charset="0"/>
              </a:rPr>
              <a:t>LOW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startListening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loop()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Show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RECEIVER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on OLED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If radio data available: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Read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x, 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payload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Display X and Y values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Refresh OLED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Delay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100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4AF5017-3480-6403-B5E7-E7CF9A22D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148" y="1443841"/>
            <a:ext cx="4351897" cy="397031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setup()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Start Serial (9600)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OLED (SSD1306,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0x3C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nRF24L01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TX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CE=A3, CSN=A2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  <a:latin typeface="Arial" panose="020B0604020202020204" pitchFamily="34" charset="0"/>
              </a:rPr>
              <a:t>Pipe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  <a:latin typeface="Arial Unicode MS"/>
              </a:rPr>
              <a:t>"00001"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B0F0"/>
                </a:solidFill>
              </a:rPr>
              <a:t>-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</a:rPr>
              <a:t>Channel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  <a:latin typeface="Arial" panose="020B0604020202020204" pitchFamily="34" charset="0"/>
              </a:rPr>
              <a:t>108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  <a:latin typeface="Arial" panose="020B0604020202020204" pitchFamily="34" charset="0"/>
              </a:rPr>
              <a:t>, Power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800080"/>
                </a:highlight>
                <a:latin typeface="Arial" panose="020B0604020202020204" pitchFamily="34" charset="0"/>
              </a:rPr>
              <a:t>LOW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stopListening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()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• Set joystick pins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A0, A1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as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loop()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Read joystick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X, Y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Send payload via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radio.write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()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• Display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TRANSMITTER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X, Y on OLED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Delay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100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206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Remote robot control</a:t>
            </a:r>
          </a:p>
          <a:p>
            <a:r>
              <a:rPr lang="en-GB" dirty="0">
                <a:solidFill>
                  <a:schemeClr val="bg1"/>
                </a:solidFill>
              </a:rPr>
              <a:t>Telemetry monitoring</a:t>
            </a:r>
          </a:p>
          <a:p>
            <a:r>
              <a:rPr lang="en-GB" dirty="0">
                <a:solidFill>
                  <a:schemeClr val="bg1"/>
                </a:solidFill>
              </a:rPr>
              <a:t>Multi-node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Why matching pipes?</a:t>
            </a:r>
          </a:p>
          <a:p>
            <a:r>
              <a:rPr lang="en-GB" dirty="0">
                <a:solidFill>
                  <a:schemeClr val="bg1"/>
                </a:solidFill>
              </a:rPr>
              <a:t>Why CE/CSN?</a:t>
            </a:r>
          </a:p>
          <a:p>
            <a:r>
              <a:rPr lang="en-GB" dirty="0">
                <a:solidFill>
                  <a:schemeClr val="bg1"/>
                </a:solidFill>
              </a:rPr>
              <a:t>Why OLED for debugging?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661</Words>
  <Application>Microsoft Office PowerPoint</Application>
  <PresentationFormat>Widescreen</PresentationFormat>
  <Paragraphs>86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Arial Unicode MS</vt:lpstr>
      <vt:lpstr>Calibri</vt:lpstr>
      <vt:lpstr>Calibri Light</vt:lpstr>
      <vt:lpstr>1_Office Theme</vt:lpstr>
      <vt:lpstr>Office Theme</vt:lpstr>
      <vt:lpstr>Robot Car 2 (Wireless Communication Control) (RCC)</vt:lpstr>
      <vt:lpstr>Robot Car2 - Contents</vt:lpstr>
      <vt:lpstr>Robot Car2 - Contents</vt:lpstr>
      <vt:lpstr>RCC02: NRF24L01 Wireless Setup TxRx</vt:lpstr>
      <vt:lpstr>RCC02: Joystick Basics</vt:lpstr>
      <vt:lpstr> RCC02: Joystick Basics </vt:lpstr>
      <vt:lpstr>RCC02: NRF24L01 Wireless Setup TxRx</vt:lpstr>
      <vt:lpstr> RCC02: NRF24L01 Wireless Setup TxRx 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18</cp:revision>
  <dcterms:created xsi:type="dcterms:W3CDTF">2025-11-29T15:09:33Z</dcterms:created>
  <dcterms:modified xsi:type="dcterms:W3CDTF">2026-01-11T22:56:33Z</dcterms:modified>
</cp:coreProperties>
</file>