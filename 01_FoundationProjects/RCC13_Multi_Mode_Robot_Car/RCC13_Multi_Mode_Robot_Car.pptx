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9" r:id="rId3"/>
    <p:sldId id="260" r:id="rId4"/>
    <p:sldId id="261" r:id="rId5"/>
    <p:sldId id="268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2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1F3BE-512F-A9CE-900D-B6E0068F4D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11E759-8398-1C8B-4F38-3B5F5F382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DDE8A-E854-1D1C-8B81-59D304580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4DB82-9D26-A4A7-DD71-B140CE7B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CD4B25-EB67-28E5-5C5F-D5789BB88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1006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58F54-B80F-E040-0537-D4AB53684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5052E-FBAF-9764-17B4-44EEDA19C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428461-73E6-DA43-A804-1BED2DED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C90D2-FEC4-8B98-89A9-8B863F908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767BA-0170-E4AA-D831-BE5F2B30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456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643F4-DF9D-3089-607F-F630042D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EC6B38-3C8D-E9B6-AE09-3D4FB3A9E7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396E3-1754-8F20-FFD6-495F35BE4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ECFE-EDD5-4401-2AE2-5CF0BEE56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E226EF-4679-CF6F-CF81-24B22760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0919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9617A-463C-B0FA-843B-05D55BB41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0016E-78F1-F75B-BC93-791E453766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4ACE3-6B57-CC2B-E335-02B52C0EB5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DBD783-A52E-0064-668C-D393154B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6EDF47-CE09-3FD5-8ADD-0A6CFFA9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BE330-F483-EA66-3FEC-34BA5B610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92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89D43-5E5B-48DD-A60B-FDDAC693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6F32E-5382-7984-7E93-85C807443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618230-A817-7965-EFCB-0720B4ABC6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3800D-524D-E9FD-E4E6-8A0324046C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E48E2B-8B3B-4A12-8C05-6222B14B4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83518-B8B2-5C7F-CD0A-125EFA788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30EBAF-1066-8FE2-60BF-0AD28A94F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D6C8C0-F362-9C7F-C203-EC0BF19B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158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A044E-9B9D-6532-38C5-2548C08E3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C5C59B-7D5D-D630-8E28-4022FF76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6964E-2C9E-7926-8B63-80F95308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30FA47-9D75-E0FF-8FB3-0F9EF181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07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268972-0D81-CE22-EDE6-5BD70E2B4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CF470F-F056-E314-B018-2C9E07E7F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F2BD58-FE18-5B4B-0126-E111600D5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412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E1CF6-20E5-C8D0-55EF-0044CFF3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13B3F-0A8A-88D7-368C-2C0D15C33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8D0F0-7D28-2713-49F8-A122409C5E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5D5A1-AB6A-3313-6D15-BF77B31EC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A49E29-6085-AC32-B97C-BE6FFEDD4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97273-FC10-830B-4EE1-EF7CBFF7E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253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618FA-A510-D593-C2E8-A943D32C0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86480-7067-230A-B3CE-415EF472B5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3E5E3-C685-17BB-99D4-CCE0E3B57F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FCBDC-72D1-DA03-EEBB-12C473CA7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BEEE8-F749-3928-8336-8F0490C7F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2A82A-58B8-B13C-BD66-5D340CA1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17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1B81-8671-ED96-E3F5-C681FFE3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EFCA56-3F75-07CB-9FB7-F0F7B78EA9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CC168-4ABB-D666-29C9-347EFF50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4C89C-E42B-0302-ED96-48D8638B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BBADE0-9275-B9E0-72CF-A481D81CB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550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CC2B5-AAB4-6939-855D-759D3FB8B1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E0E091-D309-3C53-FAA0-94D42F52B9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CD9BE-9D56-0A3B-FC8E-767BBF1A3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BC3CD-7309-6765-72C1-5982459D6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D70F7-1F47-1B7A-7B20-44E99C1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3804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0E771D-197D-29E2-0B81-12A4FAE2B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599D2-8F60-BB7F-534F-CDB425A41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CE3F2-2023-C212-377A-F9A16C0525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D51BA1-F58B-40DF-9C13-73BC69DE2A80}" type="datetimeFigureOut">
              <a:rPr lang="en-GB" smtClean="0"/>
              <a:t>11/01/2026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9B2B7-BC4C-BF5C-4319-2E83B888F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4DCB-AAB0-5D1A-3349-E5C5C3E40D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CE3CD-8E5B-4FEB-BC1E-3D61BE3CC71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001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E1084-B5DC-32D0-70C8-1C1F01656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ZAS Robotic Products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429A87-03D8-FA02-3B18-72CD3764F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sz="3200" dirty="0">
                <a:solidFill>
                  <a:schemeClr val="accent4"/>
                </a:solidFill>
              </a:rPr>
              <a:t>Navigational Robotic Series</a:t>
            </a:r>
          </a:p>
          <a:p>
            <a:r>
              <a:rPr lang="en-GB" sz="3200" dirty="0">
                <a:solidFill>
                  <a:schemeClr val="accent5"/>
                </a:solidFill>
              </a:rPr>
              <a:t>Robot Car-2: Communications</a:t>
            </a:r>
          </a:p>
          <a:p>
            <a:endParaRPr lang="en-GB" sz="3200" dirty="0">
              <a:solidFill>
                <a:schemeClr val="accent5"/>
              </a:solidFill>
            </a:endParaRPr>
          </a:p>
          <a:p>
            <a:r>
              <a:rPr lang="fr-FR" sz="3200" dirty="0" err="1">
                <a:solidFill>
                  <a:schemeClr val="bg1"/>
                </a:solidFill>
              </a:rPr>
              <a:t>Lab</a:t>
            </a:r>
            <a:r>
              <a:rPr lang="fr-FR" sz="3200" dirty="0">
                <a:solidFill>
                  <a:schemeClr val="bg1"/>
                </a:solidFill>
              </a:rPr>
              <a:t> </a:t>
            </a:r>
            <a:r>
              <a:rPr lang="fr-FR" sz="3200">
                <a:solidFill>
                  <a:schemeClr val="bg1"/>
                </a:solidFill>
              </a:rPr>
              <a:t>Session 13 </a:t>
            </a:r>
            <a:r>
              <a:rPr lang="fr-FR" sz="3200" dirty="0">
                <a:solidFill>
                  <a:schemeClr val="bg1"/>
                </a:solidFill>
              </a:rPr>
              <a:t>– </a:t>
            </a:r>
            <a:r>
              <a:rPr lang="fr-FR" sz="3200" dirty="0" err="1">
                <a:solidFill>
                  <a:schemeClr val="bg1"/>
                </a:solidFill>
              </a:rPr>
              <a:t>Multi‑Mode</a:t>
            </a:r>
            <a:r>
              <a:rPr lang="fr-FR" sz="3200" dirty="0">
                <a:solidFill>
                  <a:schemeClr val="bg1"/>
                </a:solidFill>
              </a:rPr>
              <a:t> Robot Car</a:t>
            </a:r>
            <a:endParaRPr lang="en-GB" sz="32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9D131-2A2A-10D9-EBBF-422D12CD6A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071" y="156102"/>
            <a:ext cx="4042963" cy="108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88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96AC-FE34-509D-4488-5EEBF8147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>
                <a:solidFill>
                  <a:schemeClr val="bg1"/>
                </a:solidFill>
              </a:rPr>
              <a:t>Lab</a:t>
            </a:r>
            <a:r>
              <a:rPr lang="fr-FR" dirty="0">
                <a:solidFill>
                  <a:schemeClr val="bg1"/>
                </a:solidFill>
              </a:rPr>
              <a:t> Session 10 – </a:t>
            </a:r>
            <a:r>
              <a:rPr lang="fr-FR" dirty="0" err="1">
                <a:solidFill>
                  <a:schemeClr val="bg1"/>
                </a:solidFill>
              </a:rPr>
              <a:t>Multi‑Mode</a:t>
            </a:r>
            <a:r>
              <a:rPr lang="fr-FR" dirty="0">
                <a:solidFill>
                  <a:schemeClr val="bg1"/>
                </a:solidFill>
              </a:rPr>
              <a:t> Robot Car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284EC-691F-E51F-6296-6DE58F651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Integrate all past control methods</a:t>
            </a:r>
          </a:p>
          <a:p>
            <a:r>
              <a:rPr lang="en-GB" dirty="0">
                <a:solidFill>
                  <a:schemeClr val="bg1"/>
                </a:solidFill>
              </a:rPr>
              <a:t>Switch between manual &amp; autonomous modes</a:t>
            </a:r>
          </a:p>
          <a:p>
            <a:r>
              <a:rPr lang="en-GB" dirty="0">
                <a:solidFill>
                  <a:schemeClr val="bg1"/>
                </a:solidFill>
              </a:rPr>
              <a:t>Use clean switch‑case architecture</a:t>
            </a:r>
          </a:p>
          <a:p>
            <a:r>
              <a:rPr lang="en-GB" dirty="0">
                <a:solidFill>
                  <a:schemeClr val="bg1"/>
                </a:solidFill>
              </a:rPr>
              <a:t>OLED status for each mode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53358A-5292-1DCC-3BE2-09552A036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7620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274598-3697-C518-42DC-9B65ACEF4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49E4-6A60-2A52-A595-6044BB8E8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5BB9D1-42CA-E3CD-E1DA-642AC6BF1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Design modular robot firmware</a:t>
            </a:r>
          </a:p>
          <a:p>
            <a:r>
              <a:rPr lang="en-GB" dirty="0">
                <a:solidFill>
                  <a:schemeClr val="bg1"/>
                </a:solidFill>
              </a:rPr>
              <a:t>Implement multiple control modes</a:t>
            </a:r>
          </a:p>
          <a:p>
            <a:r>
              <a:rPr lang="en-GB" dirty="0">
                <a:solidFill>
                  <a:schemeClr val="bg1"/>
                </a:solidFill>
              </a:rPr>
              <a:t>Use structured code architecture</a:t>
            </a:r>
          </a:p>
          <a:p>
            <a:r>
              <a:rPr lang="en-GB" dirty="0">
                <a:solidFill>
                  <a:schemeClr val="bg1"/>
                </a:solidFill>
              </a:rPr>
              <a:t>Debug using OLED indicators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2F93F9-291A-56D5-DFB9-6E3FAEA2B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5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49BE7-4D28-6D0B-03F3-7BF87DBD5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6B09-B417-8733-CF2C-EA285A44B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Modes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8E2C9B-A67B-13E5-E0AF-29E5B6BD5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Mode 1 – Joystick Control</a:t>
            </a:r>
          </a:p>
          <a:p>
            <a:r>
              <a:rPr lang="en-GB" dirty="0">
                <a:solidFill>
                  <a:schemeClr val="bg1"/>
                </a:solidFill>
              </a:rPr>
              <a:t>Mode 2 – Accelerometer Tilt</a:t>
            </a:r>
          </a:p>
          <a:p>
            <a:r>
              <a:rPr lang="en-GB" dirty="0">
                <a:solidFill>
                  <a:schemeClr val="bg1"/>
                </a:solidFill>
              </a:rPr>
              <a:t>Mode 3 – IR Remote Control</a:t>
            </a:r>
          </a:p>
          <a:p>
            <a:r>
              <a:rPr lang="en-GB" dirty="0">
                <a:solidFill>
                  <a:schemeClr val="bg1"/>
                </a:solidFill>
              </a:rPr>
              <a:t>Mode 4 – Bluetooth Control</a:t>
            </a:r>
          </a:p>
          <a:p>
            <a:r>
              <a:rPr lang="en-GB" dirty="0">
                <a:solidFill>
                  <a:schemeClr val="bg1"/>
                </a:solidFill>
              </a:rPr>
              <a:t>Mode 5 – Obstacle Avoidance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E742C5-6895-8286-9A55-EED0C7B618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106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EEA1D3-12CB-061A-A911-5C51E08A5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6CAC-CBA2-048B-5373-CEF78C7CA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3764B-31C0-6531-B53A-5F350FCC0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Remote/Car use shared struct</a:t>
            </a:r>
          </a:p>
          <a:p>
            <a:r>
              <a:rPr lang="en-GB" dirty="0">
                <a:solidFill>
                  <a:schemeClr val="bg1"/>
                </a:solidFill>
              </a:rPr>
              <a:t>Clean functions per mode</a:t>
            </a:r>
          </a:p>
          <a:p>
            <a:r>
              <a:rPr lang="en-GB" dirty="0">
                <a:solidFill>
                  <a:schemeClr val="bg1"/>
                </a:solidFill>
              </a:rPr>
              <a:t>OLED prints Active Mode + Action</a:t>
            </a:r>
          </a:p>
          <a:p>
            <a:r>
              <a:rPr lang="en-GB" dirty="0">
                <a:solidFill>
                  <a:schemeClr val="bg1"/>
                </a:solidFill>
              </a:rPr>
              <a:t>Motor functions reused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FBB528-CE60-6ED1-1B65-BE0BADE056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20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191E53-B294-9239-C2C8-F5D469198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8FA3-7158-8A96-0341-6C6EABF8E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Pseudocode – Main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6519D-9447-38ED-FD25-E280C2233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Read mode button</a:t>
            </a:r>
          </a:p>
          <a:p>
            <a:r>
              <a:rPr lang="en-GB" dirty="0">
                <a:solidFill>
                  <a:schemeClr val="bg1"/>
                </a:solidFill>
              </a:rPr>
              <a:t>switch(mode):</a:t>
            </a:r>
          </a:p>
          <a:p>
            <a:r>
              <a:rPr lang="en-GB" dirty="0">
                <a:solidFill>
                  <a:schemeClr val="bg1"/>
                </a:solidFill>
              </a:rPr>
              <a:t> case JOYSTICK: read X/Y → drive</a:t>
            </a:r>
          </a:p>
          <a:p>
            <a:r>
              <a:rPr lang="en-GB" dirty="0">
                <a:solidFill>
                  <a:schemeClr val="bg1"/>
                </a:solidFill>
              </a:rPr>
              <a:t> case TILT: accel → direction</a:t>
            </a:r>
          </a:p>
          <a:p>
            <a:r>
              <a:rPr lang="en-GB" dirty="0">
                <a:solidFill>
                  <a:schemeClr val="bg1"/>
                </a:solidFill>
              </a:rPr>
              <a:t> case IR: decode IR code → action</a:t>
            </a:r>
          </a:p>
          <a:p>
            <a:r>
              <a:rPr lang="en-GB" dirty="0">
                <a:solidFill>
                  <a:schemeClr val="bg1"/>
                </a:solidFill>
              </a:rPr>
              <a:t> case BT: read BT char → move</a:t>
            </a:r>
          </a:p>
          <a:p>
            <a:r>
              <a:rPr lang="en-GB" dirty="0">
                <a:solidFill>
                  <a:schemeClr val="bg1"/>
                </a:solidFill>
              </a:rPr>
              <a:t> case OBST: run obstacle routine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accent5"/>
                </a:solidFill>
              </a:rPr>
              <a:t>GitHub:</a:t>
            </a:r>
            <a:r>
              <a:rPr lang="en-GB" dirty="0">
                <a:solidFill>
                  <a:schemeClr val="bg1"/>
                </a:solidFill>
              </a:rPr>
              <a:t> </a:t>
            </a:r>
            <a:r>
              <a:rPr lang="en-GB" sz="2600" dirty="0">
                <a:solidFill>
                  <a:schemeClr val="accent1"/>
                </a:solidFill>
              </a:rPr>
              <a:t>https://github.com/info-zas/zas-robotics-car-2-communications/tree/main/01_FoundationProjects/10_Multi_Mode_Robot_Car</a:t>
            </a:r>
            <a:endParaRPr lang="en-GB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02BE2E-BC4C-5BBE-6C8F-0C1EE4478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624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215261-95B6-C07C-160B-717C3FC92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B586-224B-3222-89EF-D6DBF4AF4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A7BE6A-61B5-C731-D109-A50F539C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Production‑grade robot firmware</a:t>
            </a:r>
          </a:p>
          <a:p>
            <a:r>
              <a:rPr lang="en-GB" dirty="0">
                <a:solidFill>
                  <a:schemeClr val="bg1"/>
                </a:solidFill>
              </a:rPr>
              <a:t>Modular IoT robot platform</a:t>
            </a:r>
          </a:p>
          <a:p>
            <a:r>
              <a:rPr lang="en-GB" dirty="0">
                <a:solidFill>
                  <a:schemeClr val="bg1"/>
                </a:solidFill>
              </a:rPr>
              <a:t>Expandable for future sensors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76B218-CB3B-9D01-B653-16E92441B8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253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69DFF6-60F7-FE01-7A26-3CF8EA34B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02E0-37D4-4612-6A81-098207957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05459-098C-C078-AB7E-1F5DF4E53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Why modular design?</a:t>
            </a:r>
          </a:p>
          <a:p>
            <a:r>
              <a:rPr lang="en-GB" dirty="0">
                <a:solidFill>
                  <a:schemeClr val="bg1"/>
                </a:solidFill>
              </a:rPr>
              <a:t>Why use switch‑case?</a:t>
            </a:r>
          </a:p>
          <a:p>
            <a:r>
              <a:rPr lang="en-GB" dirty="0">
                <a:solidFill>
                  <a:schemeClr val="bg1"/>
                </a:solidFill>
              </a:rPr>
              <a:t>How add new modes?</a:t>
            </a:r>
          </a:p>
          <a:p>
            <a:r>
              <a:rPr lang="en-GB" dirty="0">
                <a:solidFill>
                  <a:schemeClr val="bg1"/>
                </a:solidFill>
              </a:rPr>
              <a:t>How ensure reliability?</a:t>
            </a: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F987B9-162F-9AF6-0B5B-C3575E4F8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1314" y="156102"/>
            <a:ext cx="2037720" cy="54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42215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1_Office Theme</vt:lpstr>
      <vt:lpstr>ZAS Robotic Products</vt:lpstr>
      <vt:lpstr>Lab Session 10 – Multi‑Mode Robot Car</vt:lpstr>
      <vt:lpstr>Learning Outcomes</vt:lpstr>
      <vt:lpstr>Modes Overview</vt:lpstr>
      <vt:lpstr>Architecture</vt:lpstr>
      <vt:lpstr>Pseudocode – Main Logic</vt:lpstr>
      <vt:lpstr>Applications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>Fakruddin Mohammed</cp:lastModifiedBy>
  <cp:revision>32</cp:revision>
  <dcterms:created xsi:type="dcterms:W3CDTF">2025-11-29T15:09:33Z</dcterms:created>
  <dcterms:modified xsi:type="dcterms:W3CDTF">2026-01-11T23:00:03Z</dcterms:modified>
</cp:coreProperties>
</file>