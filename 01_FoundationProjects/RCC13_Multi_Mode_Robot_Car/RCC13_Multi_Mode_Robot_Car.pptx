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8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006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56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91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92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58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073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4412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534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817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506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3804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00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ZAS Robotic Products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Navigational Robotic Series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Robot Car-2: Communications</a:t>
            </a:r>
          </a:p>
          <a:p>
            <a:endParaRPr lang="en-GB" sz="3200" dirty="0">
              <a:solidFill>
                <a:schemeClr val="accent5"/>
              </a:solidFill>
            </a:endParaRPr>
          </a:p>
          <a:p>
            <a:r>
              <a:rPr lang="fr-FR" sz="3200" dirty="0" err="1">
                <a:solidFill>
                  <a:schemeClr val="bg1"/>
                </a:solidFill>
              </a:rPr>
              <a:t>Lab</a:t>
            </a:r>
            <a:r>
              <a:rPr lang="fr-FR" sz="3200" dirty="0">
                <a:solidFill>
                  <a:schemeClr val="bg1"/>
                </a:solidFill>
              </a:rPr>
              <a:t> </a:t>
            </a:r>
            <a:r>
              <a:rPr lang="fr-FR" sz="3200">
                <a:solidFill>
                  <a:schemeClr val="bg1"/>
                </a:solidFill>
              </a:rPr>
              <a:t>Session 13 </a:t>
            </a:r>
            <a:r>
              <a:rPr lang="fr-FR" sz="3200" dirty="0">
                <a:solidFill>
                  <a:schemeClr val="bg1"/>
                </a:solidFill>
              </a:rPr>
              <a:t>– </a:t>
            </a:r>
            <a:r>
              <a:rPr lang="fr-FR" sz="3200" dirty="0" err="1">
                <a:solidFill>
                  <a:schemeClr val="bg1"/>
                </a:solidFill>
              </a:rPr>
              <a:t>Multi‑Mode</a:t>
            </a:r>
            <a:r>
              <a:rPr lang="fr-FR" sz="3200" dirty="0">
                <a:solidFill>
                  <a:schemeClr val="bg1"/>
                </a:solidFill>
              </a:rPr>
              <a:t> Robot Car</a:t>
            </a:r>
            <a:endParaRPr lang="en-GB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9D131-2A2A-10D9-EBBF-422D12CD6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071" y="156102"/>
            <a:ext cx="4042963" cy="108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196AC-FE34-509D-4488-5EEBF814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>
                <a:solidFill>
                  <a:schemeClr val="bg1"/>
                </a:solidFill>
              </a:rPr>
              <a:t>Lab</a:t>
            </a:r>
            <a:r>
              <a:rPr lang="fr-FR" dirty="0">
                <a:solidFill>
                  <a:schemeClr val="bg1"/>
                </a:solidFill>
              </a:rPr>
              <a:t> Session 10 – </a:t>
            </a:r>
            <a:r>
              <a:rPr lang="fr-FR" dirty="0" err="1">
                <a:solidFill>
                  <a:schemeClr val="bg1"/>
                </a:solidFill>
              </a:rPr>
              <a:t>Multi‑Mode</a:t>
            </a:r>
            <a:r>
              <a:rPr lang="fr-FR" dirty="0">
                <a:solidFill>
                  <a:schemeClr val="bg1"/>
                </a:solidFill>
              </a:rPr>
              <a:t> Robot Car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284EC-691F-E51F-6296-6DE58F651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Integrate all past control methods</a:t>
            </a:r>
          </a:p>
          <a:p>
            <a:r>
              <a:rPr lang="en-GB" dirty="0">
                <a:solidFill>
                  <a:schemeClr val="bg1"/>
                </a:solidFill>
              </a:rPr>
              <a:t>Switch between manual &amp; autonomous modes</a:t>
            </a:r>
          </a:p>
          <a:p>
            <a:r>
              <a:rPr lang="en-GB" dirty="0">
                <a:solidFill>
                  <a:schemeClr val="bg1"/>
                </a:solidFill>
              </a:rPr>
              <a:t>Use clean switch‑case architecture</a:t>
            </a:r>
          </a:p>
          <a:p>
            <a:r>
              <a:rPr lang="en-GB" dirty="0">
                <a:solidFill>
                  <a:schemeClr val="bg1"/>
                </a:solidFill>
              </a:rPr>
              <a:t>OLED status for each mode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53358A-5292-1DCC-3BE2-09552A036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762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274598-3697-C518-42DC-9B65ACEF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249E4-6A60-2A52-A595-6044BB8E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BB9D1-42CA-E3CD-E1DA-642AC6BF1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Design modular robot firmware</a:t>
            </a:r>
          </a:p>
          <a:p>
            <a:r>
              <a:rPr lang="en-GB" dirty="0">
                <a:solidFill>
                  <a:schemeClr val="bg1"/>
                </a:solidFill>
              </a:rPr>
              <a:t>Implement multiple control modes</a:t>
            </a:r>
          </a:p>
          <a:p>
            <a:r>
              <a:rPr lang="en-GB" dirty="0">
                <a:solidFill>
                  <a:schemeClr val="bg1"/>
                </a:solidFill>
              </a:rPr>
              <a:t>Use structured code architecture</a:t>
            </a:r>
          </a:p>
          <a:p>
            <a:r>
              <a:rPr lang="en-GB" dirty="0">
                <a:solidFill>
                  <a:schemeClr val="bg1"/>
                </a:solidFill>
              </a:rPr>
              <a:t>Debug using OLED indicators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2F93F9-291A-56D5-DFB9-6E3FAEA2B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457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49BE7-4D28-6D0B-03F3-7BF87DBD5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26B09-B417-8733-CF2C-EA285A44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Modes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E2C9B-A67B-13E5-E0AF-29E5B6BD5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Mode 1 – Joystick Control</a:t>
            </a:r>
          </a:p>
          <a:p>
            <a:r>
              <a:rPr lang="en-GB" dirty="0">
                <a:solidFill>
                  <a:schemeClr val="bg1"/>
                </a:solidFill>
              </a:rPr>
              <a:t>Mode 2 – Accelerometer Tilt</a:t>
            </a:r>
          </a:p>
          <a:p>
            <a:r>
              <a:rPr lang="en-GB" dirty="0">
                <a:solidFill>
                  <a:schemeClr val="bg1"/>
                </a:solidFill>
              </a:rPr>
              <a:t>Mode 3 – IR Remote Control</a:t>
            </a:r>
          </a:p>
          <a:p>
            <a:r>
              <a:rPr lang="en-GB" dirty="0">
                <a:solidFill>
                  <a:schemeClr val="bg1"/>
                </a:solidFill>
              </a:rPr>
              <a:t>Mode 4 – Bluetooth Control</a:t>
            </a:r>
          </a:p>
          <a:p>
            <a:r>
              <a:rPr lang="en-GB" dirty="0">
                <a:solidFill>
                  <a:schemeClr val="bg1"/>
                </a:solidFill>
              </a:rPr>
              <a:t>Mode 5 – Obstacle Avoidance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742C5-6895-8286-9A55-EED0C7B61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106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EA1D3-12CB-061A-A911-5C51E08A5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6CAC-CBA2-048B-5373-CEF78C7CA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3764B-31C0-6531-B53A-5F350FCC0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Remote/Car use shared struct</a:t>
            </a:r>
          </a:p>
          <a:p>
            <a:r>
              <a:rPr lang="en-GB" dirty="0">
                <a:solidFill>
                  <a:schemeClr val="bg1"/>
                </a:solidFill>
              </a:rPr>
              <a:t>Clean functions per mode</a:t>
            </a:r>
          </a:p>
          <a:p>
            <a:r>
              <a:rPr lang="en-GB" dirty="0">
                <a:solidFill>
                  <a:schemeClr val="bg1"/>
                </a:solidFill>
              </a:rPr>
              <a:t>OLED prints Active Mode + Action</a:t>
            </a:r>
          </a:p>
          <a:p>
            <a:r>
              <a:rPr lang="en-GB" dirty="0">
                <a:solidFill>
                  <a:schemeClr val="bg1"/>
                </a:solidFill>
              </a:rPr>
              <a:t>Motor functions reused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FBB528-CE60-6ED1-1B65-BE0BADE056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020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1E53-B294-9239-C2C8-F5D469198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98FA3-7158-8A96-0341-6C6EABF8E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Pseudocode – Main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6519D-9447-38ED-FD25-E280C2233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41258" cy="4351338"/>
          </a:xfrm>
        </p:spPr>
        <p:txBody>
          <a:bodyPr>
            <a:normAutofit/>
          </a:bodyPr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Read mode button</a:t>
            </a:r>
          </a:p>
          <a:p>
            <a:r>
              <a:rPr lang="en-GB" dirty="0">
                <a:solidFill>
                  <a:schemeClr val="bg1"/>
                </a:solidFill>
              </a:rPr>
              <a:t>switch(mode):</a:t>
            </a:r>
          </a:p>
          <a:p>
            <a:r>
              <a:rPr lang="en-GB" dirty="0">
                <a:solidFill>
                  <a:schemeClr val="bg1"/>
                </a:solidFill>
              </a:rPr>
              <a:t> case JOYSTICK: read X/Y → drive</a:t>
            </a:r>
          </a:p>
          <a:p>
            <a:r>
              <a:rPr lang="en-GB" dirty="0">
                <a:solidFill>
                  <a:schemeClr val="bg1"/>
                </a:solidFill>
              </a:rPr>
              <a:t> case TILT: accel → direction</a:t>
            </a:r>
          </a:p>
          <a:p>
            <a:r>
              <a:rPr lang="en-GB" dirty="0">
                <a:solidFill>
                  <a:schemeClr val="bg1"/>
                </a:solidFill>
              </a:rPr>
              <a:t> case IR: decode IR code → action</a:t>
            </a:r>
          </a:p>
          <a:p>
            <a:r>
              <a:rPr lang="en-GB" dirty="0">
                <a:solidFill>
                  <a:schemeClr val="bg1"/>
                </a:solidFill>
              </a:rPr>
              <a:t> case BT: read BT char → move</a:t>
            </a:r>
          </a:p>
          <a:p>
            <a:r>
              <a:rPr lang="en-GB" dirty="0">
                <a:solidFill>
                  <a:schemeClr val="bg1"/>
                </a:solidFill>
              </a:rPr>
              <a:t> case OBST: run obstacle routine</a:t>
            </a:r>
          </a:p>
          <a:p>
            <a:pPr marL="0" indent="0">
              <a:buNone/>
            </a:pPr>
            <a:endParaRPr lang="en-GB" dirty="0">
              <a:solidFill>
                <a:schemeClr val="accent5"/>
              </a:solidFill>
            </a:endParaRPr>
          </a:p>
          <a:p>
            <a:pPr marL="0" indent="0">
              <a:buNone/>
            </a:pPr>
            <a:endParaRPr lang="en-GB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02BE2E-BC4C-5BBE-6C8F-0C1EE4478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  <p:sp>
        <p:nvSpPr>
          <p:cNvPr id="5" name="TextBox 13">
            <a:extLst>
              <a:ext uri="{FF2B5EF4-FFF2-40B4-BE49-F238E27FC236}">
                <a16:creationId xmlns:a16="http://schemas.microsoft.com/office/drawing/2014/main" id="{ED9FB819-DCF8-A56B-F3AC-10D4206CBF8E}"/>
              </a:ext>
            </a:extLst>
          </p:cNvPr>
          <p:cNvSpPr txBox="1"/>
          <p:nvPr/>
        </p:nvSpPr>
        <p:spPr bwMode="auto">
          <a:xfrm>
            <a:off x="6715607" y="4302732"/>
            <a:ext cx="65114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FFFF00"/>
                </a:solidFill>
              </a:rPr>
              <a:t>Code for RCC13_</a:t>
            </a:r>
            <a:r>
              <a:rPr lang="en-GB" b="1" dirty="0" err="1">
                <a:solidFill>
                  <a:srgbClr val="FFFF00"/>
                </a:solidFill>
              </a:rPr>
              <a:t>Multi_Mode_Robot_Car_Receiver.ino</a:t>
            </a:r>
            <a:endParaRPr lang="en-GB" b="1" dirty="0">
              <a:solidFill>
                <a:srgbClr val="FFFF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693D72-F3EA-6135-0154-DFBB6EE985A0}"/>
              </a:ext>
            </a:extLst>
          </p:cNvPr>
          <p:cNvSpPr txBox="1"/>
          <p:nvPr/>
        </p:nvSpPr>
        <p:spPr>
          <a:xfrm>
            <a:off x="6909110" y="4721686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https://github.com/info-zas/zas-robotics-car-2-communications/tree/main/01_FoundationProjects/RCC13_Multi_Mode_Robot_Car/RCC13_Multi_Mode_Robot_Car_Receiver</a:t>
            </a:r>
          </a:p>
        </p:txBody>
      </p:sp>
      <p:sp>
        <p:nvSpPr>
          <p:cNvPr id="7" name="TextBox 13">
            <a:extLst>
              <a:ext uri="{FF2B5EF4-FFF2-40B4-BE49-F238E27FC236}">
                <a16:creationId xmlns:a16="http://schemas.microsoft.com/office/drawing/2014/main" id="{FE89B924-45D6-A41C-0F30-BF537C4AF70F}"/>
              </a:ext>
            </a:extLst>
          </p:cNvPr>
          <p:cNvSpPr txBox="1"/>
          <p:nvPr/>
        </p:nvSpPr>
        <p:spPr bwMode="auto">
          <a:xfrm>
            <a:off x="6022433" y="1899711"/>
            <a:ext cx="65114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FFFF00"/>
                </a:solidFill>
              </a:rPr>
              <a:t>Code for RCC13_</a:t>
            </a:r>
            <a:r>
              <a:rPr lang="en-GB" b="1" dirty="0" err="1">
                <a:solidFill>
                  <a:srgbClr val="FFFF00"/>
                </a:solidFill>
              </a:rPr>
              <a:t>Multi_Mode_Robot_Car_Transmitter.ino</a:t>
            </a:r>
            <a:endParaRPr lang="en-GB" b="1" dirty="0">
              <a:solidFill>
                <a:srgbClr val="FFFF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20CFDC-4D33-B70D-2375-476FC0B3EED9}"/>
              </a:ext>
            </a:extLst>
          </p:cNvPr>
          <p:cNvSpPr txBox="1"/>
          <p:nvPr/>
        </p:nvSpPr>
        <p:spPr>
          <a:xfrm>
            <a:off x="5852652" y="2245867"/>
            <a:ext cx="5641258" cy="73866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00B0F0"/>
                </a:solidFill>
              </a:defRPr>
            </a:lvl1pPr>
          </a:lstStyle>
          <a:p>
            <a:r>
              <a:rPr lang="en-GB" dirty="0"/>
              <a:t>https://github.com/info-zas/zas-robotics-car-2-communications/tree/main/01_FoundationProjects/RCC13_Multi_Mode_Robot_Car/RCC13_Multi_Mode_Robot_Car_Transmitter</a:t>
            </a:r>
          </a:p>
        </p:txBody>
      </p:sp>
    </p:spTree>
    <p:extLst>
      <p:ext uri="{BB962C8B-B14F-4D97-AF65-F5344CB8AC3E}">
        <p14:creationId xmlns:p14="http://schemas.microsoft.com/office/powerpoint/2010/main" val="432624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15261-95B6-C07C-160B-717C3FC92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3B586-224B-3222-89EF-D6DBF4AF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7BE6A-61B5-C731-D109-A50F539C4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Production‑grade robot firmware</a:t>
            </a:r>
          </a:p>
          <a:p>
            <a:r>
              <a:rPr lang="en-GB" dirty="0">
                <a:solidFill>
                  <a:schemeClr val="bg1"/>
                </a:solidFill>
              </a:rPr>
              <a:t>Modular IoT robot platform</a:t>
            </a:r>
          </a:p>
          <a:p>
            <a:r>
              <a:rPr lang="en-GB" dirty="0">
                <a:solidFill>
                  <a:schemeClr val="bg1"/>
                </a:solidFill>
              </a:rPr>
              <a:t>Expandable for future sensors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6B218-CB3B-9D01-B653-16E92441B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3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69DFF6-60F7-FE01-7A26-3CF8EA34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02E0-37D4-4612-6A81-098207957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05459-098C-C078-AB7E-1F5DF4E53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Why modular design?</a:t>
            </a:r>
          </a:p>
          <a:p>
            <a:r>
              <a:rPr lang="en-GB" dirty="0">
                <a:solidFill>
                  <a:schemeClr val="bg1"/>
                </a:solidFill>
              </a:rPr>
              <a:t>Why use switch‑case?</a:t>
            </a:r>
          </a:p>
          <a:p>
            <a:r>
              <a:rPr lang="en-GB" dirty="0">
                <a:solidFill>
                  <a:schemeClr val="bg1"/>
                </a:solidFill>
              </a:rPr>
              <a:t>How add new modes?</a:t>
            </a:r>
          </a:p>
          <a:p>
            <a:r>
              <a:rPr lang="en-GB" dirty="0">
                <a:solidFill>
                  <a:schemeClr val="bg1"/>
                </a:solidFill>
              </a:rPr>
              <a:t>How ensure reliability?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F987B9-162F-9AF6-0B5B-C3575E4F8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221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313</Words>
  <Application>Microsoft Office PowerPoint</Application>
  <PresentationFormat>Widescreen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1_Office Theme</vt:lpstr>
      <vt:lpstr>ZAS Robotic Products</vt:lpstr>
      <vt:lpstr>Lab Session 10 – Multi‑Mode Robot Car</vt:lpstr>
      <vt:lpstr>Learning Outcomes</vt:lpstr>
      <vt:lpstr>Modes Overview</vt:lpstr>
      <vt:lpstr>Architecture</vt:lpstr>
      <vt:lpstr>Pseudocode – Main Logic</vt:lpstr>
      <vt:lpstr>Applications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33</cp:revision>
  <dcterms:created xsi:type="dcterms:W3CDTF">2025-11-29T15:09:33Z</dcterms:created>
  <dcterms:modified xsi:type="dcterms:W3CDTF">2026-01-17T13:56:34Z</dcterms:modified>
</cp:coreProperties>
</file>