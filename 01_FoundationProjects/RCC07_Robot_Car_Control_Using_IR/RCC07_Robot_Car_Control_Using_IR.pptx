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88" r:id="rId3"/>
    <p:sldId id="287" r:id="rId4"/>
    <p:sldId id="285" r:id="rId5"/>
    <p:sldId id="293" r:id="rId6"/>
    <p:sldId id="295" r:id="rId7"/>
    <p:sldId id="29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11A46-23A7-4CAD-863D-6397CDAD4FD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70DA3-5A45-4EA5-8847-63371DDB5D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34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0F2F-948D-0F65-D7F3-7FB555F3D5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235F5BF2-276A-1551-56CD-05B6B026F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73AD26D3-6C00-C653-941B-133C8572E5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FC2F83E7-A1B5-B8A5-CC11-DC5606E3B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27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BF9D-AC79-EB5E-03FC-7600DE12BF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F123119F-6F80-FAA9-0FF2-519BECAE1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E3633158-1406-4F6D-6B94-0B14E80912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EC6610E5-8732-05EC-EC87-837A91D00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24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4838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4833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15254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05315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49511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53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39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870708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47438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98025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46212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2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110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242405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931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26988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6074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52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04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750360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16362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47368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20406561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82523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3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51429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4589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47052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69972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8845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9082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89005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71290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73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49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52443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306263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74074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06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799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445594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52514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2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4563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7821348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1443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2281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9301780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4902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46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5662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045249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128046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99461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645862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1300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40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6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290724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44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35850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0167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4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579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816524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7083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18068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7377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2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01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41421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32190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878908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9117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36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2" y="665163"/>
            <a:ext cx="11434917" cy="238760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Robot Car 2 (Wireless Communication Control) (RCC)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9" y="3602038"/>
            <a:ext cx="10264876" cy="1655762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(Lesson Ref</a:t>
            </a:r>
            <a:r>
              <a:rPr lang="en-GB" sz="3600" b="1">
                <a:solidFill>
                  <a:srgbClr val="00B0F0"/>
                </a:solidFill>
              </a:rPr>
              <a:t>: RCC07)</a:t>
            </a:r>
            <a:endParaRPr lang="en-GB" sz="3600" b="1" dirty="0">
              <a:solidFill>
                <a:srgbClr val="00B0F0"/>
              </a:solidFill>
            </a:endParaRPr>
          </a:p>
          <a:p>
            <a:r>
              <a:rPr lang="en-US" sz="3600" b="1" dirty="0">
                <a:solidFill>
                  <a:srgbClr val="7030A0"/>
                </a:solidFill>
              </a:rPr>
              <a:t>RCC07:Robot Car Control Using IR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5A6A5-3841-4FBA-B455-67883EB31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BC6EF-45AC-6917-4732-1E59B98BBE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2E409F7-33F3-22DC-3ABC-779DEEDEE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237" y="1081554"/>
            <a:ext cx="3802472" cy="4860405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4DAD051F-4F75-DE05-99D8-8D674A26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1E3F63-77A8-B54E-03A9-FDBCC9EBC5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34" y="934063"/>
            <a:ext cx="4573176" cy="53536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CF517-2C2F-9A6C-611F-FCF9BBC1DA81}"/>
              </a:ext>
            </a:extLst>
          </p:cNvPr>
          <p:cNvSpPr txBox="1"/>
          <p:nvPr/>
        </p:nvSpPr>
        <p:spPr bwMode="auto">
          <a:xfrm>
            <a:off x="914524" y="6269773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(Front)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DD1F7-802D-86E3-1CB7-4B66F2FEB48F}"/>
              </a:ext>
            </a:extLst>
          </p:cNvPr>
          <p:cNvSpPr txBox="1"/>
          <p:nvPr/>
        </p:nvSpPr>
        <p:spPr bwMode="auto">
          <a:xfrm>
            <a:off x="6801834" y="6396335"/>
            <a:ext cx="4663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(Back)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A210ECC-D6E1-28FC-2135-CB51EE1F8A7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A66DAC-1F37-ADFD-613D-5FAD1CA9D10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8362" y="1737072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026DC8-31C5-9852-EB53-CFFF24E87FFA}"/>
              </a:ext>
            </a:extLst>
          </p:cNvPr>
          <p:cNvSpPr txBox="1"/>
          <p:nvPr/>
        </p:nvSpPr>
        <p:spPr bwMode="auto">
          <a:xfrm>
            <a:off x="109752" y="116065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Bluetooth Connector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59D367-9784-AACF-DFE7-E77FBE98184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27598" y="3304995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B8F10-1599-269F-23E5-7EC2D655586E}"/>
              </a:ext>
            </a:extLst>
          </p:cNvPr>
          <p:cNvSpPr txBox="1"/>
          <p:nvPr/>
        </p:nvSpPr>
        <p:spPr bwMode="auto">
          <a:xfrm>
            <a:off x="109752" y="2716673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Free Connector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D9461-44A0-B01C-A926-630988EFB673}"/>
              </a:ext>
            </a:extLst>
          </p:cNvPr>
          <p:cNvSpPr txBox="1"/>
          <p:nvPr/>
        </p:nvSpPr>
        <p:spPr>
          <a:xfrm rot="21272357">
            <a:off x="1483504" y="3357724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2E881D-EC1E-9C30-1444-AC91365270AB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1001" y="4529329"/>
            <a:ext cx="546986" cy="258055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6BBF06-35DA-DE62-B39A-D4D859A62A45}"/>
              </a:ext>
            </a:extLst>
          </p:cNvPr>
          <p:cNvSpPr txBox="1"/>
          <p:nvPr/>
        </p:nvSpPr>
        <p:spPr bwMode="auto">
          <a:xfrm>
            <a:off x="184397" y="4354723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Colour Sensor Connector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E2C38A-3848-C212-1836-6988B7ECD5B8}"/>
              </a:ext>
            </a:extLst>
          </p:cNvPr>
          <p:cNvCxnSpPr>
            <a:cxnSpLocks/>
          </p:cNvCxnSpPr>
          <p:nvPr/>
        </p:nvCxnSpPr>
        <p:spPr bwMode="auto">
          <a:xfrm>
            <a:off x="2097000" y="4921737"/>
            <a:ext cx="134738" cy="42701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E5A266-34C6-5AAB-CD14-F9738AB16436}"/>
              </a:ext>
            </a:extLst>
          </p:cNvPr>
          <p:cNvCxnSpPr>
            <a:cxnSpLocks/>
          </p:cNvCxnSpPr>
          <p:nvPr/>
        </p:nvCxnSpPr>
        <p:spPr bwMode="auto">
          <a:xfrm flipH="1">
            <a:off x="2652677" y="4839340"/>
            <a:ext cx="199148" cy="50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F688F5-2E06-717B-BC97-DCA20E433A80}"/>
              </a:ext>
            </a:extLst>
          </p:cNvPr>
          <p:cNvSpPr txBox="1"/>
          <p:nvPr/>
        </p:nvSpPr>
        <p:spPr bwMode="auto">
          <a:xfrm>
            <a:off x="2006419" y="5343537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Gesture Sensor 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3A0FF2-2A86-22A1-2C28-E1B63CB6D7AF}"/>
              </a:ext>
            </a:extLst>
          </p:cNvPr>
          <p:cNvCxnSpPr>
            <a:cxnSpLocks/>
          </p:cNvCxnSpPr>
          <p:nvPr/>
        </p:nvCxnSpPr>
        <p:spPr bwMode="auto">
          <a:xfrm>
            <a:off x="3313916" y="5069168"/>
            <a:ext cx="555315" cy="383967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BFC1EE-B7FA-CA95-9F22-FAC3A8B420BE}"/>
              </a:ext>
            </a:extLst>
          </p:cNvPr>
          <p:cNvSpPr txBox="1"/>
          <p:nvPr/>
        </p:nvSpPr>
        <p:spPr bwMode="auto">
          <a:xfrm>
            <a:off x="3612555" y="5450748"/>
            <a:ext cx="143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Transmitter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72742C30-8228-BEAF-D3F8-5A042B5E12EC}"/>
              </a:ext>
            </a:extLst>
          </p:cNvPr>
          <p:cNvSpPr/>
          <p:nvPr/>
        </p:nvSpPr>
        <p:spPr>
          <a:xfrm rot="21395035">
            <a:off x="2177630" y="1529511"/>
            <a:ext cx="1188152" cy="1213287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8B798-285E-30AA-71B8-5A0329496F73}"/>
              </a:ext>
            </a:extLst>
          </p:cNvPr>
          <p:cNvCxnSpPr/>
          <p:nvPr/>
        </p:nvCxnSpPr>
        <p:spPr bwMode="auto">
          <a:xfrm>
            <a:off x="3106994" y="3621059"/>
            <a:ext cx="1915715" cy="13006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EE6A585-737A-0D05-6052-1001EBC5AAB2}"/>
              </a:ext>
            </a:extLst>
          </p:cNvPr>
          <p:cNvSpPr txBox="1"/>
          <p:nvPr/>
        </p:nvSpPr>
        <p:spPr bwMode="auto">
          <a:xfrm>
            <a:off x="4682164" y="4863077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Joystick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26D650-1B29-5CFF-8148-0113D0EDD31F}"/>
              </a:ext>
            </a:extLst>
          </p:cNvPr>
          <p:cNvCxnSpPr>
            <a:cxnSpLocks/>
          </p:cNvCxnSpPr>
          <p:nvPr/>
        </p:nvCxnSpPr>
        <p:spPr bwMode="auto">
          <a:xfrm>
            <a:off x="3869231" y="3716878"/>
            <a:ext cx="1305878" cy="826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19031-22C3-4624-8604-863F0144F71D}"/>
              </a:ext>
            </a:extLst>
          </p:cNvPr>
          <p:cNvSpPr txBox="1"/>
          <p:nvPr/>
        </p:nvSpPr>
        <p:spPr bwMode="auto">
          <a:xfrm>
            <a:off x="4993718" y="4098367"/>
            <a:ext cx="178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Accelerometer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3C9C289-C0C7-19E0-BBB9-B4753BA1B359}"/>
              </a:ext>
            </a:extLst>
          </p:cNvPr>
          <p:cNvCxnSpPr>
            <a:cxnSpLocks/>
          </p:cNvCxnSpPr>
          <p:nvPr/>
        </p:nvCxnSpPr>
        <p:spPr bwMode="auto">
          <a:xfrm flipV="1">
            <a:off x="4138706" y="1694989"/>
            <a:ext cx="112062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E0F26A6-92A1-6A22-4545-B0A33BB0266F}"/>
              </a:ext>
            </a:extLst>
          </p:cNvPr>
          <p:cNvSpPr txBox="1"/>
          <p:nvPr/>
        </p:nvSpPr>
        <p:spPr bwMode="auto">
          <a:xfrm>
            <a:off x="5022709" y="1346416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D76E91-7FAE-B771-A34F-256E269381D6}"/>
              </a:ext>
            </a:extLst>
          </p:cNvPr>
          <p:cNvCxnSpPr>
            <a:cxnSpLocks/>
          </p:cNvCxnSpPr>
          <p:nvPr/>
        </p:nvCxnSpPr>
        <p:spPr bwMode="auto">
          <a:xfrm flipH="1">
            <a:off x="1279620" y="4270348"/>
            <a:ext cx="999512" cy="137453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69107C6-1C56-1C2A-C8E9-650FB8D6668A}"/>
              </a:ext>
            </a:extLst>
          </p:cNvPr>
          <p:cNvSpPr txBox="1"/>
          <p:nvPr/>
        </p:nvSpPr>
        <p:spPr bwMode="auto">
          <a:xfrm>
            <a:off x="516885" y="538363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2D8218-DF3F-25E6-234A-2AA0A37FD149}"/>
              </a:ext>
            </a:extLst>
          </p:cNvPr>
          <p:cNvSpPr txBox="1"/>
          <p:nvPr/>
        </p:nvSpPr>
        <p:spPr bwMode="auto">
          <a:xfrm rot="21342939">
            <a:off x="1962355" y="2747616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F45831-2AAB-3EE3-18E1-2315FFCCE60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4319" y="2716673"/>
            <a:ext cx="2376163" cy="280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971BB06-04F7-CCAD-5BAC-2B87E582F882}"/>
              </a:ext>
            </a:extLst>
          </p:cNvPr>
          <p:cNvSpPr txBox="1"/>
          <p:nvPr/>
        </p:nvSpPr>
        <p:spPr bwMode="auto">
          <a:xfrm>
            <a:off x="4581605" y="2453954"/>
            <a:ext cx="1551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Mini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Breadboard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4562B1-2966-00D4-7F58-07E7AE3870AA}"/>
              </a:ext>
            </a:extLst>
          </p:cNvPr>
          <p:cNvCxnSpPr>
            <a:cxnSpLocks/>
          </p:cNvCxnSpPr>
          <p:nvPr/>
        </p:nvCxnSpPr>
        <p:spPr bwMode="auto">
          <a:xfrm flipV="1">
            <a:off x="9851137" y="2546319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1AB61A-55EA-B316-64B9-C2B489F61A5E}"/>
              </a:ext>
            </a:extLst>
          </p:cNvPr>
          <p:cNvSpPr txBox="1"/>
          <p:nvPr/>
        </p:nvSpPr>
        <p:spPr bwMode="auto">
          <a:xfrm>
            <a:off x="10411450" y="1899988"/>
            <a:ext cx="121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Arduino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Uno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2CFDBE-B119-D54E-77BD-E7263F90D98B}"/>
              </a:ext>
            </a:extLst>
          </p:cNvPr>
          <p:cNvCxnSpPr>
            <a:cxnSpLocks/>
          </p:cNvCxnSpPr>
          <p:nvPr/>
        </p:nvCxnSpPr>
        <p:spPr bwMode="auto">
          <a:xfrm flipV="1">
            <a:off x="9896434" y="4505045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8E4578-BDDF-18A1-FC38-74107E7D9E32}"/>
              </a:ext>
            </a:extLst>
          </p:cNvPr>
          <p:cNvSpPr txBox="1"/>
          <p:nvPr/>
        </p:nvSpPr>
        <p:spPr bwMode="auto">
          <a:xfrm>
            <a:off x="10526484" y="4170714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2C2589-87C7-BCD4-53B8-1F4D4FDB4D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945240" y="1245237"/>
            <a:ext cx="507160" cy="58032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1B1F275-3BDA-A5AF-34FA-312B9A27DBF4}"/>
              </a:ext>
            </a:extLst>
          </p:cNvPr>
          <p:cNvSpPr txBox="1"/>
          <p:nvPr/>
        </p:nvSpPr>
        <p:spPr bwMode="auto">
          <a:xfrm>
            <a:off x="2865774" y="1024814"/>
            <a:ext cx="184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 Control</a:t>
            </a:r>
          </a:p>
        </p:txBody>
      </p:sp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9D64FE2E-669A-76E1-4053-90C2C01E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AAC12BB4-12AF-FD4C-AA80-7759419F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70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6B9BF-6D74-443A-76C3-97EF3DAA654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E8E0F4B-72B0-86C1-3711-2350992EA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69262" y="954394"/>
            <a:ext cx="3603795" cy="4949212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1379F331-285B-3D09-F3A6-AD413147F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2A9224-77D5-CBC2-A311-9F1AFE071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973" y="1203334"/>
            <a:ext cx="3442943" cy="51138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A342A23-27E6-A20A-F532-4A4707E1C61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3964B-7F89-F1F5-5112-002C61B7E0B4}"/>
              </a:ext>
            </a:extLst>
          </p:cNvPr>
          <p:cNvSpPr txBox="1"/>
          <p:nvPr/>
        </p:nvSpPr>
        <p:spPr>
          <a:xfrm>
            <a:off x="1075116" y="6267235"/>
            <a:ext cx="4302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(Front)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517AF-8466-2862-14B7-C494B9B26549}"/>
              </a:ext>
            </a:extLst>
          </p:cNvPr>
          <p:cNvSpPr txBox="1"/>
          <p:nvPr/>
        </p:nvSpPr>
        <p:spPr bwMode="auto">
          <a:xfrm>
            <a:off x="6949053" y="6387324"/>
            <a:ext cx="425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(Back)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F2FE22-E290-CF4E-2E75-96848852FB4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29032" y="2438400"/>
            <a:ext cx="1087911" cy="22380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95681-737C-1D0A-B09C-28835A4E828E}"/>
              </a:ext>
            </a:extLst>
          </p:cNvPr>
          <p:cNvSpPr txBox="1"/>
          <p:nvPr/>
        </p:nvSpPr>
        <p:spPr bwMode="auto">
          <a:xfrm>
            <a:off x="276745" y="1757445"/>
            <a:ext cx="1292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Car2 Receiver Motor Controller Board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182C0-D51E-8556-950F-BED6EA293860}"/>
              </a:ext>
            </a:extLst>
          </p:cNvPr>
          <p:cNvCxnSpPr>
            <a:cxnSpLocks/>
          </p:cNvCxnSpPr>
          <p:nvPr/>
        </p:nvCxnSpPr>
        <p:spPr bwMode="auto">
          <a:xfrm flipH="1">
            <a:off x="973394" y="3500284"/>
            <a:ext cx="953729" cy="411606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B3B5DA-94B7-E61C-D678-34BD4DC3C792}"/>
              </a:ext>
            </a:extLst>
          </p:cNvPr>
          <p:cNvSpPr txBox="1"/>
          <p:nvPr/>
        </p:nvSpPr>
        <p:spPr bwMode="auto">
          <a:xfrm>
            <a:off x="10884" y="355468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Receiver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EC1F70-538E-36EA-5D0F-07649A3D67C8}"/>
              </a:ext>
            </a:extLst>
          </p:cNvPr>
          <p:cNvCxnSpPr>
            <a:cxnSpLocks/>
          </p:cNvCxnSpPr>
          <p:nvPr/>
        </p:nvCxnSpPr>
        <p:spPr bwMode="auto">
          <a:xfrm flipH="1">
            <a:off x="1075116" y="3466459"/>
            <a:ext cx="1874790" cy="119403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B8E257-5297-8BD3-037D-98E80AA0BD31}"/>
              </a:ext>
            </a:extLst>
          </p:cNvPr>
          <p:cNvSpPr txBox="1"/>
          <p:nvPr/>
        </p:nvSpPr>
        <p:spPr bwMode="auto">
          <a:xfrm>
            <a:off x="428858" y="4379981"/>
            <a:ext cx="12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54A943-A44B-8A5C-7D70-BCEF3A030FA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835122" y="16435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F6FFB5-B40E-36A7-575E-706B204EF2C2}"/>
              </a:ext>
            </a:extLst>
          </p:cNvPr>
          <p:cNvSpPr txBox="1"/>
          <p:nvPr/>
        </p:nvSpPr>
        <p:spPr bwMode="auto">
          <a:xfrm>
            <a:off x="878758" y="1030269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TB6612 Motor Driver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8ACD1-83B5-5997-A429-C9DC38E40665}"/>
              </a:ext>
            </a:extLst>
          </p:cNvPr>
          <p:cNvCxnSpPr>
            <a:cxnSpLocks/>
          </p:cNvCxnSpPr>
          <p:nvPr/>
        </p:nvCxnSpPr>
        <p:spPr bwMode="auto">
          <a:xfrm flipH="1">
            <a:off x="1229032" y="4177401"/>
            <a:ext cx="2289387" cy="103702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D26D10-D327-58D5-CEA3-FC0707FFB6C5}"/>
              </a:ext>
            </a:extLst>
          </p:cNvPr>
          <p:cNvSpPr txBox="1"/>
          <p:nvPr/>
        </p:nvSpPr>
        <p:spPr bwMode="auto">
          <a:xfrm>
            <a:off x="282677" y="5082624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Battery Connector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42FD16-7E2A-2225-B895-C355D346513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74133" y="30040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1D721E-809D-8FAC-B261-DA2EE039B2C7}"/>
              </a:ext>
            </a:extLst>
          </p:cNvPr>
          <p:cNvSpPr txBox="1"/>
          <p:nvPr/>
        </p:nvSpPr>
        <p:spPr bwMode="auto">
          <a:xfrm>
            <a:off x="5984037" y="2700392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DCFD46-F509-18D2-24DA-483311176CE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562507" y="1452806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C31F39A-5CC7-D962-B249-E11D85D31554}"/>
              </a:ext>
            </a:extLst>
          </p:cNvPr>
          <p:cNvSpPr txBox="1"/>
          <p:nvPr/>
        </p:nvSpPr>
        <p:spPr bwMode="auto">
          <a:xfrm>
            <a:off x="6616706" y="996758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Castor Wheel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478D83-2B59-8FED-A1BC-B65C1B5034DD}"/>
              </a:ext>
            </a:extLst>
          </p:cNvPr>
          <p:cNvCxnSpPr>
            <a:cxnSpLocks/>
          </p:cNvCxnSpPr>
          <p:nvPr/>
        </p:nvCxnSpPr>
        <p:spPr bwMode="auto">
          <a:xfrm>
            <a:off x="8454088" y="4984084"/>
            <a:ext cx="335951" cy="919523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182FB5-8310-F044-0DFA-CF12222DE065}"/>
              </a:ext>
            </a:extLst>
          </p:cNvPr>
          <p:cNvCxnSpPr>
            <a:cxnSpLocks/>
          </p:cNvCxnSpPr>
          <p:nvPr/>
        </p:nvCxnSpPr>
        <p:spPr bwMode="auto">
          <a:xfrm flipH="1">
            <a:off x="9409471" y="4946027"/>
            <a:ext cx="228531" cy="87075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92F50C-D9EF-8FAC-1427-D796DD473A09}"/>
              </a:ext>
            </a:extLst>
          </p:cNvPr>
          <p:cNvSpPr txBox="1"/>
          <p:nvPr/>
        </p:nvSpPr>
        <p:spPr bwMode="auto">
          <a:xfrm>
            <a:off x="8852044" y="5670892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DC Motors</a:t>
            </a: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0786DD4E-7012-E016-EA6F-AFE68A78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45A4BF8A-0E40-3C36-302B-967A06E2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586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C33D-63F9-8BC0-F034-22093DC5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11813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RCC07:Robot Car Control Using 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FF72-0FE1-6758-8847-CF72C0C02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22F15-E288-B9C4-18BC-19003B39E3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7255674" y="1906828"/>
            <a:ext cx="2842812" cy="3904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7A0B6F-96E7-A7CE-D79C-06C7B54AE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8486" y="1324966"/>
            <a:ext cx="1795010" cy="1574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4B8BB-C66F-04C6-A294-DB2D1F68FF74}"/>
              </a:ext>
            </a:extLst>
          </p:cNvPr>
          <p:cNvSpPr txBox="1"/>
          <p:nvPr/>
        </p:nvSpPr>
        <p:spPr bwMode="auto">
          <a:xfrm>
            <a:off x="7017811" y="6354223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FE7193-F8B2-0FDD-820C-807311B60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2910" y="2899052"/>
            <a:ext cx="1040091" cy="14205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CD3800-B810-BB34-9F75-DECDFF988E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568" y="2602050"/>
            <a:ext cx="2765538" cy="24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04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CC37-3ADD-4CF2-11EF-905B22CB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RCC07: IR Tx Codes</a:t>
            </a:r>
            <a:br>
              <a:rPr lang="en-US" b="1" dirty="0">
                <a:solidFill>
                  <a:srgbClr val="7030A0"/>
                </a:solidFill>
              </a:rPr>
            </a:b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5E17-6AFB-1E6D-6D95-10FFFB1B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739AA-B2B4-8714-73F1-AC833717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5</a:t>
            </a:fld>
            <a:endParaRPr lang="en-GB"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AB3A9A2B-BAEF-EA7E-8147-8F46AF987F2D}"/>
              </a:ext>
            </a:extLst>
          </p:cNvPr>
          <p:cNvSpPr txBox="1"/>
          <p:nvPr/>
        </p:nvSpPr>
        <p:spPr bwMode="auto">
          <a:xfrm>
            <a:off x="6262712" y="4482191"/>
            <a:ext cx="57715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600" b="1" dirty="0">
                <a:solidFill>
                  <a:srgbClr val="FFFF00"/>
                </a:solidFill>
              </a:rPr>
              <a:t>Code for Lesson RCC07 (RCC07_a_IR_Remore_Code_Rx.ino):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B0E19-0128-994A-59E6-277370339E8B}"/>
              </a:ext>
            </a:extLst>
          </p:cNvPr>
          <p:cNvSpPr txBox="1"/>
          <p:nvPr/>
        </p:nvSpPr>
        <p:spPr>
          <a:xfrm>
            <a:off x="6348351" y="4926440"/>
            <a:ext cx="4885191" cy="95410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F0"/>
                </a:solidFill>
              </a:rPr>
              <a:t>https://github.com/info-zas/zas-robotics-car-2-communications/blob/main/01_FoundationProjects/RCC07_Robot_Car_Control_Using_IR/RCC07_a_IR_Remore_Code_Rx/RCC07_a_IR_Remore_Code_Rx.ino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F7B5C5-B30F-DD83-BC74-3F9209532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226" y="1572639"/>
            <a:ext cx="5582265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Each IR remote has its unique set of code for their keys.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First find the unique code for keys of your IR transmitter remote.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Upload the code (RCC07_a_IR_Remore_Code_Rx.ino ) and get the IR code for each key printed in the serial monitor.</a:t>
            </a: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C56603-0DF7-1367-1517-0E2C20D83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085" y="365125"/>
            <a:ext cx="3918229" cy="3743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9E15DA-D7FB-7C1A-0A66-7BFCB6AA3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712" y="681037"/>
            <a:ext cx="1760373" cy="3596952"/>
          </a:xfrm>
          <a:prstGeom prst="rect">
            <a:avLst/>
          </a:prstGeom>
        </p:spPr>
      </p:pic>
      <p:sp>
        <p:nvSpPr>
          <p:cNvPr id="11" name="Diamond 10">
            <a:extLst>
              <a:ext uri="{FF2B5EF4-FFF2-40B4-BE49-F238E27FC236}">
                <a16:creationId xmlns:a16="http://schemas.microsoft.com/office/drawing/2014/main" id="{780E8123-572B-AD21-04F1-AC4D33850D82}"/>
              </a:ext>
            </a:extLst>
          </p:cNvPr>
          <p:cNvSpPr/>
          <p:nvPr/>
        </p:nvSpPr>
        <p:spPr>
          <a:xfrm>
            <a:off x="6348351" y="2552710"/>
            <a:ext cx="1674734" cy="1406013"/>
          </a:xfrm>
          <a:prstGeom prst="diamond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299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481F-6555-D05F-AEC1-E016749B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RCC07: IR Tx Codes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8DECB-0783-9477-225D-09AAB2A0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14065-F64C-DC8A-6476-19BB9539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6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CD7547-A86E-D225-54B6-C766031FC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08" y="1212404"/>
            <a:ext cx="4077053" cy="51439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BA8A4B-2DD0-C54D-5486-7983995A3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955" y="1912704"/>
            <a:ext cx="1760373" cy="3596952"/>
          </a:xfrm>
          <a:prstGeom prst="rect">
            <a:avLst/>
          </a:prstGeom>
        </p:spPr>
      </p:pic>
      <p:sp>
        <p:nvSpPr>
          <p:cNvPr id="14" name="Diamond 13">
            <a:extLst>
              <a:ext uri="{FF2B5EF4-FFF2-40B4-BE49-F238E27FC236}">
                <a16:creationId xmlns:a16="http://schemas.microsoft.com/office/drawing/2014/main" id="{D4BDC424-C47C-242C-A911-B7870FB91E82}"/>
              </a:ext>
            </a:extLst>
          </p:cNvPr>
          <p:cNvSpPr/>
          <p:nvPr/>
        </p:nvSpPr>
        <p:spPr>
          <a:xfrm>
            <a:off x="9812594" y="3784377"/>
            <a:ext cx="1674734" cy="1406013"/>
          </a:xfrm>
          <a:prstGeom prst="diamond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0B1AF8-972D-5ECF-8090-574F03F9F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7278" y="2522141"/>
            <a:ext cx="3734124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86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18C9-368E-0E43-45E8-C4E3839C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5855"/>
            <a:ext cx="12378813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RCC07:Robot Car Control Using IR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634AB-1C4B-60C0-2D59-5D116D88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7FE76-63F9-7869-7204-EDD4C92C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7</a:t>
            </a:fld>
            <a:endParaRPr lang="en-GB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BC9F936-8B00-EC14-7FEB-44F56343A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696" y="1486342"/>
            <a:ext cx="6146619" cy="4247317"/>
          </a:xfrm>
          <a:prstGeom prst="rect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setup()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Init IR receiver on pin 12</a:t>
            </a:r>
          </a:p>
          <a:p>
            <a:r>
              <a:rPr lang="en-US" dirty="0">
                <a:solidFill>
                  <a:srgbClr val="00B0F0"/>
                </a:solidFill>
              </a:rPr>
              <a:t>Init motor control pins (Left &amp; Right motors with PWM speed)</a:t>
            </a:r>
          </a:p>
          <a:p>
            <a:r>
              <a:rPr lang="en-US" dirty="0">
                <a:solidFill>
                  <a:srgbClr val="00B0F0"/>
                </a:solidFill>
              </a:rPr>
              <a:t>Set fixed motor speed using PWM (150)</a:t>
            </a:r>
          </a:p>
          <a:p>
            <a:r>
              <a:rPr lang="en-US" dirty="0">
                <a:solidFill>
                  <a:srgbClr val="00B0F0"/>
                </a:solidFill>
              </a:rPr>
              <a:t>Init OLED display (SSD1306, I2C, </a:t>
            </a:r>
            <a:r>
              <a:rPr lang="en-US" dirty="0" err="1">
                <a:solidFill>
                  <a:srgbClr val="00B0F0"/>
                </a:solidFill>
              </a:rPr>
              <a:t>addr</a:t>
            </a:r>
            <a:r>
              <a:rPr lang="en-US" dirty="0">
                <a:solidFill>
                  <a:srgbClr val="00B0F0"/>
                </a:solidFill>
              </a:rPr>
              <a:t> 0x3C)</a:t>
            </a:r>
          </a:p>
          <a:p>
            <a:r>
              <a:rPr lang="en-US" dirty="0">
                <a:solidFill>
                  <a:srgbClr val="00B0F0"/>
                </a:solidFill>
              </a:rPr>
              <a:t>Display startup message “IR READY” on OLED</a:t>
            </a:r>
          </a:p>
          <a:p>
            <a:r>
              <a:rPr lang="en-US" dirty="0">
                <a:solidFill>
                  <a:srgbClr val="00B0F0"/>
                </a:solidFill>
              </a:rPr>
              <a:t>Stop motors at startup</a:t>
            </a:r>
          </a:p>
          <a:p>
            <a:r>
              <a:rPr lang="en-US" b="1" dirty="0">
                <a:solidFill>
                  <a:srgbClr val="00B0F0"/>
                </a:solidFill>
              </a:rPr>
              <a:t>loop()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Wait for IR signal from remote</a:t>
            </a:r>
          </a:p>
          <a:p>
            <a:r>
              <a:rPr lang="en-US" dirty="0">
                <a:solidFill>
                  <a:srgbClr val="00B0F0"/>
                </a:solidFill>
              </a:rPr>
              <a:t>Decode received IR raw data</a:t>
            </a:r>
          </a:p>
          <a:p>
            <a:r>
              <a:rPr lang="en-US" dirty="0">
                <a:solidFill>
                  <a:srgbClr val="00B0F0"/>
                </a:solidFill>
              </a:rPr>
              <a:t>Match IR code to direction: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FORWARD / BACKWARD / LEFT / RIGHT / STOP</a:t>
            </a:r>
          </a:p>
          <a:p>
            <a:r>
              <a:rPr lang="en-US" dirty="0">
                <a:solidFill>
                  <a:srgbClr val="00B0F0"/>
                </a:solidFill>
              </a:rPr>
              <a:t>Drive motors based on matched direction</a:t>
            </a:r>
          </a:p>
          <a:p>
            <a:r>
              <a:rPr lang="en-US" dirty="0">
                <a:solidFill>
                  <a:srgbClr val="00B0F0"/>
                </a:solidFill>
              </a:rPr>
              <a:t>Display current direction text on OLED</a:t>
            </a:r>
          </a:p>
          <a:p>
            <a:r>
              <a:rPr lang="en-US" dirty="0">
                <a:solidFill>
                  <a:srgbClr val="00B0F0"/>
                </a:solidFill>
              </a:rPr>
              <a:t>Resume IR receiver for next command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688B5-11F8-78A8-B9C2-26746486310F}"/>
              </a:ext>
            </a:extLst>
          </p:cNvPr>
          <p:cNvSpPr txBox="1"/>
          <p:nvPr/>
        </p:nvSpPr>
        <p:spPr>
          <a:xfrm>
            <a:off x="7219335" y="1044976"/>
            <a:ext cx="6312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RC07_b_Robot_Car_Control_Using_IR_Rx.ino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2B5C408D-51FA-D248-E936-CA9DBC870C2C}"/>
              </a:ext>
            </a:extLst>
          </p:cNvPr>
          <p:cNvSpPr txBox="1"/>
          <p:nvPr/>
        </p:nvSpPr>
        <p:spPr bwMode="auto">
          <a:xfrm>
            <a:off x="84572" y="4071112"/>
            <a:ext cx="5771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600" b="1" dirty="0">
                <a:solidFill>
                  <a:srgbClr val="00B0F0"/>
                </a:solidFill>
              </a:rPr>
              <a:t>Code for Lesson RCC07 (</a:t>
            </a:r>
            <a:r>
              <a:rPr lang="en-US" sz="1600" b="1" dirty="0">
                <a:solidFill>
                  <a:srgbClr val="00B0F0"/>
                </a:solidFill>
              </a:rPr>
              <a:t>RCC07_b_Robot_Car_Control_Using_IR_Rx</a:t>
            </a:r>
            <a:r>
              <a:rPr lang="en-GB" sz="1600" b="1" dirty="0">
                <a:solidFill>
                  <a:srgbClr val="00B0F0"/>
                </a:solidFill>
              </a:rPr>
              <a:t>.ino):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DFF2F7-B3C0-823E-37DA-772B7F92B1B7}"/>
              </a:ext>
            </a:extLst>
          </p:cNvPr>
          <p:cNvSpPr txBox="1"/>
          <p:nvPr/>
        </p:nvSpPr>
        <p:spPr>
          <a:xfrm>
            <a:off x="84572" y="4750078"/>
            <a:ext cx="4885191" cy="95410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F0"/>
                </a:solidFill>
              </a:rPr>
              <a:t>https://github.com/info-zas/zas-robotics-car-2-communications/blob/main/01_FoundationProjects/RCC07_Robot_Car_Control_Using_IR/RCC07_b_Robot_Car_Control_Using_IR_Rx/RCC07_b_Robot_Car_Control_Using_IR_Rx.ino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C4C90A4-3550-68F8-3EBD-80EE7B7F1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31" y="1549877"/>
            <a:ext cx="4749711" cy="23535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FFFF00"/>
                </a:solidFill>
              </a:rPr>
              <a:t>Now that we have the code for the arrow keys of the remote, we can use them in the code to control the car movements.</a:t>
            </a:r>
          </a:p>
          <a:p>
            <a:pPr marL="0" indent="0">
              <a:buNone/>
            </a:pPr>
            <a:endParaRPr lang="en-GB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013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</TotalTime>
  <Words>518</Words>
  <Application>Microsoft Office PowerPoint</Application>
  <PresentationFormat>Widescreen</PresentationFormat>
  <Paragraphs>84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Calibri Light</vt:lpstr>
      <vt:lpstr>Office Theme</vt:lpstr>
      <vt:lpstr>Robot Car 2 (Wireless Communication Control) (RCC)</vt:lpstr>
      <vt:lpstr>Robot Car2 - Contents</vt:lpstr>
      <vt:lpstr>Robot Car2 - Contents</vt:lpstr>
      <vt:lpstr>RCC07:Robot Car Control Using IR</vt:lpstr>
      <vt:lpstr> RCC07: IR Tx Codes </vt:lpstr>
      <vt:lpstr>RCC07: IR Tx Codes</vt:lpstr>
      <vt:lpstr>RCC07:Robot Car Control Using IR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38</cp:revision>
  <dcterms:created xsi:type="dcterms:W3CDTF">2025-11-29T15:09:33Z</dcterms:created>
  <dcterms:modified xsi:type="dcterms:W3CDTF">2026-01-17T13:29:04Z</dcterms:modified>
</cp:coreProperties>
</file>