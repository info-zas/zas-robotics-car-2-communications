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88" r:id="rId3"/>
    <p:sldId id="287" r:id="rId4"/>
    <p:sldId id="285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11A46-23A7-4CAD-863D-6397CDAD4FD2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70DA3-5A45-4EA5-8847-63371DDB5D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3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0F2F-948D-0F65-D7F3-7FB555F3D5E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235F5BF2-276A-1551-56CD-05B6B026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73AD26D3-6C00-C653-941B-133C8572E5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FC2F83E7-A1B5-B8A5-CC11-DC5606E3B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279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BF9D-AC79-EB5E-03FC-7600DE12BF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>
            <a:extLst>
              <a:ext uri="{FF2B5EF4-FFF2-40B4-BE49-F238E27FC236}">
                <a16:creationId xmlns:a16="http://schemas.microsoft.com/office/drawing/2014/main" id="{F123119F-6F80-FAA9-0FF2-519BECAE1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7197958" name="Notes Placeholder 2">
            <a:extLst>
              <a:ext uri="{FF2B5EF4-FFF2-40B4-BE49-F238E27FC236}">
                <a16:creationId xmlns:a16="http://schemas.microsoft.com/office/drawing/2014/main" id="{E3633158-1406-4F6D-6B94-0B14E80912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>
            <a:extLst>
              <a:ext uri="{FF2B5EF4-FFF2-40B4-BE49-F238E27FC236}">
                <a16:creationId xmlns:a16="http://schemas.microsoft.com/office/drawing/2014/main" id="{EC6610E5-8732-05EC-EC87-837A91D00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13F677-0E1E-6F44-539B-EB19BF5D0C37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8246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53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9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52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3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736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28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46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40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4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2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36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2" y="665163"/>
            <a:ext cx="11434917" cy="2387600"/>
          </a:xfrm>
        </p:spPr>
        <p:txBody>
          <a:bodyPr>
            <a:normAutofit/>
          </a:bodyPr>
          <a:lstStyle/>
          <a:p>
            <a:r>
              <a:rPr lang="en-GB" sz="3600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Robot Car 2 (Wireless Communication Control) (RCC)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(Lesson Ref</a:t>
            </a:r>
            <a:r>
              <a:rPr lang="en-GB" sz="3600" b="1">
                <a:solidFill>
                  <a:srgbClr val="00B0F0"/>
                </a:solidFill>
              </a:rPr>
              <a:t>: RCC03)</a:t>
            </a:r>
            <a:endParaRPr lang="en-GB" sz="3600" b="1" dirty="0">
              <a:solidFill>
                <a:srgbClr val="00B0F0"/>
              </a:solidFill>
            </a:endParaRPr>
          </a:p>
          <a:p>
            <a:r>
              <a:rPr lang="en-US" sz="3600" b="1" dirty="0">
                <a:solidFill>
                  <a:srgbClr val="7030A0"/>
                </a:solidFill>
              </a:rPr>
              <a:t>RCC03: Robot Car Control Using Joystick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F5A6A5-3841-4FBA-B455-67883EB31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C6EF-45AC-6917-4732-1E59B98BBE2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2E409F7-33F3-22DC-3ABC-779DEEDEEC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37" y="1081554"/>
            <a:ext cx="3802472" cy="4860405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4DAD051F-4F75-DE05-99D8-8D674A26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1E3F63-77A8-B54E-03A9-FDBCC9EBC5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834" y="934063"/>
            <a:ext cx="4573176" cy="53536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ACF517-2C2F-9A6C-611F-FCF9BBC1DA81}"/>
              </a:ext>
            </a:extLst>
          </p:cNvPr>
          <p:cNvSpPr txBox="1"/>
          <p:nvPr/>
        </p:nvSpPr>
        <p:spPr bwMode="auto">
          <a:xfrm>
            <a:off x="914524" y="6269773"/>
            <a:ext cx="4711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(Front)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ADD1F7-802D-86E3-1CB7-4B66F2FEB48F}"/>
              </a:ext>
            </a:extLst>
          </p:cNvPr>
          <p:cNvSpPr txBox="1"/>
          <p:nvPr/>
        </p:nvSpPr>
        <p:spPr bwMode="auto">
          <a:xfrm>
            <a:off x="6801834" y="6396335"/>
            <a:ext cx="4663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(Back)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A210ECC-D6E1-28FC-2135-CB51EE1F8A7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A66DAC-1F37-ADFD-613D-5FAD1CA9D10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8362" y="1737072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026DC8-31C5-9852-EB53-CFFF24E87FFA}"/>
              </a:ext>
            </a:extLst>
          </p:cNvPr>
          <p:cNvSpPr txBox="1"/>
          <p:nvPr/>
        </p:nvSpPr>
        <p:spPr bwMode="auto">
          <a:xfrm>
            <a:off x="109752" y="116065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Bluetooth Connector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59D367-9784-AACF-DFE7-E77FBE98184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27598" y="3304995"/>
            <a:ext cx="585278" cy="316064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B8F10-1599-269F-23E5-7EC2D655586E}"/>
              </a:ext>
            </a:extLst>
          </p:cNvPr>
          <p:cNvSpPr txBox="1"/>
          <p:nvPr/>
        </p:nvSpPr>
        <p:spPr bwMode="auto">
          <a:xfrm>
            <a:off x="109752" y="2716673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Free Connector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D9461-44A0-B01C-A926-630988EFB673}"/>
              </a:ext>
            </a:extLst>
          </p:cNvPr>
          <p:cNvSpPr txBox="1"/>
          <p:nvPr/>
        </p:nvSpPr>
        <p:spPr>
          <a:xfrm rot="21272357">
            <a:off x="1483504" y="3357724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2E881D-EC1E-9C30-1444-AC91365270A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91001" y="4529329"/>
            <a:ext cx="546986" cy="258055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6BBF06-35DA-DE62-B39A-D4D859A62A45}"/>
              </a:ext>
            </a:extLst>
          </p:cNvPr>
          <p:cNvSpPr txBox="1"/>
          <p:nvPr/>
        </p:nvSpPr>
        <p:spPr bwMode="auto">
          <a:xfrm>
            <a:off x="184397" y="4354723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Colour Sensor Connector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E2C38A-3848-C212-1836-6988B7ECD5B8}"/>
              </a:ext>
            </a:extLst>
          </p:cNvPr>
          <p:cNvCxnSpPr>
            <a:cxnSpLocks/>
          </p:cNvCxnSpPr>
          <p:nvPr/>
        </p:nvCxnSpPr>
        <p:spPr bwMode="auto">
          <a:xfrm>
            <a:off x="2097000" y="4921737"/>
            <a:ext cx="134738" cy="42701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E5A266-34C6-5AAB-CD14-F9738AB16436}"/>
              </a:ext>
            </a:extLst>
          </p:cNvPr>
          <p:cNvCxnSpPr>
            <a:cxnSpLocks/>
          </p:cNvCxnSpPr>
          <p:nvPr/>
        </p:nvCxnSpPr>
        <p:spPr bwMode="auto">
          <a:xfrm flipH="1">
            <a:off x="2652677" y="4839340"/>
            <a:ext cx="199148" cy="50940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6F688F5-2E06-717B-BC97-DCA20E433A80}"/>
              </a:ext>
            </a:extLst>
          </p:cNvPr>
          <p:cNvSpPr txBox="1"/>
          <p:nvPr/>
        </p:nvSpPr>
        <p:spPr bwMode="auto">
          <a:xfrm>
            <a:off x="2006419" y="5343537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Gesture Sensor 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3A0FF2-2A86-22A1-2C28-E1B63CB6D7AF}"/>
              </a:ext>
            </a:extLst>
          </p:cNvPr>
          <p:cNvCxnSpPr>
            <a:cxnSpLocks/>
          </p:cNvCxnSpPr>
          <p:nvPr/>
        </p:nvCxnSpPr>
        <p:spPr bwMode="auto">
          <a:xfrm>
            <a:off x="3313916" y="5069168"/>
            <a:ext cx="555315" cy="38396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BBFC1EE-B7FA-CA95-9F22-FAC3A8B420BE}"/>
              </a:ext>
            </a:extLst>
          </p:cNvPr>
          <p:cNvSpPr txBox="1"/>
          <p:nvPr/>
        </p:nvSpPr>
        <p:spPr bwMode="auto">
          <a:xfrm>
            <a:off x="3612555" y="5450748"/>
            <a:ext cx="143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Transmitter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72742C30-8228-BEAF-D3F8-5A042B5E12EC}"/>
              </a:ext>
            </a:extLst>
          </p:cNvPr>
          <p:cNvSpPr/>
          <p:nvPr/>
        </p:nvSpPr>
        <p:spPr>
          <a:xfrm rot="21395035">
            <a:off x="2177630" y="1529511"/>
            <a:ext cx="1188152" cy="1213287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A58B798-285E-30AA-71B8-5A0329496F73}"/>
              </a:ext>
            </a:extLst>
          </p:cNvPr>
          <p:cNvCxnSpPr/>
          <p:nvPr/>
        </p:nvCxnSpPr>
        <p:spPr bwMode="auto">
          <a:xfrm>
            <a:off x="3106994" y="3621059"/>
            <a:ext cx="1915715" cy="130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EE6A585-737A-0D05-6052-1001EBC5AAB2}"/>
              </a:ext>
            </a:extLst>
          </p:cNvPr>
          <p:cNvSpPr txBox="1"/>
          <p:nvPr/>
        </p:nvSpPr>
        <p:spPr bwMode="auto">
          <a:xfrm>
            <a:off x="4682164" y="4863077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Joystick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26D650-1B29-5CFF-8148-0113D0EDD31F}"/>
              </a:ext>
            </a:extLst>
          </p:cNvPr>
          <p:cNvCxnSpPr>
            <a:cxnSpLocks/>
          </p:cNvCxnSpPr>
          <p:nvPr/>
        </p:nvCxnSpPr>
        <p:spPr bwMode="auto">
          <a:xfrm>
            <a:off x="3869231" y="3716878"/>
            <a:ext cx="1305878" cy="826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019031-22C3-4624-8604-863F0144F71D}"/>
              </a:ext>
            </a:extLst>
          </p:cNvPr>
          <p:cNvSpPr txBox="1"/>
          <p:nvPr/>
        </p:nvSpPr>
        <p:spPr bwMode="auto">
          <a:xfrm>
            <a:off x="4993718" y="4098367"/>
            <a:ext cx="1785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Accelerometer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3C9C289-C0C7-19E0-BBB9-B4753BA1B359}"/>
              </a:ext>
            </a:extLst>
          </p:cNvPr>
          <p:cNvCxnSpPr>
            <a:cxnSpLocks/>
          </p:cNvCxnSpPr>
          <p:nvPr/>
        </p:nvCxnSpPr>
        <p:spPr bwMode="auto">
          <a:xfrm flipV="1">
            <a:off x="4138706" y="1694989"/>
            <a:ext cx="112062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E0F26A6-92A1-6A22-4545-B0A33BB0266F}"/>
              </a:ext>
            </a:extLst>
          </p:cNvPr>
          <p:cNvSpPr txBox="1"/>
          <p:nvPr/>
        </p:nvSpPr>
        <p:spPr bwMode="auto">
          <a:xfrm>
            <a:off x="5022709" y="1346416"/>
            <a:ext cx="121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2D76E91-7FAE-B771-A34F-256E269381D6}"/>
              </a:ext>
            </a:extLst>
          </p:cNvPr>
          <p:cNvCxnSpPr>
            <a:cxnSpLocks/>
          </p:cNvCxnSpPr>
          <p:nvPr/>
        </p:nvCxnSpPr>
        <p:spPr bwMode="auto">
          <a:xfrm flipH="1">
            <a:off x="1279620" y="4270348"/>
            <a:ext cx="999512" cy="137453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69107C6-1C56-1C2A-C8E9-650FB8D6668A}"/>
              </a:ext>
            </a:extLst>
          </p:cNvPr>
          <p:cNvSpPr txBox="1"/>
          <p:nvPr/>
        </p:nvSpPr>
        <p:spPr bwMode="auto">
          <a:xfrm>
            <a:off x="516885" y="538363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2D8218-DF3F-25E6-234A-2AA0A37FD149}"/>
              </a:ext>
            </a:extLst>
          </p:cNvPr>
          <p:cNvSpPr txBox="1"/>
          <p:nvPr/>
        </p:nvSpPr>
        <p:spPr bwMode="auto">
          <a:xfrm rot="21342939">
            <a:off x="1962355" y="2747616"/>
            <a:ext cx="474294" cy="7567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cs typeface="Arial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FF45831-2AAB-3EE3-18E1-2315FFCCE607}"/>
              </a:ext>
            </a:extLst>
          </p:cNvPr>
          <p:cNvCxnSpPr>
            <a:cxnSpLocks/>
          </p:cNvCxnSpPr>
          <p:nvPr/>
        </p:nvCxnSpPr>
        <p:spPr bwMode="auto">
          <a:xfrm flipV="1">
            <a:off x="2264319" y="2716673"/>
            <a:ext cx="2376163" cy="280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971BB06-04F7-CCAD-5BAC-2B87E582F882}"/>
              </a:ext>
            </a:extLst>
          </p:cNvPr>
          <p:cNvSpPr txBox="1"/>
          <p:nvPr/>
        </p:nvSpPr>
        <p:spPr bwMode="auto">
          <a:xfrm>
            <a:off x="4581605" y="2453954"/>
            <a:ext cx="1551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Mini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Breadboard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74562B1-2966-00D4-7F58-07E7AE3870AA}"/>
              </a:ext>
            </a:extLst>
          </p:cNvPr>
          <p:cNvCxnSpPr>
            <a:cxnSpLocks/>
          </p:cNvCxnSpPr>
          <p:nvPr/>
        </p:nvCxnSpPr>
        <p:spPr bwMode="auto">
          <a:xfrm flipV="1">
            <a:off x="9851137" y="2546319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B61A-55EA-B316-64B9-C2B489F61A5E}"/>
              </a:ext>
            </a:extLst>
          </p:cNvPr>
          <p:cNvSpPr txBox="1"/>
          <p:nvPr/>
        </p:nvSpPr>
        <p:spPr bwMode="auto">
          <a:xfrm>
            <a:off x="10411450" y="1899988"/>
            <a:ext cx="121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Arduino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Uno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2CFDBE-B119-D54E-77BD-E7263F90D98B}"/>
              </a:ext>
            </a:extLst>
          </p:cNvPr>
          <p:cNvCxnSpPr>
            <a:cxnSpLocks/>
          </p:cNvCxnSpPr>
          <p:nvPr/>
        </p:nvCxnSpPr>
        <p:spPr bwMode="auto">
          <a:xfrm flipV="1">
            <a:off x="9896434" y="4505045"/>
            <a:ext cx="787366" cy="369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18E4578-BDDF-18A1-FC38-74107E7D9E32}"/>
              </a:ext>
            </a:extLst>
          </p:cNvPr>
          <p:cNvSpPr txBox="1"/>
          <p:nvPr/>
        </p:nvSpPr>
        <p:spPr bwMode="auto">
          <a:xfrm>
            <a:off x="10526484" y="4170714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72C2589-87C7-BCD4-53B8-1F4D4FDB4D92}"/>
              </a:ext>
            </a:extLst>
          </p:cNvPr>
          <p:cNvCxnSpPr>
            <a:cxnSpLocks/>
          </p:cNvCxnSpPr>
          <p:nvPr/>
        </p:nvCxnSpPr>
        <p:spPr bwMode="auto">
          <a:xfrm flipV="1">
            <a:off x="2945240" y="1245237"/>
            <a:ext cx="507160" cy="58032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1B1F275-3BDA-A5AF-34FA-312B9A27DBF4}"/>
              </a:ext>
            </a:extLst>
          </p:cNvPr>
          <p:cNvSpPr txBox="1"/>
          <p:nvPr/>
        </p:nvSpPr>
        <p:spPr bwMode="auto">
          <a:xfrm>
            <a:off x="2865774" y="1024814"/>
            <a:ext cx="1843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Button Control</a:t>
            </a:r>
          </a:p>
        </p:txBody>
      </p:sp>
      <p:sp>
        <p:nvSpPr>
          <p:cNvPr id="59" name="Date Placeholder 58">
            <a:extLst>
              <a:ext uri="{FF2B5EF4-FFF2-40B4-BE49-F238E27FC236}">
                <a16:creationId xmlns:a16="http://schemas.microsoft.com/office/drawing/2014/main" id="{9D64FE2E-669A-76E1-4053-90C2C01E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60" name="Slide Number Placeholder 59">
            <a:extLst>
              <a:ext uri="{FF2B5EF4-FFF2-40B4-BE49-F238E27FC236}">
                <a16:creationId xmlns:a16="http://schemas.microsoft.com/office/drawing/2014/main" id="{AAC12BB4-12AF-FD4C-AA80-7759419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070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6B9BF-6D74-443A-76C3-97EF3DAA654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E8E0F4B-72B0-86C1-3711-2350992EA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569262" y="954394"/>
            <a:ext cx="3603795" cy="4949212"/>
          </a:xfrm>
          <a:prstGeom prst="rect">
            <a:avLst/>
          </a:prstGeom>
        </p:spPr>
      </p:pic>
      <p:pic>
        <p:nvPicPr>
          <p:cNvPr id="1142226202" name="Picture 1">
            <a:extLst>
              <a:ext uri="{FF2B5EF4-FFF2-40B4-BE49-F238E27FC236}">
                <a16:creationId xmlns:a16="http://schemas.microsoft.com/office/drawing/2014/main" id="{1379F331-285B-3D09-F3A6-AD413147F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2A9224-77D5-CBC2-A311-9F1AFE071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973" y="1203334"/>
            <a:ext cx="3442943" cy="51138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A342A23-27E6-A20A-F532-4A4707E1C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884" y="9011"/>
            <a:ext cx="10515600" cy="106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000" b="1" dirty="0">
                <a:solidFill>
                  <a:srgbClr val="FF33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Car2 - Contents</a:t>
            </a:r>
            <a:endParaRPr sz="4000" b="1" dirty="0">
              <a:solidFill>
                <a:srgbClr val="FF33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3964B-7F89-F1F5-5112-002C61B7E0B4}"/>
              </a:ext>
            </a:extLst>
          </p:cNvPr>
          <p:cNvSpPr txBox="1"/>
          <p:nvPr/>
        </p:nvSpPr>
        <p:spPr>
          <a:xfrm>
            <a:off x="1075116" y="6267235"/>
            <a:ext cx="4302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(Front)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517AF-8466-2862-14B7-C494B9B26549}"/>
              </a:ext>
            </a:extLst>
          </p:cNvPr>
          <p:cNvSpPr txBox="1"/>
          <p:nvPr/>
        </p:nvSpPr>
        <p:spPr bwMode="auto">
          <a:xfrm>
            <a:off x="6949053" y="6387324"/>
            <a:ext cx="4254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 (Back)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F2FE22-E290-CF4E-2E75-96848852FB45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229032" y="2438400"/>
            <a:ext cx="1087911" cy="22380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195681-737C-1D0A-B09C-28835A4E828E}"/>
              </a:ext>
            </a:extLst>
          </p:cNvPr>
          <p:cNvSpPr txBox="1"/>
          <p:nvPr/>
        </p:nvSpPr>
        <p:spPr bwMode="auto">
          <a:xfrm>
            <a:off x="276745" y="1757445"/>
            <a:ext cx="12925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Car2 Receiver Motor Controller Board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1182C0-D51E-8556-950F-BED6EA293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973394" y="3500284"/>
            <a:ext cx="953729" cy="411606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B3B5DA-94B7-E61C-D678-34BD4DC3C792}"/>
              </a:ext>
            </a:extLst>
          </p:cNvPr>
          <p:cNvSpPr txBox="1"/>
          <p:nvPr/>
        </p:nvSpPr>
        <p:spPr bwMode="auto">
          <a:xfrm>
            <a:off x="10884" y="3554688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NRF 24L01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Receiver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CEC1F70-538E-36EA-5D0F-07649A3D67C8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5116" y="3466459"/>
            <a:ext cx="1874790" cy="119403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B8E257-5297-8BD3-037D-98E80AA0BD31}"/>
              </a:ext>
            </a:extLst>
          </p:cNvPr>
          <p:cNvSpPr txBox="1"/>
          <p:nvPr/>
        </p:nvSpPr>
        <p:spPr bwMode="auto">
          <a:xfrm>
            <a:off x="428858" y="4379981"/>
            <a:ext cx="129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OLED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C54A943-A44B-8A5C-7D70-BCEF3A030F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835122" y="16435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F6FFB5-B40E-36A7-575E-706B204EF2C2}"/>
              </a:ext>
            </a:extLst>
          </p:cNvPr>
          <p:cNvSpPr txBox="1"/>
          <p:nvPr/>
        </p:nvSpPr>
        <p:spPr bwMode="auto">
          <a:xfrm>
            <a:off x="878758" y="1030269"/>
            <a:ext cx="1292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TB6612 Motor Driver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CD1-83B5-5997-A429-C9DC38E40665}"/>
              </a:ext>
            </a:extLst>
          </p:cNvPr>
          <p:cNvCxnSpPr>
            <a:cxnSpLocks/>
          </p:cNvCxnSpPr>
          <p:nvPr/>
        </p:nvCxnSpPr>
        <p:spPr bwMode="auto">
          <a:xfrm flipH="1">
            <a:off x="1229032" y="4177401"/>
            <a:ext cx="2289387" cy="1037028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D26D10-D327-58D5-CEA3-FC0707FFB6C5}"/>
              </a:ext>
            </a:extLst>
          </p:cNvPr>
          <p:cNvSpPr txBox="1"/>
          <p:nvPr/>
        </p:nvSpPr>
        <p:spPr bwMode="auto">
          <a:xfrm>
            <a:off x="282677" y="5082624"/>
            <a:ext cx="129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Battery Connector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42FD16-7E2A-2225-B895-C355D346513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74133" y="3004071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B1D721E-809D-8FAC-B261-DA2EE039B2C7}"/>
              </a:ext>
            </a:extLst>
          </p:cNvPr>
          <p:cNvSpPr txBox="1"/>
          <p:nvPr/>
        </p:nvSpPr>
        <p:spPr bwMode="auto">
          <a:xfrm>
            <a:off x="5984037" y="2700392"/>
            <a:ext cx="1114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18650 Battery Holder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DCFD46-F509-18D2-24DA-483311176CE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562507" y="1452806"/>
            <a:ext cx="1391384" cy="514029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31F39A-5CC7-D962-B249-E11D85D31554}"/>
              </a:ext>
            </a:extLst>
          </p:cNvPr>
          <p:cNvSpPr txBox="1"/>
          <p:nvPr/>
        </p:nvSpPr>
        <p:spPr bwMode="auto">
          <a:xfrm>
            <a:off x="6616706" y="996758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Castor Wheel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478D83-2B59-8FED-A1BC-B65C1B5034DD}"/>
              </a:ext>
            </a:extLst>
          </p:cNvPr>
          <p:cNvCxnSpPr>
            <a:cxnSpLocks/>
          </p:cNvCxnSpPr>
          <p:nvPr/>
        </p:nvCxnSpPr>
        <p:spPr bwMode="auto">
          <a:xfrm>
            <a:off x="8454088" y="4984084"/>
            <a:ext cx="335951" cy="919523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82FB5-8310-F044-0DFA-CF12222DE065}"/>
              </a:ext>
            </a:extLst>
          </p:cNvPr>
          <p:cNvCxnSpPr>
            <a:cxnSpLocks/>
          </p:cNvCxnSpPr>
          <p:nvPr/>
        </p:nvCxnSpPr>
        <p:spPr bwMode="auto">
          <a:xfrm flipH="1">
            <a:off x="9409471" y="4946027"/>
            <a:ext cx="228531" cy="870751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92F50C-D9EF-8FAC-1427-D796DD473A09}"/>
              </a:ext>
            </a:extLst>
          </p:cNvPr>
          <p:cNvSpPr txBox="1"/>
          <p:nvPr/>
        </p:nvSpPr>
        <p:spPr bwMode="auto">
          <a:xfrm>
            <a:off x="8852044" y="5670892"/>
            <a:ext cx="1114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25000"/>
                    <a:lumOff val="7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DC Motors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786DD4E-7012-E016-EA6F-AFE68A7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t>07/12/2025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45A4BF8A-0E40-3C36-302B-967A06E2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CA24EA-A87A-4979-940E-A83EA2C27DA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cs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586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33D-63F9-8BC0-F034-22093DC5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RCC03: Robot Car Control Using Joystick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FFF72-0FE1-6758-8847-CF72C0C02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00B0F0"/>
                </a:solidFill>
              </a:rPr>
              <a:t>Things Needed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8E6832-164B-63D1-992D-505C0928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990" y="4369619"/>
            <a:ext cx="1795010" cy="1574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F22F15-E288-B9C4-18BC-19003B39E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7255674" y="1906828"/>
            <a:ext cx="2842812" cy="3904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9EB0A-9A32-1268-7377-D6E8C58289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993022" y="1906827"/>
            <a:ext cx="3054342" cy="3904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7A0B6F-96E7-A7CE-D79C-06C7B54AE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8486" y="1324966"/>
            <a:ext cx="1795010" cy="1574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14B8BB-C66F-04C6-A294-DB2D1F68FF74}"/>
              </a:ext>
            </a:extLst>
          </p:cNvPr>
          <p:cNvSpPr txBox="1"/>
          <p:nvPr/>
        </p:nvSpPr>
        <p:spPr bwMode="auto">
          <a:xfrm>
            <a:off x="7017811" y="6354223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Receiver Module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8C1D6C-E861-25A7-1E8C-9ACCD884A776}"/>
              </a:ext>
            </a:extLst>
          </p:cNvPr>
          <p:cNvSpPr txBox="1"/>
          <p:nvPr/>
        </p:nvSpPr>
        <p:spPr bwMode="auto">
          <a:xfrm>
            <a:off x="568128" y="6354223"/>
            <a:ext cx="387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0" cap="none" spc="0" normalizeH="0" baseline="0" noProof="0" dirty="0">
                <a:ln>
                  <a:noFill/>
                </a:ln>
                <a:solidFill>
                  <a:srgbClr val="023047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/>
                <a:cs typeface="Arial"/>
              </a:rPr>
              <a:t>Car 2 Transmitter Module </a:t>
            </a:r>
          </a:p>
        </p:txBody>
      </p:sp>
    </p:spTree>
    <p:extLst>
      <p:ext uri="{BB962C8B-B14F-4D97-AF65-F5344CB8AC3E}">
        <p14:creationId xmlns:p14="http://schemas.microsoft.com/office/powerpoint/2010/main" val="884904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CC37-3ADD-4CF2-11EF-905B22CB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RCC03: Robot Car Control Using Joystick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5E17-6AFB-1E6D-6D95-10FFFB1B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739AA-B2B4-8714-73F1-AC833717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5</a:t>
            </a:fld>
            <a:endParaRPr lang="en-GB"/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ADF46208-C781-3C94-AECE-BAF1DB737222}"/>
              </a:ext>
            </a:extLst>
          </p:cNvPr>
          <p:cNvSpPr txBox="1"/>
          <p:nvPr/>
        </p:nvSpPr>
        <p:spPr bwMode="auto">
          <a:xfrm>
            <a:off x="1008204" y="5277646"/>
            <a:ext cx="5501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RCC03 (</a:t>
            </a:r>
            <a:r>
              <a:rPr lang="en-US" b="1" dirty="0"/>
              <a:t>RCC03_Robot_Car_Joystick_Control_Tx</a:t>
            </a:r>
            <a:r>
              <a:rPr lang="en-GB" b="1" dirty="0"/>
              <a:t>.ino):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3BC2B-F791-CB7B-EDBD-2BA738EA04D0}"/>
              </a:ext>
            </a:extLst>
          </p:cNvPr>
          <p:cNvSpPr txBox="1"/>
          <p:nvPr/>
        </p:nvSpPr>
        <p:spPr>
          <a:xfrm>
            <a:off x="1008204" y="5923977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AB3A9A2B-BAEF-EA7E-8147-8F46AF987F2D}"/>
              </a:ext>
            </a:extLst>
          </p:cNvPr>
          <p:cNvSpPr txBox="1"/>
          <p:nvPr/>
        </p:nvSpPr>
        <p:spPr bwMode="auto">
          <a:xfrm>
            <a:off x="6510130" y="5277646"/>
            <a:ext cx="5501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b="1" dirty="0"/>
              <a:t>Code for Lesson RCC03 (</a:t>
            </a:r>
            <a:r>
              <a:rPr lang="en-US" b="1" dirty="0"/>
              <a:t>RCC03_Robot_Car_Joystick_Control_Rx</a:t>
            </a:r>
            <a:r>
              <a:rPr lang="en-GB" b="1" dirty="0"/>
              <a:t>.ino):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B0E19-0128-994A-59E6-277370339E8B}"/>
              </a:ext>
            </a:extLst>
          </p:cNvPr>
          <p:cNvSpPr txBox="1"/>
          <p:nvPr/>
        </p:nvSpPr>
        <p:spPr>
          <a:xfrm>
            <a:off x="6510130" y="5923977"/>
            <a:ext cx="4885191" cy="30777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63C869-CD41-0F91-F099-AEB91A807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0800000">
            <a:off x="6659109" y="1476935"/>
            <a:ext cx="2842812" cy="3904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75842C-E7B1-BBD1-075E-9F8438C185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6200000">
            <a:off x="1670583" y="1532102"/>
            <a:ext cx="3054342" cy="390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18C9-368E-0E43-45E8-C4E3839C4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RCC03: Robot Car Control Using Joystick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34AB-1C4B-60C0-2D59-5D116D886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07/12/2025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7FE76-63F9-7869-7204-EDD4C92C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CA24EA-A87A-4979-940E-A83EA2C27DA6}" type="slidenum">
              <a:rPr lang="en-GB" smtClean="0"/>
              <a:t>6</a:t>
            </a:fld>
            <a:endParaRPr lang="en-GB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8402606-B8C1-222E-8AB0-DBC77C939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815668"/>
            <a:ext cx="7144905" cy="2462213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Compact Code Summary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Start Serial (9600)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OLED (SSD1306,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nRF24L01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TRANSMITTER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(CE=A3, CSN=A2,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addr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"00001"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</a:rPr>
              <a:t>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pwr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Set joystick pins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A0 (X)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A1 (Y)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as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Read joystick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X, Y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Send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{x, y}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 payload via nRF24L01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</a:rPr>
              <a:t>• Display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TRANSMITTER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X and Y on OLED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Delay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100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ms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83A986-D26B-DF9C-59DD-79B9993AC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6994" y="3749457"/>
            <a:ext cx="6760184" cy="310854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Compact Code Summary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setup()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Start Serial (9600)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motor pins and set fixed PWM speed (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150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OLED (SSD1306,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0x3C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Init nRF24L01 as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RECEIVER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(CE=A3, CSN=A2, pipe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 Unicode MS"/>
              </a:rPr>
              <a:t>"00001"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</a:rPr>
              <a:t>, ch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108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, pwr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LOW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loop()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Display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CAR RECEIVER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 on OLED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If radio data available: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Read joystick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X, Y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Decide motion: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FORWARD / BACKWARD / LEFT / RIGHT / STOP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Drive motors accordingly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– Display X, Y and direction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• Refresh OLED, delay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100 ms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29D47D-F334-9455-C9DC-61D5A4DC6FC7}"/>
              </a:ext>
            </a:extLst>
          </p:cNvPr>
          <p:cNvSpPr txBox="1"/>
          <p:nvPr/>
        </p:nvSpPr>
        <p:spPr>
          <a:xfrm>
            <a:off x="914400" y="4755912"/>
            <a:ext cx="338890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en-US" sz="2600" b="1" i="0" u="none" dirty="0">
                <a:solidFill>
                  <a:schemeClr val="accent4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Note:</a:t>
            </a:r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defRPr/>
            </a:pPr>
            <a:r>
              <a:rPr lang="en-US" sz="1800" b="1" i="0" u="none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Ensure both the receiver/transmitter have the identical Device  </a:t>
            </a:r>
            <a:r>
              <a:rPr lang="en-US" sz="18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n-US" sz="1800" b="1" i="0" u="none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ddress (Pipe) and Channel</a:t>
            </a:r>
            <a:endParaRPr lang="en-US" sz="1800" b="1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13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ZASRobotics">
    <a:dk1>
      <a:sysClr val="windowText" lastClr="000000"/>
    </a:dk1>
    <a:lt1>
      <a:sysClr val="window" lastClr="FFFFFF"/>
    </a:lt1>
    <a:dk2>
      <a:srgbClr val="0E2841"/>
    </a:dk2>
    <a:lt2>
      <a:srgbClr val="8ECAE6"/>
    </a:lt2>
    <a:accent1>
      <a:srgbClr val="219EBC"/>
    </a:accent1>
    <a:accent2>
      <a:srgbClr val="8ECAE6"/>
    </a:accent2>
    <a:accent3>
      <a:srgbClr val="023047"/>
    </a:accent3>
    <a:accent4>
      <a:srgbClr val="FF715B"/>
    </a:accent4>
    <a:accent5>
      <a:srgbClr val="F9CB40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421</Words>
  <Application>Microsoft Office PowerPoint</Application>
  <PresentationFormat>Widescreen</PresentationFormat>
  <Paragraphs>63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Calibri</vt:lpstr>
      <vt:lpstr>Calibri Light</vt:lpstr>
      <vt:lpstr>Office Theme</vt:lpstr>
      <vt:lpstr>Robot Car 2 (Wireless Communication Control) (RCC)</vt:lpstr>
      <vt:lpstr>Robot Car2 - Contents</vt:lpstr>
      <vt:lpstr>Robot Car2 - Contents</vt:lpstr>
      <vt:lpstr>RCC03: Robot Car Control Using Joystick</vt:lpstr>
      <vt:lpstr>RCC03: Robot Car Control Using Joystick</vt:lpstr>
      <vt:lpstr>RCC03: Robot Car Control Using Joystick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22</cp:revision>
  <dcterms:created xsi:type="dcterms:W3CDTF">2025-11-29T15:09:33Z</dcterms:created>
  <dcterms:modified xsi:type="dcterms:W3CDTF">2026-01-11T22:56:48Z</dcterms:modified>
</cp:coreProperties>
</file>