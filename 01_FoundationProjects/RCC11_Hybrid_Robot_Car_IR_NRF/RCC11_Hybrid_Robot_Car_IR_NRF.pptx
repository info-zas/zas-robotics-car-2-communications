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88" r:id="rId3"/>
    <p:sldId id="287" r:id="rId4"/>
    <p:sldId id="285" r:id="rId5"/>
    <p:sldId id="302" r:id="rId6"/>
    <p:sldId id="293" r:id="rId7"/>
    <p:sldId id="295" r:id="rId8"/>
    <p:sldId id="294" r:id="rId9"/>
    <p:sldId id="300" r:id="rId10"/>
    <p:sldId id="30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9" y="3602038"/>
            <a:ext cx="10264876" cy="1655762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</a:t>
            </a:r>
            <a:r>
              <a:rPr lang="en-GB" sz="3600" b="1">
                <a:solidFill>
                  <a:srgbClr val="00B0F0"/>
                </a:solidFill>
              </a:rPr>
              <a:t>: RCC11</a:t>
            </a:r>
            <a:r>
              <a:rPr lang="en-GB" sz="3600" b="1" dirty="0">
                <a:solidFill>
                  <a:srgbClr val="00B0F0"/>
                </a:solidFill>
              </a:rPr>
              <a:t>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RCC11:Hybrid Robot Car Control Using IR-NRF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11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RCC11:Hybrid Robot Car Control Using IR-NRF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8780836" y="2272834"/>
            <a:ext cx="284281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FE7193-F8B2-0FDD-820C-807311B60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06" y="2580767"/>
            <a:ext cx="1040091" cy="14205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CD3800-B810-BB34-9F75-DECDFF988E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41" y="4142693"/>
            <a:ext cx="2765538" cy="24423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182C70-479F-7890-E5CF-3D451648538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2686372" y="1845524"/>
            <a:ext cx="3802472" cy="4860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BE5C32-2F91-4088-7345-754F9C21F26D}"/>
              </a:ext>
            </a:extLst>
          </p:cNvPr>
          <p:cNvSpPr txBox="1"/>
          <p:nvPr/>
        </p:nvSpPr>
        <p:spPr bwMode="auto">
          <a:xfrm>
            <a:off x="914524" y="6269773"/>
            <a:ext cx="3727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</a:t>
            </a:r>
          </a:p>
        </p:txBody>
      </p:sp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AB220-B142-E0AC-E888-D7731959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RCC11:Hybrid Robot Car Control Using IR-NRF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8CECA-081D-B6F7-2141-016F8B40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7E15E-D9C2-719E-B805-C37BE06A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706D5-1749-6929-8122-538332C29D49}"/>
              </a:ext>
            </a:extLst>
          </p:cNvPr>
          <p:cNvSpPr txBox="1"/>
          <p:nvPr/>
        </p:nvSpPr>
        <p:spPr>
          <a:xfrm>
            <a:off x="3537155" y="1568526"/>
            <a:ext cx="50734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00B0F0"/>
                </a:solidFill>
              </a:rPr>
              <a:t>IR Remote</a:t>
            </a:r>
          </a:p>
          <a:p>
            <a:r>
              <a:rPr lang="en-GB" sz="2800" b="1" dirty="0">
                <a:solidFill>
                  <a:srgbClr val="00B0F0"/>
                </a:solidFill>
              </a:rPr>
              <a:t>   ↓</a:t>
            </a:r>
          </a:p>
          <a:p>
            <a:r>
              <a:rPr lang="en-GB" sz="2800" b="1" dirty="0">
                <a:solidFill>
                  <a:srgbClr val="00B0F0"/>
                </a:solidFill>
              </a:rPr>
              <a:t>IR Receiver (TX Arduino, pin 12)</a:t>
            </a:r>
          </a:p>
          <a:p>
            <a:r>
              <a:rPr lang="en-GB" sz="2800" b="1" dirty="0">
                <a:solidFill>
                  <a:srgbClr val="00B0F0"/>
                </a:solidFill>
              </a:rPr>
              <a:t>   ↓</a:t>
            </a:r>
          </a:p>
          <a:p>
            <a:r>
              <a:rPr lang="en-GB" sz="2800" b="1" dirty="0">
                <a:solidFill>
                  <a:srgbClr val="00B0F0"/>
                </a:solidFill>
              </a:rPr>
              <a:t>NRF24L01 (TX)</a:t>
            </a:r>
          </a:p>
          <a:p>
            <a:r>
              <a:rPr lang="en-GB" sz="2800" b="1" dirty="0">
                <a:solidFill>
                  <a:srgbClr val="00B0F0"/>
                </a:solidFill>
              </a:rPr>
              <a:t>   ↓</a:t>
            </a:r>
          </a:p>
          <a:p>
            <a:r>
              <a:rPr lang="en-GB" sz="2800" b="1" dirty="0">
                <a:solidFill>
                  <a:srgbClr val="00B0F0"/>
                </a:solidFill>
              </a:rPr>
              <a:t>NRF24L01 (RX)</a:t>
            </a:r>
          </a:p>
          <a:p>
            <a:r>
              <a:rPr lang="en-GB" sz="2800" b="1" dirty="0">
                <a:solidFill>
                  <a:srgbClr val="00B0F0"/>
                </a:solidFill>
              </a:rPr>
              <a:t>   ↓</a:t>
            </a:r>
          </a:p>
          <a:p>
            <a:r>
              <a:rPr lang="en-GB" sz="2800" b="1" dirty="0">
                <a:solidFill>
                  <a:srgbClr val="00B0F0"/>
                </a:solidFill>
              </a:rPr>
              <a:t>Motor Driver → Robot Car</a:t>
            </a:r>
          </a:p>
        </p:txBody>
      </p:sp>
    </p:spTree>
    <p:extLst>
      <p:ext uri="{BB962C8B-B14F-4D97-AF65-F5344CB8AC3E}">
        <p14:creationId xmlns:p14="http://schemas.microsoft.com/office/powerpoint/2010/main" val="1765245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RCC11: IR Tx Codes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174658" y="4420312"/>
            <a:ext cx="577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>
                <a:solidFill>
                  <a:srgbClr val="FFFF00"/>
                </a:solidFill>
              </a:rPr>
              <a:t>Code for Lesson RCC11 (RCC11_a_IR_Remore_Code_Tx.ino):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262713" y="4878588"/>
            <a:ext cx="488519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FFFF00"/>
                </a:solidFill>
              </a:rPr>
              <a:t>https://github.com/info-zas/zas-robotics-car-2-communications/blob/main/01_FoundationProjects/RCC11_Hybrid_Robot_Car_IR_NRF/RCC11_a_IR_Remore_Code_Tx/RCC11_a_IR_Remore_Code_Tx.ino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F7B5C5-B30F-DD83-BC74-3F920953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024" y="3163533"/>
            <a:ext cx="558226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Each IR remote has its unique set of code for their keys.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First find the unique code for keys of your IR transmitter remote.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Upload the code (RCC11_a_IR_Remore_Code_Tx.ino ) and get the IR code for each key printed in the serial monitor.</a:t>
            </a: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9E15DA-D7FB-7C1A-0A66-7BFCB6AA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702" y="1027906"/>
            <a:ext cx="1239428" cy="2532510"/>
          </a:xfrm>
          <a:prstGeom prst="rect">
            <a:avLst/>
          </a:prstGeom>
        </p:spPr>
      </p:pic>
      <p:sp>
        <p:nvSpPr>
          <p:cNvPr id="11" name="Diamond 10">
            <a:extLst>
              <a:ext uri="{FF2B5EF4-FFF2-40B4-BE49-F238E27FC236}">
                <a16:creationId xmlns:a16="http://schemas.microsoft.com/office/drawing/2014/main" id="{780E8123-572B-AD21-04F1-AC4D33850D82}"/>
              </a:ext>
            </a:extLst>
          </p:cNvPr>
          <p:cNvSpPr/>
          <p:nvPr/>
        </p:nvSpPr>
        <p:spPr>
          <a:xfrm>
            <a:off x="5053049" y="2187743"/>
            <a:ext cx="1674734" cy="1406013"/>
          </a:xfrm>
          <a:prstGeom prst="diamond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BAA432-C1B0-6C87-63EE-04BA9EA12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351" y="1027906"/>
            <a:ext cx="5317625" cy="311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481F-6555-D05F-AEC1-E016749B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RCC11: IR Tx Codes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8DECB-0783-9477-225D-09AAB2A0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4065-F64C-DC8A-6476-19BB9539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CD7547-A86E-D225-54B6-C766031FC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8" y="1212404"/>
            <a:ext cx="4077053" cy="51439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BA8A4B-2DD0-C54D-5486-7983995A3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6955" y="1912704"/>
            <a:ext cx="1760373" cy="3596952"/>
          </a:xfrm>
          <a:prstGeom prst="rect">
            <a:avLst/>
          </a:prstGeom>
        </p:spPr>
      </p:pic>
      <p:sp>
        <p:nvSpPr>
          <p:cNvPr id="14" name="Diamond 13">
            <a:extLst>
              <a:ext uri="{FF2B5EF4-FFF2-40B4-BE49-F238E27FC236}">
                <a16:creationId xmlns:a16="http://schemas.microsoft.com/office/drawing/2014/main" id="{D4BDC424-C47C-242C-A911-B7870FB91E82}"/>
              </a:ext>
            </a:extLst>
          </p:cNvPr>
          <p:cNvSpPr/>
          <p:nvPr/>
        </p:nvSpPr>
        <p:spPr>
          <a:xfrm>
            <a:off x="9812594" y="3784377"/>
            <a:ext cx="1674734" cy="1406013"/>
          </a:xfrm>
          <a:prstGeom prst="diamond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0B1AF8-972D-5ECF-8090-574F03F9F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278" y="2522141"/>
            <a:ext cx="3734124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86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RCC11:Hybrid Robot Car Control Using IR-NRF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8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BC9F936-8B00-EC14-7FEB-44F56343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335" y="1381324"/>
            <a:ext cx="3989618" cy="5355312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setup()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Init IR receiver on pin 12</a:t>
            </a:r>
          </a:p>
          <a:p>
            <a:r>
              <a:rPr lang="en-GB" dirty="0">
                <a:solidFill>
                  <a:srgbClr val="00B0F0"/>
                </a:solidFill>
              </a:rPr>
              <a:t>Init NRF24L01 as TRANSMITTER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CE = A3, CSN = A2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Address = "00001", Channel = 108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PA Level = LOW, TX mode enabled</a:t>
            </a:r>
          </a:p>
          <a:p>
            <a:r>
              <a:rPr lang="en-GB" dirty="0">
                <a:solidFill>
                  <a:srgbClr val="00B0F0"/>
                </a:solidFill>
              </a:rPr>
              <a:t>Start Serial for debugging</a:t>
            </a:r>
          </a:p>
          <a:p>
            <a:r>
              <a:rPr lang="en-GB" b="1" dirty="0">
                <a:solidFill>
                  <a:srgbClr val="00B0F0"/>
                </a:solidFill>
              </a:rPr>
              <a:t>loop()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Wait for IR remote input</a:t>
            </a:r>
          </a:p>
          <a:p>
            <a:r>
              <a:rPr lang="en-GB" dirty="0">
                <a:solidFill>
                  <a:srgbClr val="00B0F0"/>
                </a:solidFill>
              </a:rPr>
              <a:t>Decode IR raw data</a:t>
            </a:r>
          </a:p>
          <a:p>
            <a:r>
              <a:rPr lang="en-GB" dirty="0">
                <a:solidFill>
                  <a:srgbClr val="00B0F0"/>
                </a:solidFill>
              </a:rPr>
              <a:t>Map IR codes to commands: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0xE718FF00 → F (Forward)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0xAD52FF00 → B (Backward)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0xF708FF00 → L (Left)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0xA55AFF00 → R (Right)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0xE31CFF00 → S (Stop)</a:t>
            </a:r>
          </a:p>
          <a:p>
            <a:r>
              <a:rPr lang="en-GB" dirty="0">
                <a:solidFill>
                  <a:srgbClr val="00B0F0"/>
                </a:solidFill>
              </a:rPr>
              <a:t>Send 1-byte command via NRF24L01</a:t>
            </a:r>
          </a:p>
          <a:p>
            <a:r>
              <a:rPr lang="en-GB" dirty="0">
                <a:solidFill>
                  <a:srgbClr val="00B0F0"/>
                </a:solidFill>
              </a:rPr>
              <a:t>Resume IR receiver for next input</a:t>
            </a: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688B5-11F8-78A8-B9C2-26746486310F}"/>
              </a:ext>
            </a:extLst>
          </p:cNvPr>
          <p:cNvSpPr txBox="1"/>
          <p:nvPr/>
        </p:nvSpPr>
        <p:spPr>
          <a:xfrm>
            <a:off x="7219335" y="1044976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RCC11_b_Hybrid_Robot_Car_IR_NRF_Tx.ino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2B5C408D-51FA-D248-E936-CA9DBC870C2C}"/>
              </a:ext>
            </a:extLst>
          </p:cNvPr>
          <p:cNvSpPr txBox="1"/>
          <p:nvPr/>
        </p:nvSpPr>
        <p:spPr bwMode="auto">
          <a:xfrm>
            <a:off x="277940" y="3967765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>
                <a:solidFill>
                  <a:srgbClr val="00B0F0"/>
                </a:solidFill>
              </a:rPr>
              <a:t>Code for Lesson RCC11 (</a:t>
            </a:r>
            <a:r>
              <a:rPr lang="en-GB" sz="1600" dirty="0">
                <a:solidFill>
                  <a:srgbClr val="FFFF00"/>
                </a:solidFill>
              </a:rPr>
              <a:t>RCC11_b_Hybrid_Robot_Car_IR_NRF_Tx.ino)</a:t>
            </a:r>
            <a:endParaRPr lang="en-GB" sz="1600" b="1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DFF2F7-B3C0-823E-37DA-772B7F92B1B7}"/>
              </a:ext>
            </a:extLst>
          </p:cNvPr>
          <p:cNvSpPr txBox="1"/>
          <p:nvPr/>
        </p:nvSpPr>
        <p:spPr>
          <a:xfrm>
            <a:off x="409936" y="4619461"/>
            <a:ext cx="488519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https://github.com/info-zas/zas-robotics-car-2-communications/blob/main/01_FoundationProjects/RCC11_Hybrid_Robot_Car_IR_NRF/RCC11_b_Hybrid_Robot_Car_IR_NRF_Tx/RCC11_b_Hybrid_Robot_Car_IR_NRF_Tx.ino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4C90A4-3550-68F8-3EBD-80EE7B7F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1" y="1549877"/>
            <a:ext cx="4749711" cy="20683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FF00"/>
                </a:solidFill>
              </a:rPr>
              <a:t>Now that we have the code for the arrow keys of the remote, we can use them in the code the transmitter.</a:t>
            </a: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1E8D-4B24-E427-F7C7-FD9C61983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RCC11:Hybrid Robot Car Control Using IR-NRF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AA72-4E94-7B45-8C1B-3AD1A0DD8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7361" cy="4351338"/>
          </a:xfrm>
        </p:spPr>
        <p:txBody>
          <a:bodyPr/>
          <a:lstStyle/>
          <a:p>
            <a:r>
              <a:rPr lang="en-GB" dirty="0">
                <a:solidFill>
                  <a:srgbClr val="00B0F0"/>
                </a:solidFill>
              </a:rPr>
              <a:t>Upload the receiver code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RCC11_b_Hybrid_Robot_Car_IR_NRF_Rx.ino </a:t>
            </a:r>
            <a:r>
              <a:rPr lang="en-GB" dirty="0">
                <a:solidFill>
                  <a:srgbClr val="00B0F0"/>
                </a:solidFill>
              </a:rPr>
              <a:t>in the robot car.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F7125-3C2A-43D2-BA7F-5ADC97D2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D2854-0F04-BC33-3A94-388892B1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053EE0-BCB4-6D90-AF73-54918048B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658" y="1585231"/>
            <a:ext cx="3144795" cy="4261037"/>
          </a:xfrm>
          <a:prstGeom prst="rect">
            <a:avLst/>
          </a:prstGeom>
        </p:spPr>
      </p:pic>
      <p:sp>
        <p:nvSpPr>
          <p:cNvPr id="9" name="TextBox 13">
            <a:extLst>
              <a:ext uri="{FF2B5EF4-FFF2-40B4-BE49-F238E27FC236}">
                <a16:creationId xmlns:a16="http://schemas.microsoft.com/office/drawing/2014/main" id="{8B5700F9-90A0-653F-0E04-5A0AAA26D3A3}"/>
              </a:ext>
            </a:extLst>
          </p:cNvPr>
          <p:cNvSpPr txBox="1"/>
          <p:nvPr/>
        </p:nvSpPr>
        <p:spPr bwMode="auto">
          <a:xfrm>
            <a:off x="974571" y="4001294"/>
            <a:ext cx="5771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b="1" dirty="0">
                <a:solidFill>
                  <a:srgbClr val="FFFF00"/>
                </a:solidFill>
              </a:rPr>
              <a:t>Code for RCC11_b_Hybrid_Robot_Car_IR_NRF_Rx</a:t>
            </a:r>
            <a:r>
              <a:rPr lang="en-GB" sz="1600" b="1" dirty="0">
                <a:solidFill>
                  <a:srgbClr val="FFFF00"/>
                </a:solidFill>
              </a:rPr>
              <a:t>.</a:t>
            </a:r>
            <a:r>
              <a:rPr lang="en-GB" sz="1600" b="1" dirty="0" err="1">
                <a:solidFill>
                  <a:srgbClr val="FFFF00"/>
                </a:solidFill>
              </a:rPr>
              <a:t>ino</a:t>
            </a:r>
            <a:r>
              <a:rPr lang="en-GB" sz="1600" b="1" dirty="0">
                <a:solidFill>
                  <a:srgbClr val="FFFF00"/>
                </a:solidFill>
              </a:rPr>
              <a:t>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B9EE2-9882-8DDC-0DAE-CEDC8A2E6538}"/>
              </a:ext>
            </a:extLst>
          </p:cNvPr>
          <p:cNvSpPr txBox="1"/>
          <p:nvPr/>
        </p:nvSpPr>
        <p:spPr>
          <a:xfrm>
            <a:off x="1138804" y="4461895"/>
            <a:ext cx="4885191" cy="95410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00B0F0"/>
                </a:solidFill>
              </a:rPr>
              <a:t>https://github.com/info-zas/zas-robotics-car-2-communications/blob/main/01_FoundationProjects/RCC11_Hybrid_Robot_Car_IR_NRF/RCC11_b_Hybrid_Robot_Car_IR_NRF_Rx/RCC11_b_Hybrid_Robot_Car_IR_NRF_Rx.ino</a:t>
            </a:r>
          </a:p>
        </p:txBody>
      </p:sp>
    </p:spTree>
    <p:extLst>
      <p:ext uri="{BB962C8B-B14F-4D97-AF65-F5344CB8AC3E}">
        <p14:creationId xmlns:p14="http://schemas.microsoft.com/office/powerpoint/2010/main" val="2818591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68807-C05E-6B68-0917-AD6D0156C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5A9F-5BF5-DA85-6432-309DE03E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RCC11:Hybrid Robot Car Control Using IR-NRF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1706A-976B-DFDB-94C8-CEF14B4F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5BF56-5E48-E174-4299-FD0E15B2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10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0EDE89E-D69C-0786-DCE8-AEDA6E5B9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66163"/>
            <a:ext cx="5850319" cy="5355312"/>
          </a:xfrm>
          <a:prstGeom prst="rect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00B0F0"/>
                </a:solidFill>
              </a:rPr>
              <a:t>setup()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Configure motor driver pins (IN1–IN4, ENA, ENB)</a:t>
            </a:r>
          </a:p>
          <a:p>
            <a:r>
              <a:rPr lang="en-GB" dirty="0">
                <a:solidFill>
                  <a:srgbClr val="00B0F0"/>
                </a:solidFill>
              </a:rPr>
              <a:t>Stop motors at startup</a:t>
            </a:r>
          </a:p>
          <a:p>
            <a:r>
              <a:rPr lang="en-GB" dirty="0">
                <a:solidFill>
                  <a:srgbClr val="00B0F0"/>
                </a:solidFill>
              </a:rPr>
              <a:t>Init NRF24L01 as RECEIVER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CE = A3, CSN = A2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Address = "00001", Channel = 108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PA Level = LOW, Listening mode enabled</a:t>
            </a:r>
          </a:p>
          <a:p>
            <a:r>
              <a:rPr lang="en-GB" dirty="0">
                <a:solidFill>
                  <a:srgbClr val="00B0F0"/>
                </a:solidFill>
              </a:rPr>
              <a:t>Start Serial for debugging</a:t>
            </a:r>
          </a:p>
          <a:p>
            <a:r>
              <a:rPr lang="en-GB" b="1" dirty="0">
                <a:solidFill>
                  <a:srgbClr val="00B0F0"/>
                </a:solidFill>
              </a:rPr>
              <a:t>loop()</a:t>
            </a:r>
            <a:endParaRPr lang="en-GB" dirty="0">
              <a:solidFill>
                <a:srgbClr val="00B0F0"/>
              </a:solidFill>
            </a:endParaRPr>
          </a:p>
          <a:p>
            <a:r>
              <a:rPr lang="en-GB" dirty="0">
                <a:solidFill>
                  <a:srgbClr val="00B0F0"/>
                </a:solidFill>
              </a:rPr>
              <a:t>Check for incoming NRF24L01 data</a:t>
            </a:r>
          </a:p>
          <a:p>
            <a:r>
              <a:rPr lang="en-GB" dirty="0">
                <a:solidFill>
                  <a:srgbClr val="00B0F0"/>
                </a:solidFill>
              </a:rPr>
              <a:t>Read 1-byte command from transmitter</a:t>
            </a:r>
          </a:p>
          <a:p>
            <a:r>
              <a:rPr lang="en-GB" dirty="0">
                <a:solidFill>
                  <a:srgbClr val="00B0F0"/>
                </a:solidFill>
              </a:rPr>
              <a:t>Decode command and map to motor action: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F → Forward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B → Backward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L → Left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R → Right</a:t>
            </a:r>
          </a:p>
          <a:p>
            <a:pPr lvl="1"/>
            <a:r>
              <a:rPr lang="en-GB" dirty="0">
                <a:solidFill>
                  <a:srgbClr val="00B0F0"/>
                </a:solidFill>
              </a:rPr>
              <a:t>S / other → Stop</a:t>
            </a:r>
          </a:p>
          <a:p>
            <a:r>
              <a:rPr lang="en-GB" dirty="0">
                <a:solidFill>
                  <a:srgbClr val="00B0F0"/>
                </a:solidFill>
              </a:rPr>
              <a:t>Drive motors using direction pins and PWM speed control</a:t>
            </a:r>
          </a:p>
          <a:p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15A89-4432-7515-1204-FEA5CC853B76}"/>
              </a:ext>
            </a:extLst>
          </p:cNvPr>
          <p:cNvSpPr txBox="1"/>
          <p:nvPr/>
        </p:nvSpPr>
        <p:spPr>
          <a:xfrm>
            <a:off x="7219335" y="1044976"/>
            <a:ext cx="631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RCC11_b_Hybrid_Robot_Car_IR_NRF_Rx.ino</a:t>
            </a:r>
          </a:p>
        </p:txBody>
      </p:sp>
    </p:spTree>
    <p:extLst>
      <p:ext uri="{BB962C8B-B14F-4D97-AF65-F5344CB8AC3E}">
        <p14:creationId xmlns:p14="http://schemas.microsoft.com/office/powerpoint/2010/main" val="4122828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</TotalTime>
  <Words>803</Words>
  <Application>Microsoft Office PowerPoint</Application>
  <PresentationFormat>Widescreen</PresentationFormat>
  <Paragraphs>128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Office Theme</vt:lpstr>
      <vt:lpstr>Robot Car 2 (Wireless Communication Control) (RCC)</vt:lpstr>
      <vt:lpstr>Robot Car2 - Contents</vt:lpstr>
      <vt:lpstr>Robot Car2 - Contents</vt:lpstr>
      <vt:lpstr>RCC11:Hybrid Robot Car Control Using IR-NRF</vt:lpstr>
      <vt:lpstr>RCC11:Hybrid Robot Car Control Using IR-NRF</vt:lpstr>
      <vt:lpstr> RCC11: IR Tx Codes </vt:lpstr>
      <vt:lpstr>RCC11: IR Tx Codes</vt:lpstr>
      <vt:lpstr>RCC11:Hybrid Robot Car Control Using IR-NRF</vt:lpstr>
      <vt:lpstr>RCC11:Hybrid Robot Car Control Using IR-NRF</vt:lpstr>
      <vt:lpstr>RCC11:Hybrid Robot Car Control Using IR-NRF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42</cp:revision>
  <dcterms:created xsi:type="dcterms:W3CDTF">2025-11-29T15:09:33Z</dcterms:created>
  <dcterms:modified xsi:type="dcterms:W3CDTF">2026-01-17T13:42:16Z</dcterms:modified>
</cp:coreProperties>
</file>