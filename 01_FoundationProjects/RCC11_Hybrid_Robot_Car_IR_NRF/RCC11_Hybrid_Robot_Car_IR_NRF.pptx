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2"/>
  </p:notesMasterIdLst>
  <p:sldIdLst>
    <p:sldId id="256" r:id="rId2"/>
    <p:sldId id="288" r:id="rId3"/>
    <p:sldId id="287" r:id="rId4"/>
    <p:sldId id="285" r:id="rId5"/>
    <p:sldId id="302" r:id="rId6"/>
    <p:sldId id="293" r:id="rId7"/>
    <p:sldId id="295" r:id="rId8"/>
    <p:sldId id="294" r:id="rId9"/>
    <p:sldId id="300" r:id="rId10"/>
    <p:sldId id="30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72" y="2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311A46-23A7-4CAD-863D-6397CDAD4FD2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670DA3-5A45-4EA5-8847-63371DDB5DF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348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70F2F-948D-0F65-D7F3-7FB555F3D5ED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190837" name="Slide Image Placeholder 1">
            <a:extLst>
              <a:ext uri="{FF2B5EF4-FFF2-40B4-BE49-F238E27FC236}">
                <a16:creationId xmlns:a16="http://schemas.microsoft.com/office/drawing/2014/main" id="{235F5BF2-276A-1551-56CD-05B6B026F6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7197958" name="Notes Placeholder 2">
            <a:extLst>
              <a:ext uri="{FF2B5EF4-FFF2-40B4-BE49-F238E27FC236}">
                <a16:creationId xmlns:a16="http://schemas.microsoft.com/office/drawing/2014/main" id="{73AD26D3-6C00-C653-941B-133C8572E5D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dirty="0"/>
          </a:p>
        </p:txBody>
      </p:sp>
      <p:sp>
        <p:nvSpPr>
          <p:cNvPr id="1903380102" name="Slide Number Placeholder 3">
            <a:extLst>
              <a:ext uri="{FF2B5EF4-FFF2-40B4-BE49-F238E27FC236}">
                <a16:creationId xmlns:a16="http://schemas.microsoft.com/office/drawing/2014/main" id="{FC2F83E7-A1B5-B8A5-CC11-DC5606E3B1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13F677-0E1E-6F44-539B-EB19BF5D0C37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98279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BBF9D-AC79-EB5E-03FC-7600DE12BF3F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190837" name="Slide Image Placeholder 1">
            <a:extLst>
              <a:ext uri="{FF2B5EF4-FFF2-40B4-BE49-F238E27FC236}">
                <a16:creationId xmlns:a16="http://schemas.microsoft.com/office/drawing/2014/main" id="{F123119F-6F80-FAA9-0FF2-519BECAE1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7197958" name="Notes Placeholder 2">
            <a:extLst>
              <a:ext uri="{FF2B5EF4-FFF2-40B4-BE49-F238E27FC236}">
                <a16:creationId xmlns:a16="http://schemas.microsoft.com/office/drawing/2014/main" id="{E3633158-1406-4F6D-6B94-0B14E809126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3380102" name="Slide Number Placeholder 3">
            <a:extLst>
              <a:ext uri="{FF2B5EF4-FFF2-40B4-BE49-F238E27FC236}">
                <a16:creationId xmlns:a16="http://schemas.microsoft.com/office/drawing/2014/main" id="{EC6610E5-8732-05EC-EC87-837A91D001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13F677-0E1E-6F44-539B-EB19BF5D0C37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282464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794838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2483304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11525440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6053156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949511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1532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0397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8707084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4743855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9802565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462125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5929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6211022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2424059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9793119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6269882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9607471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524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740424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17503605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916362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4736899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204065613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982523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538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1514298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91458903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4470520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9699724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0884537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30990823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8900540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4712903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8736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63497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524438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30626398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9740740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3065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6579953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4455944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47525140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6280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45634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78213484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59144381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9228149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93017809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7449028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4659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356624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04524932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121280469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7994615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6458623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9130058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44070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906515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2907246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3094417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3585041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14016785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146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455797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8165240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84708329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21806836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2737700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52551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4501114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7414217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59321905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28789083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40911774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3361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/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7" Type="http://schemas.openxmlformats.org/officeDocument/2006/relationships/image" Target="../media/image2.jp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Relationship Id="rId5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0772" y="665163"/>
            <a:ext cx="11434917" cy="2387600"/>
          </a:xfrm>
        </p:spPr>
        <p:txBody>
          <a:bodyPr>
            <a:normAutofit/>
          </a:bodyPr>
          <a:lstStyle/>
          <a:p>
            <a:r>
              <a:rPr lang="en-GB" sz="3600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Robot Car 2 (Wireless Communication Control) (RCC)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93059" y="3602038"/>
            <a:ext cx="10264876" cy="1655762"/>
          </a:xfrm>
        </p:spPr>
        <p:txBody>
          <a:bodyPr>
            <a:normAutofit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(Lesson Ref</a:t>
            </a:r>
            <a:r>
              <a:rPr lang="en-GB" sz="3600" b="1">
                <a:solidFill>
                  <a:srgbClr val="00B0F0"/>
                </a:solidFill>
              </a:rPr>
              <a:t>: RCC11</a:t>
            </a:r>
            <a:r>
              <a:rPr lang="en-GB" sz="3600" b="1" dirty="0">
                <a:solidFill>
                  <a:srgbClr val="00B0F0"/>
                </a:solidFill>
              </a:rPr>
              <a:t>)</a:t>
            </a:r>
          </a:p>
          <a:p>
            <a:r>
              <a:rPr lang="en-US" sz="3600" b="1" dirty="0">
                <a:solidFill>
                  <a:srgbClr val="7030A0"/>
                </a:solidFill>
              </a:rPr>
              <a:t>RCC11:Hybrid Robot Car Control Using IR-NRF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0F8A61-A0DD-1E95-4A27-EF5FD8DC6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December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D94DA-C92E-EFF6-9BB4-6FD6B1B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1F5A6A5-3841-4FBA-B455-67883EB3171A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8E9294-41F4-4FD5-344C-22E11DE3E5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3716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8BC6EF-45AC-6917-4732-1E59B98BBE25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D2E409F7-33F3-22DC-3ABC-779DEEDEECA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0237" y="1081554"/>
            <a:ext cx="3802472" cy="4860405"/>
          </a:xfrm>
          <a:prstGeom prst="rect">
            <a:avLst/>
          </a:prstGeom>
        </p:spPr>
      </p:pic>
      <p:pic>
        <p:nvPicPr>
          <p:cNvPr id="1142226202" name="Picture 1">
            <a:extLst>
              <a:ext uri="{FF2B5EF4-FFF2-40B4-BE49-F238E27FC236}">
                <a16:creationId xmlns:a16="http://schemas.microsoft.com/office/drawing/2014/main" id="{4DAD051F-4F75-DE05-99D8-8D674A2615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81E3F63-77A8-B54E-03A9-FDBCC9EBC5F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834" y="934063"/>
            <a:ext cx="4573176" cy="53536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ACF517-2C2F-9A6C-611F-FCF9BBC1DA81}"/>
              </a:ext>
            </a:extLst>
          </p:cNvPr>
          <p:cNvSpPr txBox="1"/>
          <p:nvPr/>
        </p:nvSpPr>
        <p:spPr bwMode="auto">
          <a:xfrm>
            <a:off x="914524" y="6269773"/>
            <a:ext cx="47115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Transmitter Module (Front)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ADD1F7-802D-86E3-1CB7-4B66F2FEB48F}"/>
              </a:ext>
            </a:extLst>
          </p:cNvPr>
          <p:cNvSpPr txBox="1"/>
          <p:nvPr/>
        </p:nvSpPr>
        <p:spPr bwMode="auto">
          <a:xfrm>
            <a:off x="6801834" y="6396335"/>
            <a:ext cx="46634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Transmitter Module (Back)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A210ECC-D6E1-28FC-2135-CB51EE1F8A7D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884" y="9011"/>
            <a:ext cx="10515600" cy="10635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Robot Car2 - Contents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5A66DAC-1F37-ADFD-613D-5FAD1CA9D103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98362" y="1737072"/>
            <a:ext cx="585278" cy="316064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4026DC8-31C5-9852-EB53-CFFF24E87FFA}"/>
              </a:ext>
            </a:extLst>
          </p:cNvPr>
          <p:cNvSpPr txBox="1"/>
          <p:nvPr/>
        </p:nvSpPr>
        <p:spPr bwMode="auto">
          <a:xfrm>
            <a:off x="109752" y="116065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Bluetooth Connector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C59D367-9784-AACF-DFE7-E77FBE98184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927598" y="3304995"/>
            <a:ext cx="585278" cy="316064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D7B8F10-1599-269F-23E5-7EC2D655586E}"/>
              </a:ext>
            </a:extLst>
          </p:cNvPr>
          <p:cNvSpPr txBox="1"/>
          <p:nvPr/>
        </p:nvSpPr>
        <p:spPr bwMode="auto">
          <a:xfrm>
            <a:off x="109752" y="2716673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Free Connector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5D9461-44A0-B01C-A926-630988EFB673}"/>
              </a:ext>
            </a:extLst>
          </p:cNvPr>
          <p:cNvSpPr txBox="1"/>
          <p:nvPr/>
        </p:nvSpPr>
        <p:spPr>
          <a:xfrm rot="21272357">
            <a:off x="1483504" y="3357724"/>
            <a:ext cx="474294" cy="756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92E881D-EC1E-9C30-1444-AC91365270AB}"/>
              </a:ext>
            </a:extLst>
          </p:cNvPr>
          <p:cNvCxnSpPr>
            <a:cxnSpLocks/>
          </p:cNvCxnSpPr>
          <p:nvPr/>
        </p:nvCxnSpPr>
        <p:spPr bwMode="auto">
          <a:xfrm flipH="1">
            <a:off x="1091001" y="4529329"/>
            <a:ext cx="546986" cy="258055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C6BBF06-35DA-DE62-B39A-D4D859A62A45}"/>
              </a:ext>
            </a:extLst>
          </p:cNvPr>
          <p:cNvSpPr txBox="1"/>
          <p:nvPr/>
        </p:nvSpPr>
        <p:spPr bwMode="auto">
          <a:xfrm>
            <a:off x="184397" y="4354723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Colour Sensor Connector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4E2C38A-3848-C212-1836-6988B7ECD5B8}"/>
              </a:ext>
            </a:extLst>
          </p:cNvPr>
          <p:cNvCxnSpPr>
            <a:cxnSpLocks/>
          </p:cNvCxnSpPr>
          <p:nvPr/>
        </p:nvCxnSpPr>
        <p:spPr bwMode="auto">
          <a:xfrm>
            <a:off x="2097000" y="4921737"/>
            <a:ext cx="134738" cy="42701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4E5A266-34C6-5AAB-CD14-F9738AB16436}"/>
              </a:ext>
            </a:extLst>
          </p:cNvPr>
          <p:cNvCxnSpPr>
            <a:cxnSpLocks/>
          </p:cNvCxnSpPr>
          <p:nvPr/>
        </p:nvCxnSpPr>
        <p:spPr bwMode="auto">
          <a:xfrm flipH="1">
            <a:off x="2652677" y="4839340"/>
            <a:ext cx="199148" cy="50940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6F688F5-2E06-717B-BC97-DCA20E433A80}"/>
              </a:ext>
            </a:extLst>
          </p:cNvPr>
          <p:cNvSpPr txBox="1"/>
          <p:nvPr/>
        </p:nvSpPr>
        <p:spPr bwMode="auto">
          <a:xfrm>
            <a:off x="2006419" y="5343537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Gesture Sensor Connector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D3A0FF2-2A86-22A1-2C28-E1B63CB6D7AF}"/>
              </a:ext>
            </a:extLst>
          </p:cNvPr>
          <p:cNvCxnSpPr>
            <a:cxnSpLocks/>
          </p:cNvCxnSpPr>
          <p:nvPr/>
        </p:nvCxnSpPr>
        <p:spPr bwMode="auto">
          <a:xfrm>
            <a:off x="3313916" y="5069168"/>
            <a:ext cx="555315" cy="383967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BBFC1EE-B7FA-CA95-9F22-FAC3A8B420BE}"/>
              </a:ext>
            </a:extLst>
          </p:cNvPr>
          <p:cNvSpPr txBox="1"/>
          <p:nvPr/>
        </p:nvSpPr>
        <p:spPr bwMode="auto">
          <a:xfrm>
            <a:off x="3612555" y="5450748"/>
            <a:ext cx="143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NRF 24L01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Transmitter</a:t>
            </a:r>
          </a:p>
        </p:txBody>
      </p:sp>
      <p:sp>
        <p:nvSpPr>
          <p:cNvPr id="33" name="Diamond 32">
            <a:extLst>
              <a:ext uri="{FF2B5EF4-FFF2-40B4-BE49-F238E27FC236}">
                <a16:creationId xmlns:a16="http://schemas.microsoft.com/office/drawing/2014/main" id="{72742C30-8228-BEAF-D3F8-5A042B5E12EC}"/>
              </a:ext>
            </a:extLst>
          </p:cNvPr>
          <p:cNvSpPr/>
          <p:nvPr/>
        </p:nvSpPr>
        <p:spPr>
          <a:xfrm rot="21395035">
            <a:off x="2177630" y="1529511"/>
            <a:ext cx="1188152" cy="1213287"/>
          </a:xfrm>
          <a:prstGeom prst="diamond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A58B798-285E-30AA-71B8-5A0329496F73}"/>
              </a:ext>
            </a:extLst>
          </p:cNvPr>
          <p:cNvCxnSpPr/>
          <p:nvPr/>
        </p:nvCxnSpPr>
        <p:spPr bwMode="auto">
          <a:xfrm>
            <a:off x="3106994" y="3621059"/>
            <a:ext cx="1915715" cy="130067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EE6A585-737A-0D05-6052-1001EBC5AAB2}"/>
              </a:ext>
            </a:extLst>
          </p:cNvPr>
          <p:cNvSpPr txBox="1"/>
          <p:nvPr/>
        </p:nvSpPr>
        <p:spPr bwMode="auto">
          <a:xfrm>
            <a:off x="4682164" y="4863077"/>
            <a:ext cx="1217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Joystick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E26D650-1B29-5CFF-8148-0113D0EDD31F}"/>
              </a:ext>
            </a:extLst>
          </p:cNvPr>
          <p:cNvCxnSpPr>
            <a:cxnSpLocks/>
          </p:cNvCxnSpPr>
          <p:nvPr/>
        </p:nvCxnSpPr>
        <p:spPr bwMode="auto">
          <a:xfrm>
            <a:off x="3869231" y="3716878"/>
            <a:ext cx="1305878" cy="82631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A019031-22C3-4624-8604-863F0144F71D}"/>
              </a:ext>
            </a:extLst>
          </p:cNvPr>
          <p:cNvSpPr txBox="1"/>
          <p:nvPr/>
        </p:nvSpPr>
        <p:spPr bwMode="auto">
          <a:xfrm>
            <a:off x="4993718" y="4098367"/>
            <a:ext cx="1785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Accelerometer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3C9C289-C0C7-19E0-BBB9-B4753BA1B359}"/>
              </a:ext>
            </a:extLst>
          </p:cNvPr>
          <p:cNvCxnSpPr>
            <a:cxnSpLocks/>
          </p:cNvCxnSpPr>
          <p:nvPr/>
        </p:nvCxnSpPr>
        <p:spPr bwMode="auto">
          <a:xfrm flipV="1">
            <a:off x="4138706" y="1694989"/>
            <a:ext cx="112062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E0F26A6-92A1-6A22-4545-B0A33BB0266F}"/>
              </a:ext>
            </a:extLst>
          </p:cNvPr>
          <p:cNvSpPr txBox="1"/>
          <p:nvPr/>
        </p:nvSpPr>
        <p:spPr bwMode="auto">
          <a:xfrm>
            <a:off x="5022709" y="1346416"/>
            <a:ext cx="1217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OLED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2D76E91-7FAE-B771-A34F-256E269381D6}"/>
              </a:ext>
            </a:extLst>
          </p:cNvPr>
          <p:cNvCxnSpPr>
            <a:cxnSpLocks/>
          </p:cNvCxnSpPr>
          <p:nvPr/>
        </p:nvCxnSpPr>
        <p:spPr bwMode="auto">
          <a:xfrm flipH="1">
            <a:off x="1279620" y="4270348"/>
            <a:ext cx="999512" cy="137453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E69107C6-1C56-1C2A-C8E9-650FB8D6668A}"/>
              </a:ext>
            </a:extLst>
          </p:cNvPr>
          <p:cNvSpPr txBox="1"/>
          <p:nvPr/>
        </p:nvSpPr>
        <p:spPr bwMode="auto">
          <a:xfrm>
            <a:off x="516885" y="538363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Mode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Button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B2D8218-DF3F-25E6-234A-2AA0A37FD149}"/>
              </a:ext>
            </a:extLst>
          </p:cNvPr>
          <p:cNvSpPr txBox="1"/>
          <p:nvPr/>
        </p:nvSpPr>
        <p:spPr bwMode="auto">
          <a:xfrm rot="21342939">
            <a:off x="1962355" y="2747616"/>
            <a:ext cx="474294" cy="756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FF45831-2AAB-3EE3-18E1-2315FFCCE607}"/>
              </a:ext>
            </a:extLst>
          </p:cNvPr>
          <p:cNvCxnSpPr>
            <a:cxnSpLocks/>
          </p:cNvCxnSpPr>
          <p:nvPr/>
        </p:nvCxnSpPr>
        <p:spPr bwMode="auto">
          <a:xfrm flipV="1">
            <a:off x="2264319" y="2716673"/>
            <a:ext cx="2376163" cy="2803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B971BB06-04F7-CCAD-5BAC-2B87E582F882}"/>
              </a:ext>
            </a:extLst>
          </p:cNvPr>
          <p:cNvSpPr txBox="1"/>
          <p:nvPr/>
        </p:nvSpPr>
        <p:spPr bwMode="auto">
          <a:xfrm>
            <a:off x="4581605" y="2453954"/>
            <a:ext cx="1551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Mini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Breadboard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74562B1-2966-00D4-7F58-07E7AE3870AA}"/>
              </a:ext>
            </a:extLst>
          </p:cNvPr>
          <p:cNvCxnSpPr>
            <a:cxnSpLocks/>
          </p:cNvCxnSpPr>
          <p:nvPr/>
        </p:nvCxnSpPr>
        <p:spPr bwMode="auto">
          <a:xfrm flipV="1">
            <a:off x="9851137" y="2546319"/>
            <a:ext cx="78736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31AB61A-55EA-B316-64B9-C2B489F61A5E}"/>
              </a:ext>
            </a:extLst>
          </p:cNvPr>
          <p:cNvSpPr txBox="1"/>
          <p:nvPr/>
        </p:nvSpPr>
        <p:spPr bwMode="auto">
          <a:xfrm>
            <a:off x="10411450" y="1899988"/>
            <a:ext cx="12173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Arduino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Uno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42CFDBE-B119-D54E-77BD-E7263F90D98B}"/>
              </a:ext>
            </a:extLst>
          </p:cNvPr>
          <p:cNvCxnSpPr>
            <a:cxnSpLocks/>
          </p:cNvCxnSpPr>
          <p:nvPr/>
        </p:nvCxnSpPr>
        <p:spPr bwMode="auto">
          <a:xfrm flipV="1">
            <a:off x="9896434" y="4505045"/>
            <a:ext cx="78736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218E4578-BDDF-18A1-FC38-74107E7D9E32}"/>
              </a:ext>
            </a:extLst>
          </p:cNvPr>
          <p:cNvSpPr txBox="1"/>
          <p:nvPr/>
        </p:nvSpPr>
        <p:spPr bwMode="auto">
          <a:xfrm>
            <a:off x="10526484" y="4170714"/>
            <a:ext cx="11148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18650 Battery Holder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72C2589-87C7-BCD4-53B8-1F4D4FDB4D92}"/>
              </a:ext>
            </a:extLst>
          </p:cNvPr>
          <p:cNvCxnSpPr>
            <a:cxnSpLocks/>
          </p:cNvCxnSpPr>
          <p:nvPr/>
        </p:nvCxnSpPr>
        <p:spPr bwMode="auto">
          <a:xfrm flipV="1">
            <a:off x="2945240" y="1245237"/>
            <a:ext cx="507160" cy="58032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31B1F275-3BDA-A5AF-34FA-312B9A27DBF4}"/>
              </a:ext>
            </a:extLst>
          </p:cNvPr>
          <p:cNvSpPr txBox="1"/>
          <p:nvPr/>
        </p:nvSpPr>
        <p:spPr bwMode="auto">
          <a:xfrm>
            <a:off x="2865774" y="1024814"/>
            <a:ext cx="1843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Button Control</a:t>
            </a:r>
          </a:p>
        </p:txBody>
      </p:sp>
      <p:sp>
        <p:nvSpPr>
          <p:cNvPr id="59" name="Date Placeholder 58">
            <a:extLst>
              <a:ext uri="{FF2B5EF4-FFF2-40B4-BE49-F238E27FC236}">
                <a16:creationId xmlns:a16="http://schemas.microsoft.com/office/drawing/2014/main" id="{9D64FE2E-669A-76E1-4053-90C2C01E9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07/12/2025</a:t>
            </a:r>
          </a:p>
        </p:txBody>
      </p:sp>
      <p:sp>
        <p:nvSpPr>
          <p:cNvPr id="60" name="Slide Number Placeholder 59">
            <a:extLst>
              <a:ext uri="{FF2B5EF4-FFF2-40B4-BE49-F238E27FC236}">
                <a16:creationId xmlns:a16="http://schemas.microsoft.com/office/drawing/2014/main" id="{AAC12BB4-12AF-FD4C-AA80-7759419FA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A24EA-A87A-4979-940E-A83EA2C27DA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70701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6B9BF-6D74-443A-76C3-97EF3DAA6548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E8E0F4B-72B0-86C1-3711-2350992EA9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569262" y="954394"/>
            <a:ext cx="3603795" cy="4949212"/>
          </a:xfrm>
          <a:prstGeom prst="rect">
            <a:avLst/>
          </a:prstGeom>
        </p:spPr>
      </p:pic>
      <p:pic>
        <p:nvPicPr>
          <p:cNvPr id="1142226202" name="Picture 1">
            <a:extLst>
              <a:ext uri="{FF2B5EF4-FFF2-40B4-BE49-F238E27FC236}">
                <a16:creationId xmlns:a16="http://schemas.microsoft.com/office/drawing/2014/main" id="{1379F331-285B-3D09-F3A6-AD413147F8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72A9224-77D5-CBC2-A311-9F1AFE07112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8973" y="1203334"/>
            <a:ext cx="3442943" cy="5113889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5A342A23-27E6-A20A-F532-4A4707E1C61B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884" y="9011"/>
            <a:ext cx="10515600" cy="10635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Robot Car2 - Contents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B3964B-7F89-F1F5-5112-002C61B7E0B4}"/>
              </a:ext>
            </a:extLst>
          </p:cNvPr>
          <p:cNvSpPr txBox="1"/>
          <p:nvPr/>
        </p:nvSpPr>
        <p:spPr>
          <a:xfrm>
            <a:off x="1075116" y="6267235"/>
            <a:ext cx="4302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 (Front)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6517AF-8466-2862-14B7-C494B9B26549}"/>
              </a:ext>
            </a:extLst>
          </p:cNvPr>
          <p:cNvSpPr txBox="1"/>
          <p:nvPr/>
        </p:nvSpPr>
        <p:spPr bwMode="auto">
          <a:xfrm>
            <a:off x="6949053" y="6387324"/>
            <a:ext cx="42546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 (Back)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5F2FE22-E290-CF4E-2E75-96848852FB45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229032" y="2438400"/>
            <a:ext cx="1087911" cy="22380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195681-737C-1D0A-B09C-28835A4E828E}"/>
              </a:ext>
            </a:extLst>
          </p:cNvPr>
          <p:cNvSpPr txBox="1"/>
          <p:nvPr/>
        </p:nvSpPr>
        <p:spPr bwMode="auto">
          <a:xfrm>
            <a:off x="276745" y="1757445"/>
            <a:ext cx="12925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Car2 Receiver Motor Controller Board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31182C0-D51E-8556-950F-BED6EA293860}"/>
              </a:ext>
            </a:extLst>
          </p:cNvPr>
          <p:cNvCxnSpPr>
            <a:cxnSpLocks/>
          </p:cNvCxnSpPr>
          <p:nvPr/>
        </p:nvCxnSpPr>
        <p:spPr bwMode="auto">
          <a:xfrm flipH="1">
            <a:off x="973394" y="3500284"/>
            <a:ext cx="953729" cy="411606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EB3B5DA-94B7-E61C-D678-34BD4DC3C792}"/>
              </a:ext>
            </a:extLst>
          </p:cNvPr>
          <p:cNvSpPr txBox="1"/>
          <p:nvPr/>
        </p:nvSpPr>
        <p:spPr bwMode="auto">
          <a:xfrm>
            <a:off x="10884" y="355468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NRF 24L01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Receiver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CEC1F70-538E-36EA-5D0F-07649A3D67C8}"/>
              </a:ext>
            </a:extLst>
          </p:cNvPr>
          <p:cNvCxnSpPr>
            <a:cxnSpLocks/>
          </p:cNvCxnSpPr>
          <p:nvPr/>
        </p:nvCxnSpPr>
        <p:spPr bwMode="auto">
          <a:xfrm flipH="1">
            <a:off x="1075116" y="3466459"/>
            <a:ext cx="1874790" cy="119403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2B8E257-5297-8BD3-037D-98E80AA0BD31}"/>
              </a:ext>
            </a:extLst>
          </p:cNvPr>
          <p:cNvSpPr txBox="1"/>
          <p:nvPr/>
        </p:nvSpPr>
        <p:spPr bwMode="auto">
          <a:xfrm>
            <a:off x="428858" y="4379981"/>
            <a:ext cx="1292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OLED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C54A943-A44B-8A5C-7D70-BCEF3A030FA3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835122" y="1643571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DF6FFB5-B40E-36A7-575E-706B204EF2C2}"/>
              </a:ext>
            </a:extLst>
          </p:cNvPr>
          <p:cNvSpPr txBox="1"/>
          <p:nvPr/>
        </p:nvSpPr>
        <p:spPr bwMode="auto">
          <a:xfrm>
            <a:off x="878758" y="1030269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TB6612 Motor Driver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138ACD1-83B5-5997-A429-C9DC38E40665}"/>
              </a:ext>
            </a:extLst>
          </p:cNvPr>
          <p:cNvCxnSpPr>
            <a:cxnSpLocks/>
          </p:cNvCxnSpPr>
          <p:nvPr/>
        </p:nvCxnSpPr>
        <p:spPr bwMode="auto">
          <a:xfrm flipH="1">
            <a:off x="1229032" y="4177401"/>
            <a:ext cx="2289387" cy="103702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CD26D10-D327-58D5-CEA3-FC0707FFB6C5}"/>
              </a:ext>
            </a:extLst>
          </p:cNvPr>
          <p:cNvSpPr txBox="1"/>
          <p:nvPr/>
        </p:nvSpPr>
        <p:spPr bwMode="auto">
          <a:xfrm>
            <a:off x="282677" y="5082624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Battery Connector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542FD16-7E2A-2225-B895-C355D3465132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174133" y="3004071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B1D721E-809D-8FAC-B261-DA2EE039B2C7}"/>
              </a:ext>
            </a:extLst>
          </p:cNvPr>
          <p:cNvSpPr txBox="1"/>
          <p:nvPr/>
        </p:nvSpPr>
        <p:spPr bwMode="auto">
          <a:xfrm>
            <a:off x="5984037" y="2700392"/>
            <a:ext cx="11148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18650 Battery Holder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9DCFD46-F509-18D2-24DA-483311176CE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562507" y="1452806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C31F39A-5CC7-D962-B249-E11D85D31554}"/>
              </a:ext>
            </a:extLst>
          </p:cNvPr>
          <p:cNvSpPr txBox="1"/>
          <p:nvPr/>
        </p:nvSpPr>
        <p:spPr bwMode="auto">
          <a:xfrm>
            <a:off x="6616706" y="996758"/>
            <a:ext cx="11148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Castor Wheel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C478D83-2B59-8FED-A1BC-B65C1B5034DD}"/>
              </a:ext>
            </a:extLst>
          </p:cNvPr>
          <p:cNvCxnSpPr>
            <a:cxnSpLocks/>
          </p:cNvCxnSpPr>
          <p:nvPr/>
        </p:nvCxnSpPr>
        <p:spPr bwMode="auto">
          <a:xfrm>
            <a:off x="8454088" y="4984084"/>
            <a:ext cx="335951" cy="919523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3182FB5-8310-F044-0DFA-CF12222DE065}"/>
              </a:ext>
            </a:extLst>
          </p:cNvPr>
          <p:cNvCxnSpPr>
            <a:cxnSpLocks/>
          </p:cNvCxnSpPr>
          <p:nvPr/>
        </p:nvCxnSpPr>
        <p:spPr bwMode="auto">
          <a:xfrm flipH="1">
            <a:off x="9409471" y="4946027"/>
            <a:ext cx="228531" cy="87075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092F50C-D9EF-8FAC-1427-D796DD473A09}"/>
              </a:ext>
            </a:extLst>
          </p:cNvPr>
          <p:cNvSpPr txBox="1"/>
          <p:nvPr/>
        </p:nvSpPr>
        <p:spPr bwMode="auto">
          <a:xfrm>
            <a:off x="8852044" y="5670892"/>
            <a:ext cx="11148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DC Motors</a:t>
            </a:r>
          </a:p>
        </p:txBody>
      </p:sp>
      <p:sp>
        <p:nvSpPr>
          <p:cNvPr id="38" name="Date Placeholder 37">
            <a:extLst>
              <a:ext uri="{FF2B5EF4-FFF2-40B4-BE49-F238E27FC236}">
                <a16:creationId xmlns:a16="http://schemas.microsoft.com/office/drawing/2014/main" id="{0786DD4E-7012-E016-EA6F-AFE68A78C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07/12/2025</a:t>
            </a:r>
          </a:p>
        </p:txBody>
      </p:sp>
      <p:sp>
        <p:nvSpPr>
          <p:cNvPr id="39" name="Slide Number Placeholder 38">
            <a:extLst>
              <a:ext uri="{FF2B5EF4-FFF2-40B4-BE49-F238E27FC236}">
                <a16:creationId xmlns:a16="http://schemas.microsoft.com/office/drawing/2014/main" id="{45A4BF8A-0E40-3C36-302B-967A06E2E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A24EA-A87A-4979-940E-A83EA2C27DA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558608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6C33D-63F9-8BC0-F034-22093DC53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11813" cy="1325563"/>
          </a:xfrm>
        </p:spPr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RCC11:Hybrid Robot Car Control Using IR-NRF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1FFF72-0FE1-6758-8847-CF72C0C02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Things Needed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F22F15-E288-B9C4-18BC-19003B39E31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0800000">
            <a:off x="8780836" y="2272834"/>
            <a:ext cx="2842812" cy="390412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47A0B6F-96E7-A7CE-D79C-06C7B54AEA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8486" y="1324966"/>
            <a:ext cx="1795010" cy="15740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14B8BB-C66F-04C6-A294-DB2D1F68FF74}"/>
              </a:ext>
            </a:extLst>
          </p:cNvPr>
          <p:cNvSpPr txBox="1"/>
          <p:nvPr/>
        </p:nvSpPr>
        <p:spPr bwMode="auto">
          <a:xfrm>
            <a:off x="7017811" y="6354223"/>
            <a:ext cx="3318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6FE7193-F8B2-0FDD-820C-807311B60C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06" y="2580767"/>
            <a:ext cx="1040091" cy="142052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4CD3800-B810-BB34-9F75-DECDFF988E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141" y="4142693"/>
            <a:ext cx="2765538" cy="244236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6182C70-479F-7890-E5CF-3D451648538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6200000">
            <a:off x="2686372" y="1845524"/>
            <a:ext cx="3802472" cy="48604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2BE5C32-2F91-4088-7345-754F9C21F26D}"/>
              </a:ext>
            </a:extLst>
          </p:cNvPr>
          <p:cNvSpPr txBox="1"/>
          <p:nvPr/>
        </p:nvSpPr>
        <p:spPr bwMode="auto">
          <a:xfrm>
            <a:off x="914524" y="6269773"/>
            <a:ext cx="37273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Transmitter Module</a:t>
            </a:r>
          </a:p>
        </p:txBody>
      </p:sp>
    </p:spTree>
    <p:extLst>
      <p:ext uri="{BB962C8B-B14F-4D97-AF65-F5344CB8AC3E}">
        <p14:creationId xmlns:p14="http://schemas.microsoft.com/office/powerpoint/2010/main" val="8849045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AB220-B142-E0AC-E888-D7731959E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RCC11:Hybrid Robot Car Control Using IR-NRF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98CECA-081D-B6F7-2141-016F8B402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47E15E-D9C2-719E-B805-C37BE06A3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5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2706D5-1749-6929-8122-538332C29D49}"/>
              </a:ext>
            </a:extLst>
          </p:cNvPr>
          <p:cNvSpPr txBox="1"/>
          <p:nvPr/>
        </p:nvSpPr>
        <p:spPr>
          <a:xfrm>
            <a:off x="3537155" y="1568526"/>
            <a:ext cx="5073445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>
                <a:solidFill>
                  <a:srgbClr val="00B0F0"/>
                </a:solidFill>
              </a:rPr>
              <a:t>IR Remote</a:t>
            </a:r>
          </a:p>
          <a:p>
            <a:r>
              <a:rPr lang="en-GB" sz="2800" b="1" dirty="0">
                <a:solidFill>
                  <a:srgbClr val="00B0F0"/>
                </a:solidFill>
              </a:rPr>
              <a:t>   ↓</a:t>
            </a:r>
          </a:p>
          <a:p>
            <a:r>
              <a:rPr lang="en-GB" sz="2800" b="1" dirty="0">
                <a:solidFill>
                  <a:srgbClr val="00B0F0"/>
                </a:solidFill>
              </a:rPr>
              <a:t>IR Receiver (TX Arduino, pin 12)</a:t>
            </a:r>
          </a:p>
          <a:p>
            <a:r>
              <a:rPr lang="en-GB" sz="2800" b="1" dirty="0">
                <a:solidFill>
                  <a:srgbClr val="00B0F0"/>
                </a:solidFill>
              </a:rPr>
              <a:t>   ↓</a:t>
            </a:r>
          </a:p>
          <a:p>
            <a:r>
              <a:rPr lang="en-GB" sz="2800" b="1" dirty="0">
                <a:solidFill>
                  <a:srgbClr val="00B0F0"/>
                </a:solidFill>
              </a:rPr>
              <a:t>NRF24L01 (TX)</a:t>
            </a:r>
          </a:p>
          <a:p>
            <a:r>
              <a:rPr lang="en-GB" sz="2800" b="1" dirty="0">
                <a:solidFill>
                  <a:srgbClr val="00B0F0"/>
                </a:solidFill>
              </a:rPr>
              <a:t>   ↓</a:t>
            </a:r>
          </a:p>
          <a:p>
            <a:r>
              <a:rPr lang="en-GB" sz="2800" b="1" dirty="0">
                <a:solidFill>
                  <a:srgbClr val="00B0F0"/>
                </a:solidFill>
              </a:rPr>
              <a:t>NRF24L01 (RX)</a:t>
            </a:r>
          </a:p>
          <a:p>
            <a:r>
              <a:rPr lang="en-GB" sz="2800" b="1" dirty="0">
                <a:solidFill>
                  <a:srgbClr val="00B0F0"/>
                </a:solidFill>
              </a:rPr>
              <a:t>   ↓</a:t>
            </a:r>
          </a:p>
          <a:p>
            <a:r>
              <a:rPr lang="en-GB" sz="2800" b="1" dirty="0">
                <a:solidFill>
                  <a:srgbClr val="00B0F0"/>
                </a:solidFill>
              </a:rPr>
              <a:t>Motor Driver → Robot Car</a:t>
            </a:r>
          </a:p>
        </p:txBody>
      </p:sp>
    </p:spTree>
    <p:extLst>
      <p:ext uri="{BB962C8B-B14F-4D97-AF65-F5344CB8AC3E}">
        <p14:creationId xmlns:p14="http://schemas.microsoft.com/office/powerpoint/2010/main" val="17652459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CCC37-3ADD-4CF2-11EF-905B22CB1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b="1" dirty="0">
                <a:solidFill>
                  <a:srgbClr val="7030A0"/>
                </a:solidFill>
              </a:rPr>
            </a:br>
            <a:r>
              <a:rPr lang="en-US" b="1" dirty="0">
                <a:solidFill>
                  <a:srgbClr val="7030A0"/>
                </a:solidFill>
              </a:rPr>
              <a:t>RCC11: IR Tx Codes</a:t>
            </a:r>
            <a:br>
              <a:rPr lang="en-US" b="1" dirty="0">
                <a:solidFill>
                  <a:srgbClr val="7030A0"/>
                </a:solidFill>
              </a:rPr>
            </a:b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F15E17-6AFB-1E6D-6D95-10FFFB1BD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F739AA-B2B4-8714-73F1-AC833717A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6</a:t>
            </a:fld>
            <a:endParaRPr lang="en-GB"/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AB3A9A2B-BAEF-EA7E-8147-8F46AF987F2D}"/>
              </a:ext>
            </a:extLst>
          </p:cNvPr>
          <p:cNvSpPr txBox="1"/>
          <p:nvPr/>
        </p:nvSpPr>
        <p:spPr bwMode="auto">
          <a:xfrm>
            <a:off x="6420465" y="5339202"/>
            <a:ext cx="57715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sz="1600" b="1" dirty="0">
                <a:solidFill>
                  <a:srgbClr val="00B0F0"/>
                </a:solidFill>
              </a:rPr>
              <a:t>Code for Lesson RCC11 (RCC11_a_IR_Remore_Code_Tx.ino):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7B0E19-0128-994A-59E6-277370339E8B}"/>
              </a:ext>
            </a:extLst>
          </p:cNvPr>
          <p:cNvSpPr txBox="1"/>
          <p:nvPr/>
        </p:nvSpPr>
        <p:spPr>
          <a:xfrm>
            <a:off x="6510130" y="5923977"/>
            <a:ext cx="4885191" cy="307777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FF7B5C5-B30F-DD83-BC74-3F92095326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7024" y="3163533"/>
            <a:ext cx="5582265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Each IR remote has its unique set of code for their keys.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First find the unique code for keys of your IR transmitter remote.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Upload the code (RCC11_a_IR_Remore_Code_Tx.ino ) and get the IR code for each key printed in the serial monitor.</a:t>
            </a:r>
          </a:p>
          <a:p>
            <a:pPr marL="0" indent="0">
              <a:buNone/>
            </a:pPr>
            <a:endParaRPr lang="en-GB" b="1" dirty="0">
              <a:solidFill>
                <a:srgbClr val="00B0F0"/>
              </a:solidFill>
            </a:endParaRPr>
          </a:p>
          <a:p>
            <a:pPr marL="0" indent="0">
              <a:buNone/>
            </a:pPr>
            <a:endParaRPr lang="en-GB" b="1" dirty="0">
              <a:solidFill>
                <a:srgbClr val="00B0F0"/>
              </a:solidFill>
            </a:endParaRPr>
          </a:p>
          <a:p>
            <a:pPr marL="0" indent="0">
              <a:buNone/>
            </a:pPr>
            <a:endParaRPr lang="en-GB" b="1" dirty="0">
              <a:solidFill>
                <a:srgbClr val="00B0F0"/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9E15DA-D7FB-7C1A-0A66-7BFCB6AA35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702" y="1027906"/>
            <a:ext cx="1239428" cy="2532510"/>
          </a:xfrm>
          <a:prstGeom prst="rect">
            <a:avLst/>
          </a:prstGeom>
        </p:spPr>
      </p:pic>
      <p:sp>
        <p:nvSpPr>
          <p:cNvPr id="11" name="Diamond 10">
            <a:extLst>
              <a:ext uri="{FF2B5EF4-FFF2-40B4-BE49-F238E27FC236}">
                <a16:creationId xmlns:a16="http://schemas.microsoft.com/office/drawing/2014/main" id="{780E8123-572B-AD21-04F1-AC4D33850D82}"/>
              </a:ext>
            </a:extLst>
          </p:cNvPr>
          <p:cNvSpPr/>
          <p:nvPr/>
        </p:nvSpPr>
        <p:spPr>
          <a:xfrm>
            <a:off x="5053049" y="2187743"/>
            <a:ext cx="1674734" cy="1406013"/>
          </a:xfrm>
          <a:prstGeom prst="diamond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7BAA432-C1B0-6C87-63EE-04BA9EA12C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7351" y="1027906"/>
            <a:ext cx="5317625" cy="3111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2991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1481F-6555-D05F-AEC1-E016749B5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RCC11: IR Tx Codes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28DECB-0783-9477-225D-09AAB2A06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B14065-F64C-DC8A-6476-19BB95391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7</a:t>
            </a:fld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7CD7547-A86E-D225-54B6-C766031FC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808" y="1212404"/>
            <a:ext cx="4077053" cy="514394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ABA8A4B-2DD0-C54D-5486-7983995A38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6955" y="1912704"/>
            <a:ext cx="1760373" cy="3596952"/>
          </a:xfrm>
          <a:prstGeom prst="rect">
            <a:avLst/>
          </a:prstGeom>
        </p:spPr>
      </p:pic>
      <p:sp>
        <p:nvSpPr>
          <p:cNvPr id="14" name="Diamond 13">
            <a:extLst>
              <a:ext uri="{FF2B5EF4-FFF2-40B4-BE49-F238E27FC236}">
                <a16:creationId xmlns:a16="http://schemas.microsoft.com/office/drawing/2014/main" id="{D4BDC424-C47C-242C-A911-B7870FB91E82}"/>
              </a:ext>
            </a:extLst>
          </p:cNvPr>
          <p:cNvSpPr/>
          <p:nvPr/>
        </p:nvSpPr>
        <p:spPr>
          <a:xfrm>
            <a:off x="9812594" y="3784377"/>
            <a:ext cx="1674734" cy="1406013"/>
          </a:xfrm>
          <a:prstGeom prst="diamond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60B1AF8-972D-5ECF-8090-574F03F9F0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7278" y="2522141"/>
            <a:ext cx="3734124" cy="1813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2863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518C9-368E-0E43-45E8-C4E3839C4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05855"/>
            <a:ext cx="12378813" cy="1325563"/>
          </a:xfrm>
        </p:spPr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RCC11:Hybrid Robot Car Control Using IR-NRF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C634AB-1C4B-60C0-2D59-5D116D886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E7FE76-63F9-7869-7204-EDD4C92C0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8</a:t>
            </a:fld>
            <a:endParaRPr lang="en-GB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BC9F936-8B00-EC14-7FEB-44F56343A8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19335" y="1381324"/>
            <a:ext cx="3989618" cy="5355312"/>
          </a:xfrm>
          <a:prstGeom prst="rect">
            <a:avLst/>
          </a:prstGeom>
          <a:noFill/>
          <a:ln w="28575">
            <a:solidFill>
              <a:srgbClr val="00B0F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GB" b="1" dirty="0">
                <a:solidFill>
                  <a:srgbClr val="00B0F0"/>
                </a:solidFill>
              </a:rPr>
              <a:t>setup()</a:t>
            </a:r>
            <a:endParaRPr lang="en-GB" dirty="0">
              <a:solidFill>
                <a:srgbClr val="00B0F0"/>
              </a:solidFill>
            </a:endParaRPr>
          </a:p>
          <a:p>
            <a:r>
              <a:rPr lang="en-GB" dirty="0">
                <a:solidFill>
                  <a:srgbClr val="00B0F0"/>
                </a:solidFill>
              </a:rPr>
              <a:t>Init IR receiver on pin 12</a:t>
            </a:r>
          </a:p>
          <a:p>
            <a:r>
              <a:rPr lang="en-GB" dirty="0">
                <a:solidFill>
                  <a:srgbClr val="00B0F0"/>
                </a:solidFill>
              </a:rPr>
              <a:t>Init NRF24L01 as TRANSMITTER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CE = A3, CSN = A2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Address = "00001", Channel = 108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PA Level = LOW, TX mode enabled</a:t>
            </a:r>
          </a:p>
          <a:p>
            <a:r>
              <a:rPr lang="en-GB" dirty="0">
                <a:solidFill>
                  <a:srgbClr val="00B0F0"/>
                </a:solidFill>
              </a:rPr>
              <a:t>Start Serial for debugging</a:t>
            </a:r>
          </a:p>
          <a:p>
            <a:r>
              <a:rPr lang="en-GB" b="1" dirty="0">
                <a:solidFill>
                  <a:srgbClr val="00B0F0"/>
                </a:solidFill>
              </a:rPr>
              <a:t>loop()</a:t>
            </a:r>
            <a:endParaRPr lang="en-GB" dirty="0">
              <a:solidFill>
                <a:srgbClr val="00B0F0"/>
              </a:solidFill>
            </a:endParaRPr>
          </a:p>
          <a:p>
            <a:r>
              <a:rPr lang="en-GB" dirty="0">
                <a:solidFill>
                  <a:srgbClr val="00B0F0"/>
                </a:solidFill>
              </a:rPr>
              <a:t>Wait for IR remote input</a:t>
            </a:r>
          </a:p>
          <a:p>
            <a:r>
              <a:rPr lang="en-GB" dirty="0">
                <a:solidFill>
                  <a:srgbClr val="00B0F0"/>
                </a:solidFill>
              </a:rPr>
              <a:t>Decode IR raw data</a:t>
            </a:r>
          </a:p>
          <a:p>
            <a:r>
              <a:rPr lang="en-GB" dirty="0">
                <a:solidFill>
                  <a:srgbClr val="00B0F0"/>
                </a:solidFill>
              </a:rPr>
              <a:t>Map IR codes to commands: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0xE718FF00 → F (Forward)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0xAD52FF00 → B (Backward)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0xF708FF00 → L (Left)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0xA55AFF00 → R (Right)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0xE31CFF00 → S (Stop)</a:t>
            </a:r>
          </a:p>
          <a:p>
            <a:r>
              <a:rPr lang="en-GB" dirty="0">
                <a:solidFill>
                  <a:srgbClr val="00B0F0"/>
                </a:solidFill>
              </a:rPr>
              <a:t>Send 1-byte command via NRF24L01</a:t>
            </a:r>
          </a:p>
          <a:p>
            <a:r>
              <a:rPr lang="en-GB" dirty="0">
                <a:solidFill>
                  <a:srgbClr val="00B0F0"/>
                </a:solidFill>
              </a:rPr>
              <a:t>Resume IR receiver for next input</a:t>
            </a:r>
          </a:p>
          <a:p>
            <a:endParaRPr lang="en-US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2688B5-11F8-78A8-B9C2-26746486310F}"/>
              </a:ext>
            </a:extLst>
          </p:cNvPr>
          <p:cNvSpPr txBox="1"/>
          <p:nvPr/>
        </p:nvSpPr>
        <p:spPr>
          <a:xfrm>
            <a:off x="7219335" y="1044976"/>
            <a:ext cx="63123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FFFF00"/>
                </a:solidFill>
              </a:rPr>
              <a:t>RCC11_b_Hybrid_Robot_Car_IR_NRF_Tx.ino</a:t>
            </a:r>
          </a:p>
        </p:txBody>
      </p:sp>
      <p:sp>
        <p:nvSpPr>
          <p:cNvPr id="10" name="TextBox 13">
            <a:extLst>
              <a:ext uri="{FF2B5EF4-FFF2-40B4-BE49-F238E27FC236}">
                <a16:creationId xmlns:a16="http://schemas.microsoft.com/office/drawing/2014/main" id="{2B5C408D-51FA-D248-E936-CA9DBC870C2C}"/>
              </a:ext>
            </a:extLst>
          </p:cNvPr>
          <p:cNvSpPr txBox="1"/>
          <p:nvPr/>
        </p:nvSpPr>
        <p:spPr bwMode="auto">
          <a:xfrm>
            <a:off x="429601" y="5275455"/>
            <a:ext cx="577153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sz="1600" b="1" dirty="0">
                <a:solidFill>
                  <a:srgbClr val="00B0F0"/>
                </a:solidFill>
              </a:rPr>
              <a:t>Code for Lesson RCC11 (</a:t>
            </a:r>
            <a:r>
              <a:rPr lang="en-GB" sz="1600" dirty="0">
                <a:solidFill>
                  <a:srgbClr val="FFFF00"/>
                </a:solidFill>
              </a:rPr>
              <a:t>RCC11_b_Hybrid_Robot_Car_IR_NRF_Tx.ino)</a:t>
            </a:r>
            <a:endParaRPr lang="en-GB" sz="1600" b="1" dirty="0">
              <a:solidFill>
                <a:srgbClr val="00B0F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DFF2F7-B3C0-823E-37DA-772B7F92B1B7}"/>
              </a:ext>
            </a:extLst>
          </p:cNvPr>
          <p:cNvSpPr txBox="1"/>
          <p:nvPr/>
        </p:nvSpPr>
        <p:spPr>
          <a:xfrm>
            <a:off x="429601" y="5981087"/>
            <a:ext cx="4885191" cy="307777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EC4C90A4-3550-68F8-3EBD-80EE7B7F19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431" y="1549877"/>
            <a:ext cx="474971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>
                <a:solidFill>
                  <a:srgbClr val="FFFF00"/>
                </a:solidFill>
              </a:rPr>
              <a:t>Now that we have the code for the arrow keys of the remote, we can use them in the code the transmitter.</a:t>
            </a:r>
          </a:p>
          <a:p>
            <a:pPr marL="0" indent="0">
              <a:buNone/>
            </a:pPr>
            <a:endParaRPr lang="en-GB" b="1" dirty="0">
              <a:solidFill>
                <a:srgbClr val="FFFF00"/>
              </a:solidFill>
            </a:endParaRPr>
          </a:p>
          <a:p>
            <a:pPr marL="0" indent="0">
              <a:buNone/>
            </a:pPr>
            <a:endParaRPr lang="en-GB" b="1" dirty="0">
              <a:solidFill>
                <a:srgbClr val="FFFF00"/>
              </a:solidFill>
            </a:endParaRPr>
          </a:p>
          <a:p>
            <a:pPr marL="0" indent="0">
              <a:buNone/>
            </a:pPr>
            <a:endParaRPr lang="en-GB" b="1" dirty="0">
              <a:solidFill>
                <a:srgbClr val="FFFF00"/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FFFF0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190136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31E8D-4B24-E427-F7C7-FD9C61983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RCC11:Hybrid Robot Car Control Using IR-NRF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9AA72-4E94-7B45-8C1B-3AD1A0DD84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97361" cy="4351338"/>
          </a:xfrm>
        </p:spPr>
        <p:txBody>
          <a:bodyPr/>
          <a:lstStyle/>
          <a:p>
            <a:r>
              <a:rPr lang="en-GB" dirty="0">
                <a:solidFill>
                  <a:srgbClr val="00B0F0"/>
                </a:solidFill>
              </a:rPr>
              <a:t>Upload the receiver code</a:t>
            </a:r>
          </a:p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RCC11_b_Hybrid_Robot_Car_IR_NRF_Rx.ino </a:t>
            </a:r>
            <a:r>
              <a:rPr lang="en-GB" dirty="0">
                <a:solidFill>
                  <a:srgbClr val="00B0F0"/>
                </a:solidFill>
              </a:rPr>
              <a:t>in the robot car.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4F7125-3C2A-43D2-BA7F-5ADC97D2E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DD2854-0F04-BC33-3A94-388892B1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9</a:t>
            </a:fld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6053EE0-BCB4-6D90-AF73-54918048BF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8658" y="1585231"/>
            <a:ext cx="3144795" cy="4261037"/>
          </a:xfrm>
          <a:prstGeom prst="rect">
            <a:avLst/>
          </a:prstGeom>
        </p:spPr>
      </p:pic>
      <p:sp>
        <p:nvSpPr>
          <p:cNvPr id="9" name="TextBox 13">
            <a:extLst>
              <a:ext uri="{FF2B5EF4-FFF2-40B4-BE49-F238E27FC236}">
                <a16:creationId xmlns:a16="http://schemas.microsoft.com/office/drawing/2014/main" id="{8B5700F9-90A0-653F-0E04-5A0AAA26D3A3}"/>
              </a:ext>
            </a:extLst>
          </p:cNvPr>
          <p:cNvSpPr txBox="1"/>
          <p:nvPr/>
        </p:nvSpPr>
        <p:spPr bwMode="auto">
          <a:xfrm>
            <a:off x="884906" y="4719770"/>
            <a:ext cx="57715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600" b="1" dirty="0">
                <a:solidFill>
                  <a:srgbClr val="FFFF00"/>
                </a:solidFill>
              </a:rPr>
              <a:t>Code for RCC11_b_Hybrid_Robot_Car_IR_NRF_Rx</a:t>
            </a:r>
            <a:r>
              <a:rPr lang="en-GB" sz="1600" b="1" dirty="0">
                <a:solidFill>
                  <a:srgbClr val="FFFF00"/>
                </a:solidFill>
              </a:rPr>
              <a:t>.</a:t>
            </a:r>
            <a:r>
              <a:rPr lang="en-GB" sz="1600" b="1" dirty="0" err="1">
                <a:solidFill>
                  <a:srgbClr val="FFFF00"/>
                </a:solidFill>
              </a:rPr>
              <a:t>ino</a:t>
            </a:r>
            <a:r>
              <a:rPr lang="en-GB" sz="1600" b="1" dirty="0">
                <a:solidFill>
                  <a:srgbClr val="FFFF00"/>
                </a:solidFill>
              </a:rPr>
              <a:t>):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CB9EE2-9882-8DDC-0DAE-CEDC8A2E6538}"/>
              </a:ext>
            </a:extLst>
          </p:cNvPr>
          <p:cNvSpPr txBox="1"/>
          <p:nvPr/>
        </p:nvSpPr>
        <p:spPr>
          <a:xfrm>
            <a:off x="974571" y="5304545"/>
            <a:ext cx="4885191" cy="307777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185917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F68807-C05E-6B68-0917-AD6D0156C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05A9F-5BF5-DA85-6432-309DE03E3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05855"/>
            <a:ext cx="12378813" cy="1325563"/>
          </a:xfrm>
        </p:spPr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RCC11:Hybrid Robot Car Control Using IR-NRF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81706A-976B-DFDB-94C8-CEF14B4FA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15BF56-5E48-E174-4299-FD0E15B24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10</a:t>
            </a:fld>
            <a:endParaRPr lang="en-GB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0EDE89E-D69C-0786-DCE8-AEDA6E5B91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1366163"/>
            <a:ext cx="5850319" cy="5355312"/>
          </a:xfrm>
          <a:prstGeom prst="rect">
            <a:avLst/>
          </a:prstGeom>
          <a:noFill/>
          <a:ln w="28575">
            <a:solidFill>
              <a:srgbClr val="00B0F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GB" b="1" dirty="0">
                <a:solidFill>
                  <a:srgbClr val="00B0F0"/>
                </a:solidFill>
              </a:rPr>
              <a:t>setup()</a:t>
            </a:r>
            <a:endParaRPr lang="en-GB" dirty="0">
              <a:solidFill>
                <a:srgbClr val="00B0F0"/>
              </a:solidFill>
            </a:endParaRPr>
          </a:p>
          <a:p>
            <a:r>
              <a:rPr lang="en-GB" dirty="0">
                <a:solidFill>
                  <a:srgbClr val="00B0F0"/>
                </a:solidFill>
              </a:rPr>
              <a:t>Configure motor driver pins (IN1–IN4, ENA, ENB)</a:t>
            </a:r>
          </a:p>
          <a:p>
            <a:r>
              <a:rPr lang="en-GB" dirty="0">
                <a:solidFill>
                  <a:srgbClr val="00B0F0"/>
                </a:solidFill>
              </a:rPr>
              <a:t>Stop motors at startup</a:t>
            </a:r>
          </a:p>
          <a:p>
            <a:r>
              <a:rPr lang="en-GB" dirty="0">
                <a:solidFill>
                  <a:srgbClr val="00B0F0"/>
                </a:solidFill>
              </a:rPr>
              <a:t>Init NRF24L01 as RECEIVER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CE = A3, CSN = A2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Address = "00001", Channel = 108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PA Level = LOW, Listening mode enabled</a:t>
            </a:r>
          </a:p>
          <a:p>
            <a:r>
              <a:rPr lang="en-GB" dirty="0">
                <a:solidFill>
                  <a:srgbClr val="00B0F0"/>
                </a:solidFill>
              </a:rPr>
              <a:t>Start Serial for debugging</a:t>
            </a:r>
          </a:p>
          <a:p>
            <a:r>
              <a:rPr lang="en-GB" b="1" dirty="0">
                <a:solidFill>
                  <a:srgbClr val="00B0F0"/>
                </a:solidFill>
              </a:rPr>
              <a:t>loop()</a:t>
            </a:r>
            <a:endParaRPr lang="en-GB" dirty="0">
              <a:solidFill>
                <a:srgbClr val="00B0F0"/>
              </a:solidFill>
            </a:endParaRPr>
          </a:p>
          <a:p>
            <a:r>
              <a:rPr lang="en-GB" dirty="0">
                <a:solidFill>
                  <a:srgbClr val="00B0F0"/>
                </a:solidFill>
              </a:rPr>
              <a:t>Check for incoming NRF24L01 data</a:t>
            </a:r>
          </a:p>
          <a:p>
            <a:r>
              <a:rPr lang="en-GB" dirty="0">
                <a:solidFill>
                  <a:srgbClr val="00B0F0"/>
                </a:solidFill>
              </a:rPr>
              <a:t>Read 1-byte command from transmitter</a:t>
            </a:r>
          </a:p>
          <a:p>
            <a:r>
              <a:rPr lang="en-GB" dirty="0">
                <a:solidFill>
                  <a:srgbClr val="00B0F0"/>
                </a:solidFill>
              </a:rPr>
              <a:t>Decode command and map to motor action: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F → Forward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B → Backward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L → Left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R → Right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S / other → Stop</a:t>
            </a:r>
          </a:p>
          <a:p>
            <a:r>
              <a:rPr lang="en-GB" dirty="0">
                <a:solidFill>
                  <a:srgbClr val="00B0F0"/>
                </a:solidFill>
              </a:rPr>
              <a:t>Drive motors using direction pins and PWM speed control</a:t>
            </a:r>
          </a:p>
          <a:p>
            <a:endParaRPr lang="en-US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415A89-4432-7515-1204-FEA5CC853B76}"/>
              </a:ext>
            </a:extLst>
          </p:cNvPr>
          <p:cNvSpPr txBox="1"/>
          <p:nvPr/>
        </p:nvSpPr>
        <p:spPr>
          <a:xfrm>
            <a:off x="7219335" y="1044976"/>
            <a:ext cx="63123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FFFF00"/>
                </a:solidFill>
              </a:rPr>
              <a:t>RCC11_b_Hybrid_Robot_Car_IR_NRF_Rx.ino</a:t>
            </a:r>
          </a:p>
        </p:txBody>
      </p:sp>
    </p:spTree>
    <p:extLst>
      <p:ext uri="{BB962C8B-B14F-4D97-AF65-F5344CB8AC3E}">
        <p14:creationId xmlns:p14="http://schemas.microsoft.com/office/powerpoint/2010/main" val="41228283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2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3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4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5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6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7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8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343</TotalTime>
  <Words>623</Words>
  <Application>Microsoft Office PowerPoint</Application>
  <PresentationFormat>Widescreen</PresentationFormat>
  <Paragraphs>129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Calibri Light</vt:lpstr>
      <vt:lpstr>Office Theme</vt:lpstr>
      <vt:lpstr>Robot Car 2 (Wireless Communication Control) (RCC)</vt:lpstr>
      <vt:lpstr>Robot Car2 - Contents</vt:lpstr>
      <vt:lpstr>Robot Car2 - Contents</vt:lpstr>
      <vt:lpstr>RCC11:Hybrid Robot Car Control Using IR-NRF</vt:lpstr>
      <vt:lpstr>RCC11:Hybrid Robot Car Control Using IR-NRF</vt:lpstr>
      <vt:lpstr> RCC11: IR Tx Codes </vt:lpstr>
      <vt:lpstr>RCC11: IR Tx Codes</vt:lpstr>
      <vt:lpstr>RCC11:Hybrid Robot Car Control Using IR-NRF</vt:lpstr>
      <vt:lpstr>RCC11:Hybrid Robot Car Control Using IR-NRF</vt:lpstr>
      <vt:lpstr>RCC11:Hybrid Robot Car Control Using IR-NRF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41</cp:revision>
  <dcterms:created xsi:type="dcterms:W3CDTF">2025-11-29T15:09:33Z</dcterms:created>
  <dcterms:modified xsi:type="dcterms:W3CDTF">2026-01-11T22:59:00Z</dcterms:modified>
</cp:coreProperties>
</file>