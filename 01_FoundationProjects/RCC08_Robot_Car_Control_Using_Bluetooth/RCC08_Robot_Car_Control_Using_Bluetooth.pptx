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"/>
  </p:notesMasterIdLst>
  <p:sldIdLst>
    <p:sldId id="256" r:id="rId2"/>
    <p:sldId id="288" r:id="rId3"/>
    <p:sldId id="287" r:id="rId4"/>
    <p:sldId id="285" r:id="rId5"/>
    <p:sldId id="293" r:id="rId6"/>
    <p:sldId id="296" r:id="rId7"/>
    <p:sldId id="29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311A46-23A7-4CAD-863D-6397CDAD4FD2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670DA3-5A45-4EA5-8847-63371DDB5D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348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70F2F-948D-0F65-D7F3-7FB555F3D5E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190837" name="Slide Image Placeholder 1">
            <a:extLst>
              <a:ext uri="{FF2B5EF4-FFF2-40B4-BE49-F238E27FC236}">
                <a16:creationId xmlns:a16="http://schemas.microsoft.com/office/drawing/2014/main" id="{235F5BF2-276A-1551-56CD-05B6B026F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7197958" name="Notes Placeholder 2">
            <a:extLst>
              <a:ext uri="{FF2B5EF4-FFF2-40B4-BE49-F238E27FC236}">
                <a16:creationId xmlns:a16="http://schemas.microsoft.com/office/drawing/2014/main" id="{73AD26D3-6C00-C653-941B-133C8572E5D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1903380102" name="Slide Number Placeholder 3">
            <a:extLst>
              <a:ext uri="{FF2B5EF4-FFF2-40B4-BE49-F238E27FC236}">
                <a16:creationId xmlns:a16="http://schemas.microsoft.com/office/drawing/2014/main" id="{FC2F83E7-A1B5-B8A5-CC11-DC5606E3B1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13F677-0E1E-6F44-539B-EB19BF5D0C37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8279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BF9D-AC79-EB5E-03FC-7600DE12BF3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190837" name="Slide Image Placeholder 1">
            <a:extLst>
              <a:ext uri="{FF2B5EF4-FFF2-40B4-BE49-F238E27FC236}">
                <a16:creationId xmlns:a16="http://schemas.microsoft.com/office/drawing/2014/main" id="{F123119F-6F80-FAA9-0FF2-519BECAE1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7197958" name="Notes Placeholder 2">
            <a:extLst>
              <a:ext uri="{FF2B5EF4-FFF2-40B4-BE49-F238E27FC236}">
                <a16:creationId xmlns:a16="http://schemas.microsoft.com/office/drawing/2014/main" id="{E3633158-1406-4F6D-6B94-0B14E80912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3380102" name="Slide Number Placeholder 3">
            <a:extLst>
              <a:ext uri="{FF2B5EF4-FFF2-40B4-BE49-F238E27FC236}">
                <a16:creationId xmlns:a16="http://schemas.microsoft.com/office/drawing/2014/main" id="{EC6610E5-8732-05EC-EC87-837A91D00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13F677-0E1E-6F44-539B-EB19BF5D0C37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8246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94838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2483304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1152544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6053156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949511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1532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0397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8707084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9474385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0980256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462125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929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21102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242405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979311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6269882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960747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524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4042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7503605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916362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4736899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204065613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982523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38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51429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145890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4470520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9699724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0884537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0990823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8900540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4712903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8736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3497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524438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30626398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9740740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3065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657995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4455944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7525140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28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45634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78213484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9144381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228149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93017809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7449028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465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56624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0452493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12128046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7994615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06458623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9130058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407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0651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2907246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09441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358504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1401678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46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55797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8165240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8470832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2180683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273770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255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50111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7414217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9321905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28789083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0911774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36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772" y="665163"/>
            <a:ext cx="11434917" cy="2387600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Robot Car 2 (Wireless Communication Control) (RCC)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3059" y="3602038"/>
            <a:ext cx="10264876" cy="1655762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(Lesson Ref</a:t>
            </a:r>
            <a:r>
              <a:rPr lang="en-GB" sz="3600" b="1">
                <a:solidFill>
                  <a:srgbClr val="00B0F0"/>
                </a:solidFill>
              </a:rPr>
              <a:t>: RCC08)</a:t>
            </a:r>
            <a:endParaRPr lang="en-GB" sz="3600" b="1" dirty="0">
              <a:solidFill>
                <a:srgbClr val="00B0F0"/>
              </a:solidFill>
            </a:endParaRPr>
          </a:p>
          <a:p>
            <a:r>
              <a:rPr lang="en-US" sz="3600" b="1" dirty="0">
                <a:solidFill>
                  <a:srgbClr val="7030A0"/>
                </a:solidFill>
              </a:rPr>
              <a:t>RCC08:Robot Car Control Using Bluetooth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F8A61-A0DD-1E95-4A27-EF5FD8DC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December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D94DA-C92E-EFF6-9BB4-6FD6B1B5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F5A6A5-3841-4FBA-B455-67883EB3171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8E9294-41F4-4FD5-344C-22E11DE3E5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71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8BC6EF-45AC-6917-4732-1E59B98BBE2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2E409F7-33F3-22DC-3ABC-779DEEDEEC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237" y="1081554"/>
            <a:ext cx="3802472" cy="4860405"/>
          </a:xfrm>
          <a:prstGeom prst="rect">
            <a:avLst/>
          </a:prstGeom>
        </p:spPr>
      </p:pic>
      <p:pic>
        <p:nvPicPr>
          <p:cNvPr id="1142226202" name="Picture 1">
            <a:extLst>
              <a:ext uri="{FF2B5EF4-FFF2-40B4-BE49-F238E27FC236}">
                <a16:creationId xmlns:a16="http://schemas.microsoft.com/office/drawing/2014/main" id="{4DAD051F-4F75-DE05-99D8-8D674A261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1E3F63-77A8-B54E-03A9-FDBCC9EBC5F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834" y="934063"/>
            <a:ext cx="4573176" cy="53536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ACF517-2C2F-9A6C-611F-FCF9BBC1DA81}"/>
              </a:ext>
            </a:extLst>
          </p:cNvPr>
          <p:cNvSpPr txBox="1"/>
          <p:nvPr/>
        </p:nvSpPr>
        <p:spPr bwMode="auto">
          <a:xfrm>
            <a:off x="914524" y="6269773"/>
            <a:ext cx="4711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Transmitter Module (Front)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ADD1F7-802D-86E3-1CB7-4B66F2FEB48F}"/>
              </a:ext>
            </a:extLst>
          </p:cNvPr>
          <p:cNvSpPr txBox="1"/>
          <p:nvPr/>
        </p:nvSpPr>
        <p:spPr bwMode="auto">
          <a:xfrm>
            <a:off x="6801834" y="6396335"/>
            <a:ext cx="46634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Transmitter Module (Back)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A210ECC-D6E1-28FC-2135-CB51EE1F8A7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884" y="9011"/>
            <a:ext cx="10515600" cy="10635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000" b="1" dirty="0">
                <a:solidFill>
                  <a:srgbClr val="FF33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Robot Car2 - Contents</a:t>
            </a:r>
            <a:endParaRPr sz="4000" b="1" dirty="0">
              <a:solidFill>
                <a:srgbClr val="FF33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5A66DAC-1F37-ADFD-613D-5FAD1CA9D10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98362" y="1737072"/>
            <a:ext cx="585278" cy="316064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4026DC8-31C5-9852-EB53-CFFF24E87FFA}"/>
              </a:ext>
            </a:extLst>
          </p:cNvPr>
          <p:cNvSpPr txBox="1"/>
          <p:nvPr/>
        </p:nvSpPr>
        <p:spPr bwMode="auto">
          <a:xfrm>
            <a:off x="109752" y="116065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Bluetooth Connector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C59D367-9784-AACF-DFE7-E77FBE98184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927598" y="3304995"/>
            <a:ext cx="585278" cy="316064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D7B8F10-1599-269F-23E5-7EC2D655586E}"/>
              </a:ext>
            </a:extLst>
          </p:cNvPr>
          <p:cNvSpPr txBox="1"/>
          <p:nvPr/>
        </p:nvSpPr>
        <p:spPr bwMode="auto">
          <a:xfrm>
            <a:off x="109752" y="2716673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Free Connector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5D9461-44A0-B01C-A926-630988EFB673}"/>
              </a:ext>
            </a:extLst>
          </p:cNvPr>
          <p:cNvSpPr txBox="1"/>
          <p:nvPr/>
        </p:nvSpPr>
        <p:spPr>
          <a:xfrm rot="21272357">
            <a:off x="1483504" y="3357724"/>
            <a:ext cx="474294" cy="7567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92E881D-EC1E-9C30-1444-AC91365270AB}"/>
              </a:ext>
            </a:extLst>
          </p:cNvPr>
          <p:cNvCxnSpPr>
            <a:cxnSpLocks/>
          </p:cNvCxnSpPr>
          <p:nvPr/>
        </p:nvCxnSpPr>
        <p:spPr bwMode="auto">
          <a:xfrm flipH="1">
            <a:off x="1091001" y="4529329"/>
            <a:ext cx="546986" cy="258055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C6BBF06-35DA-DE62-B39A-D4D859A62A45}"/>
              </a:ext>
            </a:extLst>
          </p:cNvPr>
          <p:cNvSpPr txBox="1"/>
          <p:nvPr/>
        </p:nvSpPr>
        <p:spPr bwMode="auto">
          <a:xfrm>
            <a:off x="184397" y="4354723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Colour Sensor Connector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4E2C38A-3848-C212-1836-6988B7ECD5B8}"/>
              </a:ext>
            </a:extLst>
          </p:cNvPr>
          <p:cNvCxnSpPr>
            <a:cxnSpLocks/>
          </p:cNvCxnSpPr>
          <p:nvPr/>
        </p:nvCxnSpPr>
        <p:spPr bwMode="auto">
          <a:xfrm>
            <a:off x="2097000" y="4921737"/>
            <a:ext cx="134738" cy="42701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4E5A266-34C6-5AAB-CD14-F9738AB16436}"/>
              </a:ext>
            </a:extLst>
          </p:cNvPr>
          <p:cNvCxnSpPr>
            <a:cxnSpLocks/>
          </p:cNvCxnSpPr>
          <p:nvPr/>
        </p:nvCxnSpPr>
        <p:spPr bwMode="auto">
          <a:xfrm flipH="1">
            <a:off x="2652677" y="4839340"/>
            <a:ext cx="199148" cy="50940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6F688F5-2E06-717B-BC97-DCA20E433A80}"/>
              </a:ext>
            </a:extLst>
          </p:cNvPr>
          <p:cNvSpPr txBox="1"/>
          <p:nvPr/>
        </p:nvSpPr>
        <p:spPr bwMode="auto">
          <a:xfrm>
            <a:off x="2006419" y="5343537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Gesture Sensor Connector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D3A0FF2-2A86-22A1-2C28-E1B63CB6D7AF}"/>
              </a:ext>
            </a:extLst>
          </p:cNvPr>
          <p:cNvCxnSpPr>
            <a:cxnSpLocks/>
          </p:cNvCxnSpPr>
          <p:nvPr/>
        </p:nvCxnSpPr>
        <p:spPr bwMode="auto">
          <a:xfrm>
            <a:off x="3313916" y="5069168"/>
            <a:ext cx="555315" cy="383967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BBFC1EE-B7FA-CA95-9F22-FAC3A8B420BE}"/>
              </a:ext>
            </a:extLst>
          </p:cNvPr>
          <p:cNvSpPr txBox="1"/>
          <p:nvPr/>
        </p:nvSpPr>
        <p:spPr bwMode="auto">
          <a:xfrm>
            <a:off x="3612555" y="5450748"/>
            <a:ext cx="1432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NRF 24L01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Transmitter</a:t>
            </a:r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72742C30-8228-BEAF-D3F8-5A042B5E12EC}"/>
              </a:ext>
            </a:extLst>
          </p:cNvPr>
          <p:cNvSpPr/>
          <p:nvPr/>
        </p:nvSpPr>
        <p:spPr>
          <a:xfrm rot="21395035">
            <a:off x="2177630" y="1529511"/>
            <a:ext cx="1188152" cy="1213287"/>
          </a:xfrm>
          <a:prstGeom prst="diamond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A58B798-285E-30AA-71B8-5A0329496F73}"/>
              </a:ext>
            </a:extLst>
          </p:cNvPr>
          <p:cNvCxnSpPr/>
          <p:nvPr/>
        </p:nvCxnSpPr>
        <p:spPr bwMode="auto">
          <a:xfrm>
            <a:off x="3106994" y="3621059"/>
            <a:ext cx="1915715" cy="13006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EE6A585-737A-0D05-6052-1001EBC5AAB2}"/>
              </a:ext>
            </a:extLst>
          </p:cNvPr>
          <p:cNvSpPr txBox="1"/>
          <p:nvPr/>
        </p:nvSpPr>
        <p:spPr bwMode="auto">
          <a:xfrm>
            <a:off x="4682164" y="4863077"/>
            <a:ext cx="1217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Joystick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E26D650-1B29-5CFF-8148-0113D0EDD31F}"/>
              </a:ext>
            </a:extLst>
          </p:cNvPr>
          <p:cNvCxnSpPr>
            <a:cxnSpLocks/>
          </p:cNvCxnSpPr>
          <p:nvPr/>
        </p:nvCxnSpPr>
        <p:spPr bwMode="auto">
          <a:xfrm>
            <a:off x="3869231" y="3716878"/>
            <a:ext cx="1305878" cy="8263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A019031-22C3-4624-8604-863F0144F71D}"/>
              </a:ext>
            </a:extLst>
          </p:cNvPr>
          <p:cNvSpPr txBox="1"/>
          <p:nvPr/>
        </p:nvSpPr>
        <p:spPr bwMode="auto">
          <a:xfrm>
            <a:off x="4993718" y="4098367"/>
            <a:ext cx="1785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Accelerometer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3C9C289-C0C7-19E0-BBB9-B4753BA1B359}"/>
              </a:ext>
            </a:extLst>
          </p:cNvPr>
          <p:cNvCxnSpPr>
            <a:cxnSpLocks/>
          </p:cNvCxnSpPr>
          <p:nvPr/>
        </p:nvCxnSpPr>
        <p:spPr bwMode="auto">
          <a:xfrm flipV="1">
            <a:off x="4138706" y="1694989"/>
            <a:ext cx="112062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E0F26A6-92A1-6A22-4545-B0A33BB0266F}"/>
              </a:ext>
            </a:extLst>
          </p:cNvPr>
          <p:cNvSpPr txBox="1"/>
          <p:nvPr/>
        </p:nvSpPr>
        <p:spPr bwMode="auto">
          <a:xfrm>
            <a:off x="5022709" y="1346416"/>
            <a:ext cx="1217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OLED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2D76E91-7FAE-B771-A34F-256E269381D6}"/>
              </a:ext>
            </a:extLst>
          </p:cNvPr>
          <p:cNvCxnSpPr>
            <a:cxnSpLocks/>
          </p:cNvCxnSpPr>
          <p:nvPr/>
        </p:nvCxnSpPr>
        <p:spPr bwMode="auto">
          <a:xfrm flipH="1">
            <a:off x="1279620" y="4270348"/>
            <a:ext cx="999512" cy="137453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69107C6-1C56-1C2A-C8E9-650FB8D6668A}"/>
              </a:ext>
            </a:extLst>
          </p:cNvPr>
          <p:cNvSpPr txBox="1"/>
          <p:nvPr/>
        </p:nvSpPr>
        <p:spPr bwMode="auto">
          <a:xfrm>
            <a:off x="516885" y="538363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Mode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Button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B2D8218-DF3F-25E6-234A-2AA0A37FD149}"/>
              </a:ext>
            </a:extLst>
          </p:cNvPr>
          <p:cNvSpPr txBox="1"/>
          <p:nvPr/>
        </p:nvSpPr>
        <p:spPr bwMode="auto">
          <a:xfrm rot="21342939">
            <a:off x="1962355" y="2747616"/>
            <a:ext cx="474294" cy="7567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FF45831-2AAB-3EE3-18E1-2315FFCCE607}"/>
              </a:ext>
            </a:extLst>
          </p:cNvPr>
          <p:cNvCxnSpPr>
            <a:cxnSpLocks/>
          </p:cNvCxnSpPr>
          <p:nvPr/>
        </p:nvCxnSpPr>
        <p:spPr bwMode="auto">
          <a:xfrm flipV="1">
            <a:off x="2264319" y="2716673"/>
            <a:ext cx="2376163" cy="2803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971BB06-04F7-CCAD-5BAC-2B87E582F882}"/>
              </a:ext>
            </a:extLst>
          </p:cNvPr>
          <p:cNvSpPr txBox="1"/>
          <p:nvPr/>
        </p:nvSpPr>
        <p:spPr bwMode="auto">
          <a:xfrm>
            <a:off x="4581605" y="2453954"/>
            <a:ext cx="1551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Mini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Breadboard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74562B1-2966-00D4-7F58-07E7AE3870AA}"/>
              </a:ext>
            </a:extLst>
          </p:cNvPr>
          <p:cNvCxnSpPr>
            <a:cxnSpLocks/>
          </p:cNvCxnSpPr>
          <p:nvPr/>
        </p:nvCxnSpPr>
        <p:spPr bwMode="auto">
          <a:xfrm flipV="1">
            <a:off x="9851137" y="2546319"/>
            <a:ext cx="78736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31AB61A-55EA-B316-64B9-C2B489F61A5E}"/>
              </a:ext>
            </a:extLst>
          </p:cNvPr>
          <p:cNvSpPr txBox="1"/>
          <p:nvPr/>
        </p:nvSpPr>
        <p:spPr bwMode="auto">
          <a:xfrm>
            <a:off x="10411450" y="1899988"/>
            <a:ext cx="1217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Arduino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Uno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42CFDBE-B119-D54E-77BD-E7263F90D98B}"/>
              </a:ext>
            </a:extLst>
          </p:cNvPr>
          <p:cNvCxnSpPr>
            <a:cxnSpLocks/>
          </p:cNvCxnSpPr>
          <p:nvPr/>
        </p:nvCxnSpPr>
        <p:spPr bwMode="auto">
          <a:xfrm flipV="1">
            <a:off x="9896434" y="4505045"/>
            <a:ext cx="78736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18E4578-BDDF-18A1-FC38-74107E7D9E32}"/>
              </a:ext>
            </a:extLst>
          </p:cNvPr>
          <p:cNvSpPr txBox="1"/>
          <p:nvPr/>
        </p:nvSpPr>
        <p:spPr bwMode="auto">
          <a:xfrm>
            <a:off x="10526484" y="4170714"/>
            <a:ext cx="11148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18650 Battery Holder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72C2589-87C7-BCD4-53B8-1F4D4FDB4D92}"/>
              </a:ext>
            </a:extLst>
          </p:cNvPr>
          <p:cNvCxnSpPr>
            <a:cxnSpLocks/>
          </p:cNvCxnSpPr>
          <p:nvPr/>
        </p:nvCxnSpPr>
        <p:spPr bwMode="auto">
          <a:xfrm flipV="1">
            <a:off x="2945240" y="1245237"/>
            <a:ext cx="507160" cy="58032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1B1F275-3BDA-A5AF-34FA-312B9A27DBF4}"/>
              </a:ext>
            </a:extLst>
          </p:cNvPr>
          <p:cNvSpPr txBox="1"/>
          <p:nvPr/>
        </p:nvSpPr>
        <p:spPr bwMode="auto">
          <a:xfrm>
            <a:off x="2865774" y="1024814"/>
            <a:ext cx="1843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Button Control</a:t>
            </a:r>
          </a:p>
        </p:txBody>
      </p:sp>
      <p:sp>
        <p:nvSpPr>
          <p:cNvPr id="59" name="Date Placeholder 58">
            <a:extLst>
              <a:ext uri="{FF2B5EF4-FFF2-40B4-BE49-F238E27FC236}">
                <a16:creationId xmlns:a16="http://schemas.microsoft.com/office/drawing/2014/main" id="{9D64FE2E-669A-76E1-4053-90C2C01E9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07/12/2025</a:t>
            </a:r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AAC12BB4-12AF-FD4C-AA80-7759419FA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A24EA-A87A-4979-940E-A83EA2C27DA6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0701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66B9BF-6D74-443A-76C3-97EF3DAA654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E8E0F4B-72B0-86C1-3711-2350992EA9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569262" y="954394"/>
            <a:ext cx="3603795" cy="4949212"/>
          </a:xfrm>
          <a:prstGeom prst="rect">
            <a:avLst/>
          </a:prstGeom>
        </p:spPr>
      </p:pic>
      <p:pic>
        <p:nvPicPr>
          <p:cNvPr id="1142226202" name="Picture 1">
            <a:extLst>
              <a:ext uri="{FF2B5EF4-FFF2-40B4-BE49-F238E27FC236}">
                <a16:creationId xmlns:a16="http://schemas.microsoft.com/office/drawing/2014/main" id="{1379F331-285B-3D09-F3A6-AD413147F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2A9224-77D5-CBC2-A311-9F1AFE0711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973" y="1203334"/>
            <a:ext cx="3442943" cy="511388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A342A23-27E6-A20A-F532-4A4707E1C61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884" y="9011"/>
            <a:ext cx="10515600" cy="10635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000" b="1" dirty="0">
                <a:solidFill>
                  <a:srgbClr val="FF33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Robot Car2 - Contents</a:t>
            </a:r>
            <a:endParaRPr sz="4000" b="1" dirty="0">
              <a:solidFill>
                <a:srgbClr val="FF33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B3964B-7F89-F1F5-5112-002C61B7E0B4}"/>
              </a:ext>
            </a:extLst>
          </p:cNvPr>
          <p:cNvSpPr txBox="1"/>
          <p:nvPr/>
        </p:nvSpPr>
        <p:spPr>
          <a:xfrm>
            <a:off x="1075116" y="6267235"/>
            <a:ext cx="4302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 (Front)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6517AF-8466-2862-14B7-C494B9B26549}"/>
              </a:ext>
            </a:extLst>
          </p:cNvPr>
          <p:cNvSpPr txBox="1"/>
          <p:nvPr/>
        </p:nvSpPr>
        <p:spPr bwMode="auto">
          <a:xfrm>
            <a:off x="6949053" y="6387324"/>
            <a:ext cx="42546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 (Back)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5F2FE22-E290-CF4E-2E75-96848852FB45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229032" y="2438400"/>
            <a:ext cx="1087911" cy="22380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195681-737C-1D0A-B09C-28835A4E828E}"/>
              </a:ext>
            </a:extLst>
          </p:cNvPr>
          <p:cNvSpPr txBox="1"/>
          <p:nvPr/>
        </p:nvSpPr>
        <p:spPr bwMode="auto">
          <a:xfrm>
            <a:off x="276745" y="1757445"/>
            <a:ext cx="12925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Car2 Receiver Motor Controller Board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31182C0-D51E-8556-950F-BED6EA293860}"/>
              </a:ext>
            </a:extLst>
          </p:cNvPr>
          <p:cNvCxnSpPr>
            <a:cxnSpLocks/>
          </p:cNvCxnSpPr>
          <p:nvPr/>
        </p:nvCxnSpPr>
        <p:spPr bwMode="auto">
          <a:xfrm flipH="1">
            <a:off x="973394" y="3500284"/>
            <a:ext cx="953729" cy="411606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EB3B5DA-94B7-E61C-D678-34BD4DC3C792}"/>
              </a:ext>
            </a:extLst>
          </p:cNvPr>
          <p:cNvSpPr txBox="1"/>
          <p:nvPr/>
        </p:nvSpPr>
        <p:spPr bwMode="auto">
          <a:xfrm>
            <a:off x="10884" y="355468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NRF 24L01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Receiver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CEC1F70-538E-36EA-5D0F-07649A3D67C8}"/>
              </a:ext>
            </a:extLst>
          </p:cNvPr>
          <p:cNvCxnSpPr>
            <a:cxnSpLocks/>
          </p:cNvCxnSpPr>
          <p:nvPr/>
        </p:nvCxnSpPr>
        <p:spPr bwMode="auto">
          <a:xfrm flipH="1">
            <a:off x="1075116" y="3466459"/>
            <a:ext cx="1874790" cy="119403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2B8E257-5297-8BD3-037D-98E80AA0BD31}"/>
              </a:ext>
            </a:extLst>
          </p:cNvPr>
          <p:cNvSpPr txBox="1"/>
          <p:nvPr/>
        </p:nvSpPr>
        <p:spPr bwMode="auto">
          <a:xfrm>
            <a:off x="428858" y="4379981"/>
            <a:ext cx="1292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OLED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C54A943-A44B-8A5C-7D70-BCEF3A030FA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835122" y="1643571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DF6FFB5-B40E-36A7-575E-706B204EF2C2}"/>
              </a:ext>
            </a:extLst>
          </p:cNvPr>
          <p:cNvSpPr txBox="1"/>
          <p:nvPr/>
        </p:nvSpPr>
        <p:spPr bwMode="auto">
          <a:xfrm>
            <a:off x="878758" y="1030269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TB6612 Motor Driver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138ACD1-83B5-5997-A429-C9DC38E40665}"/>
              </a:ext>
            </a:extLst>
          </p:cNvPr>
          <p:cNvCxnSpPr>
            <a:cxnSpLocks/>
          </p:cNvCxnSpPr>
          <p:nvPr/>
        </p:nvCxnSpPr>
        <p:spPr bwMode="auto">
          <a:xfrm flipH="1">
            <a:off x="1229032" y="4177401"/>
            <a:ext cx="2289387" cy="103702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CD26D10-D327-58D5-CEA3-FC0707FFB6C5}"/>
              </a:ext>
            </a:extLst>
          </p:cNvPr>
          <p:cNvSpPr txBox="1"/>
          <p:nvPr/>
        </p:nvSpPr>
        <p:spPr bwMode="auto">
          <a:xfrm>
            <a:off x="282677" y="5082624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Battery Connector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542FD16-7E2A-2225-B895-C355D3465132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174133" y="3004071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B1D721E-809D-8FAC-B261-DA2EE039B2C7}"/>
              </a:ext>
            </a:extLst>
          </p:cNvPr>
          <p:cNvSpPr txBox="1"/>
          <p:nvPr/>
        </p:nvSpPr>
        <p:spPr bwMode="auto">
          <a:xfrm>
            <a:off x="5984037" y="2700392"/>
            <a:ext cx="11148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18650 Battery Holder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9DCFD46-F509-18D2-24DA-483311176CE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562507" y="1452806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C31F39A-5CC7-D962-B249-E11D85D31554}"/>
              </a:ext>
            </a:extLst>
          </p:cNvPr>
          <p:cNvSpPr txBox="1"/>
          <p:nvPr/>
        </p:nvSpPr>
        <p:spPr bwMode="auto">
          <a:xfrm>
            <a:off x="6616706" y="996758"/>
            <a:ext cx="1114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Castor Wheel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C478D83-2B59-8FED-A1BC-B65C1B5034DD}"/>
              </a:ext>
            </a:extLst>
          </p:cNvPr>
          <p:cNvCxnSpPr>
            <a:cxnSpLocks/>
          </p:cNvCxnSpPr>
          <p:nvPr/>
        </p:nvCxnSpPr>
        <p:spPr bwMode="auto">
          <a:xfrm>
            <a:off x="8454088" y="4984084"/>
            <a:ext cx="335951" cy="919523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3182FB5-8310-F044-0DFA-CF12222DE065}"/>
              </a:ext>
            </a:extLst>
          </p:cNvPr>
          <p:cNvCxnSpPr>
            <a:cxnSpLocks/>
          </p:cNvCxnSpPr>
          <p:nvPr/>
        </p:nvCxnSpPr>
        <p:spPr bwMode="auto">
          <a:xfrm flipH="1">
            <a:off x="9409471" y="4946027"/>
            <a:ext cx="228531" cy="87075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092F50C-D9EF-8FAC-1427-D796DD473A09}"/>
              </a:ext>
            </a:extLst>
          </p:cNvPr>
          <p:cNvSpPr txBox="1"/>
          <p:nvPr/>
        </p:nvSpPr>
        <p:spPr bwMode="auto">
          <a:xfrm>
            <a:off x="8852044" y="5670892"/>
            <a:ext cx="1114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DC Motors</a:t>
            </a:r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0786DD4E-7012-E016-EA6F-AFE68A78C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07/12/2025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45A4BF8A-0E40-3C36-302B-967A06E2E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A24EA-A87A-4979-940E-A83EA2C27DA6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5860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6C33D-63F9-8BC0-F034-22093DC53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RCC08:Robot Car Control Using Bluetooth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FFF72-0FE1-6758-8847-CF72C0C02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</a:rPr>
              <a:t>Things Needed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F22F15-E288-B9C4-18BC-19003B39E3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0800000">
            <a:off x="7255674" y="1906828"/>
            <a:ext cx="2842812" cy="39041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7A0B6F-96E7-A7CE-D79C-06C7B54AEA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8486" y="1324966"/>
            <a:ext cx="1795010" cy="15740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14B8BB-C66F-04C6-A294-DB2D1F68FF74}"/>
              </a:ext>
            </a:extLst>
          </p:cNvPr>
          <p:cNvSpPr txBox="1"/>
          <p:nvPr/>
        </p:nvSpPr>
        <p:spPr bwMode="auto">
          <a:xfrm>
            <a:off x="7017811" y="6354223"/>
            <a:ext cx="3318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EE4D66-E8B5-0447-B2C6-79C89C8C32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868" y="2415266"/>
            <a:ext cx="5166808" cy="348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9045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CCC37-3ADD-4CF2-11EF-905B22CB1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7030A0"/>
                </a:solidFill>
              </a:rPr>
            </a:br>
            <a:r>
              <a:rPr lang="en-US" b="1" dirty="0">
                <a:solidFill>
                  <a:srgbClr val="7030A0"/>
                </a:solidFill>
              </a:rPr>
              <a:t>RCC08: Bluetooth Module HC05</a:t>
            </a:r>
            <a:br>
              <a:rPr lang="en-US" b="1" dirty="0">
                <a:solidFill>
                  <a:srgbClr val="7030A0"/>
                </a:solidFill>
              </a:rPr>
            </a:b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15E17-6AFB-1E6D-6D95-10FFFB1BD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F739AA-B2B4-8714-73F1-AC833717A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5</a:t>
            </a:fld>
            <a:endParaRPr lang="en-GB"/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AB3A9A2B-BAEF-EA7E-8147-8F46AF987F2D}"/>
              </a:ext>
            </a:extLst>
          </p:cNvPr>
          <p:cNvSpPr txBox="1"/>
          <p:nvPr/>
        </p:nvSpPr>
        <p:spPr bwMode="auto">
          <a:xfrm>
            <a:off x="6659109" y="4834285"/>
            <a:ext cx="57715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600" b="1" dirty="0">
                <a:solidFill>
                  <a:srgbClr val="FFFF00"/>
                </a:solidFill>
              </a:rPr>
              <a:t>Code for RCC08_Robot_Car_Control_Using_Bluetooth_Rx</a:t>
            </a:r>
            <a:r>
              <a:rPr lang="en-GB" sz="1600" b="1" dirty="0">
                <a:solidFill>
                  <a:srgbClr val="FFFF00"/>
                </a:solidFill>
              </a:rPr>
              <a:t>.</a:t>
            </a:r>
            <a:r>
              <a:rPr lang="en-GB" sz="1600" b="1" dirty="0" err="1">
                <a:solidFill>
                  <a:srgbClr val="FFFF00"/>
                </a:solidFill>
              </a:rPr>
              <a:t>ino</a:t>
            </a:r>
            <a:r>
              <a:rPr lang="en-GB" sz="1600" b="1" dirty="0">
                <a:solidFill>
                  <a:srgbClr val="FFFF00"/>
                </a:solidFill>
              </a:rPr>
              <a:t>):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7B0E19-0128-994A-59E6-277370339E8B}"/>
              </a:ext>
            </a:extLst>
          </p:cNvPr>
          <p:cNvSpPr txBox="1"/>
          <p:nvPr/>
        </p:nvSpPr>
        <p:spPr>
          <a:xfrm>
            <a:off x="6775859" y="5393410"/>
            <a:ext cx="4885191" cy="116955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00B0F0"/>
                </a:solidFill>
              </a:rPr>
              <a:t>https://github.com/info-zas/zas-robotics-car-2-communications/blob/main/01_FoundationProjects/RCC08_Robot_Car_Control_Using_Bluetooth/RCC08_Roboti_Car_Control_Using_Bluetooth_Rx/RCC08_Roboti_Car_Control_Using_Bluetooth_Rx.ino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FF7B5C5-B30F-DD83-BC74-3F9209532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844" y="3205395"/>
            <a:ext cx="5582265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</a:rPr>
              <a:t>Install the App ‘Arduino Bluetooth Control’ from Play Store on your Android Smart Phone.</a:t>
            </a:r>
          </a:p>
          <a:p>
            <a:pPr marL="0" indent="0">
              <a:buNone/>
            </a:pPr>
            <a:endParaRPr lang="en-GB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</a:rPr>
              <a:t>Remove the HC05 Bluetooth Module from the robot car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</a:rPr>
              <a:t>Upload the code </a:t>
            </a:r>
            <a:r>
              <a:rPr lang="en-US" b="1" dirty="0">
                <a:solidFill>
                  <a:srgbClr val="00B0F0"/>
                </a:solidFill>
              </a:rPr>
              <a:t>RCC08_Robot_Car_Control_Using_Bluetooth_Rx</a:t>
            </a:r>
            <a:r>
              <a:rPr lang="en-GB" b="1" dirty="0">
                <a:solidFill>
                  <a:srgbClr val="00B0F0"/>
                </a:solidFill>
              </a:rPr>
              <a:t>.</a:t>
            </a:r>
            <a:r>
              <a:rPr lang="en-GB" b="1" dirty="0" err="1">
                <a:solidFill>
                  <a:srgbClr val="00B0F0"/>
                </a:solidFill>
              </a:rPr>
              <a:t>ino</a:t>
            </a:r>
            <a:endParaRPr lang="en-GB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GB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</a:rPr>
              <a:t>Re-insert the HC05 Bluetooth Module in the car.</a:t>
            </a:r>
          </a:p>
          <a:p>
            <a:pPr marL="0" indent="0">
              <a:buNone/>
            </a:pPr>
            <a:endParaRPr lang="en-GB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GB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BF19BF-FC88-C2A8-6A85-DBF46E058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665" y="1257219"/>
            <a:ext cx="1767993" cy="1844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2FDFCF-DDB1-FEF9-B740-BAEAA1D556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859" y="1438940"/>
            <a:ext cx="4319476" cy="332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2991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3823B-52CE-DE6E-E14F-ED21C2376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RCC08: Bluetooth APP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3C53D-E47F-011D-F0AD-21D0971D0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C0CA05-8D7B-082F-2444-A5CF0B0AE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6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65798D-60DD-CF26-0B39-FFF5D17F6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452" y="1690688"/>
            <a:ext cx="1988992" cy="39475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D89391F-272C-71BF-BE48-59152FFF88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0" y="1492551"/>
            <a:ext cx="2339543" cy="434377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9053B81-64DB-442D-305B-D41E10322D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0170" y="1631357"/>
            <a:ext cx="2117609" cy="448472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8DB2CF9-8043-F2BD-CB9F-3110580DB4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1882" y="1387992"/>
            <a:ext cx="2476667" cy="484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9747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518C9-368E-0E43-45E8-C4E3839C4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5855"/>
            <a:ext cx="12378813" cy="1325563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RCC08:Robot Car Control Using Bluetooth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634AB-1C4B-60C0-2D59-5D116D886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E7FE76-63F9-7869-7204-EDD4C92C0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7</a:t>
            </a:fld>
            <a:endParaRPr lang="en-GB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BC9F936-8B00-EC14-7FEB-44F56343A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696" y="1624841"/>
            <a:ext cx="5850319" cy="3970318"/>
          </a:xfrm>
          <a:prstGeom prst="rect">
            <a:avLst/>
          </a:prstGeom>
          <a:noFill/>
          <a:ln w="28575">
            <a:solidFill>
              <a:srgbClr val="00B0F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b="1" dirty="0">
                <a:solidFill>
                  <a:srgbClr val="00B0F0"/>
                </a:solidFill>
              </a:rPr>
              <a:t>setup()</a:t>
            </a:r>
            <a:endParaRPr lang="en-GB" dirty="0">
              <a:solidFill>
                <a:srgbClr val="00B0F0"/>
              </a:solidFill>
            </a:endParaRPr>
          </a:p>
          <a:p>
            <a:r>
              <a:rPr lang="en-GB" dirty="0">
                <a:solidFill>
                  <a:srgbClr val="00B0F0"/>
                </a:solidFill>
              </a:rPr>
              <a:t>Init Serial communication at 9600 baud (HC-05 default)</a:t>
            </a:r>
          </a:p>
          <a:p>
            <a:r>
              <a:rPr lang="en-GB" dirty="0">
                <a:solidFill>
                  <a:srgbClr val="00B0F0"/>
                </a:solidFill>
              </a:rPr>
              <a:t>Configure motor control pins (IN1–IN4, ENA, ENB)</a:t>
            </a:r>
          </a:p>
          <a:p>
            <a:r>
              <a:rPr lang="en-GB" dirty="0">
                <a:solidFill>
                  <a:srgbClr val="00B0F0"/>
                </a:solidFill>
              </a:rPr>
              <a:t>Stop motors at startup</a:t>
            </a:r>
          </a:p>
          <a:p>
            <a:r>
              <a:rPr lang="en-GB" b="1" dirty="0">
                <a:solidFill>
                  <a:srgbClr val="00B0F0"/>
                </a:solidFill>
              </a:rPr>
              <a:t>loop()</a:t>
            </a:r>
            <a:endParaRPr lang="en-GB" dirty="0">
              <a:solidFill>
                <a:srgbClr val="00B0F0"/>
              </a:solidFill>
            </a:endParaRPr>
          </a:p>
          <a:p>
            <a:r>
              <a:rPr lang="en-GB" dirty="0">
                <a:solidFill>
                  <a:srgbClr val="00B0F0"/>
                </a:solidFill>
              </a:rPr>
              <a:t>Check for incoming Bluetooth data via Serial</a:t>
            </a:r>
          </a:p>
          <a:p>
            <a:r>
              <a:rPr lang="en-GB" dirty="0">
                <a:solidFill>
                  <a:srgbClr val="00B0F0"/>
                </a:solidFill>
              </a:rPr>
              <a:t>Read single-character command from mobile app</a:t>
            </a:r>
          </a:p>
          <a:p>
            <a:r>
              <a:rPr lang="en-GB" dirty="0">
                <a:solidFill>
                  <a:srgbClr val="00B0F0"/>
                </a:solidFill>
              </a:rPr>
              <a:t>Decode command and map to motion:</a:t>
            </a:r>
          </a:p>
          <a:p>
            <a:pPr lvl="1"/>
            <a:r>
              <a:rPr lang="en-GB" dirty="0">
                <a:solidFill>
                  <a:srgbClr val="00B0F0"/>
                </a:solidFill>
              </a:rPr>
              <a:t>F → Forward</a:t>
            </a:r>
          </a:p>
          <a:p>
            <a:pPr lvl="1"/>
            <a:r>
              <a:rPr lang="en-GB" dirty="0">
                <a:solidFill>
                  <a:srgbClr val="00B0F0"/>
                </a:solidFill>
              </a:rPr>
              <a:t>B → Backward</a:t>
            </a:r>
          </a:p>
          <a:p>
            <a:pPr lvl="1"/>
            <a:r>
              <a:rPr lang="en-GB" dirty="0">
                <a:solidFill>
                  <a:srgbClr val="00B0F0"/>
                </a:solidFill>
              </a:rPr>
              <a:t>L → Left</a:t>
            </a:r>
          </a:p>
          <a:p>
            <a:pPr lvl="1"/>
            <a:r>
              <a:rPr lang="en-GB" dirty="0">
                <a:solidFill>
                  <a:srgbClr val="00B0F0"/>
                </a:solidFill>
              </a:rPr>
              <a:t>R → Right</a:t>
            </a:r>
          </a:p>
          <a:p>
            <a:pPr lvl="1"/>
            <a:r>
              <a:rPr lang="en-GB" dirty="0">
                <a:solidFill>
                  <a:srgbClr val="00B0F0"/>
                </a:solidFill>
              </a:rPr>
              <a:t>S → Stop</a:t>
            </a:r>
          </a:p>
          <a:p>
            <a:r>
              <a:rPr lang="en-GB" dirty="0">
                <a:solidFill>
                  <a:srgbClr val="00B0F0"/>
                </a:solidFill>
              </a:rPr>
              <a:t>Drive motors using direction pins and PWM speed control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2688B5-11F8-78A8-B9C2-26746486310F}"/>
              </a:ext>
            </a:extLst>
          </p:cNvPr>
          <p:cNvSpPr txBox="1"/>
          <p:nvPr/>
        </p:nvSpPr>
        <p:spPr>
          <a:xfrm>
            <a:off x="5528186" y="1132398"/>
            <a:ext cx="63123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RCC08_Robot_Car_Control_Using_Bluetooth_Rx</a:t>
            </a:r>
            <a:r>
              <a:rPr lang="en-GB" b="1" dirty="0">
                <a:solidFill>
                  <a:srgbClr val="FFFF00"/>
                </a:solidFill>
              </a:rPr>
              <a:t>.</a:t>
            </a:r>
            <a:r>
              <a:rPr lang="en-GB" b="1" dirty="0" err="1">
                <a:solidFill>
                  <a:srgbClr val="FFFF00"/>
                </a:solidFill>
              </a:rPr>
              <a:t>ino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3752CF6B-46B9-C8F5-99D5-78EBFA615E3E}"/>
              </a:ext>
            </a:extLst>
          </p:cNvPr>
          <p:cNvSpPr txBox="1"/>
          <p:nvPr/>
        </p:nvSpPr>
        <p:spPr bwMode="auto">
          <a:xfrm>
            <a:off x="324465" y="4159713"/>
            <a:ext cx="57715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600" b="1" dirty="0">
                <a:solidFill>
                  <a:srgbClr val="FFFF00"/>
                </a:solidFill>
              </a:rPr>
              <a:t>Code for RCC08_Robot_Car_Control_Using_Bluetooth_Rx</a:t>
            </a:r>
            <a:r>
              <a:rPr lang="en-GB" sz="1600" b="1" dirty="0">
                <a:solidFill>
                  <a:srgbClr val="FFFF00"/>
                </a:solidFill>
              </a:rPr>
              <a:t>.</a:t>
            </a:r>
            <a:r>
              <a:rPr lang="en-GB" sz="1600" b="1" dirty="0" err="1">
                <a:solidFill>
                  <a:srgbClr val="FFFF00"/>
                </a:solidFill>
              </a:rPr>
              <a:t>ino</a:t>
            </a:r>
            <a:r>
              <a:rPr lang="en-GB" sz="1600" b="1" dirty="0">
                <a:solidFill>
                  <a:srgbClr val="FFFF00"/>
                </a:solidFill>
              </a:rPr>
              <a:t>):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15A49F-9A45-4697-03FD-A5E64B59183B}"/>
              </a:ext>
            </a:extLst>
          </p:cNvPr>
          <p:cNvSpPr txBox="1"/>
          <p:nvPr/>
        </p:nvSpPr>
        <p:spPr>
          <a:xfrm>
            <a:off x="441215" y="4718838"/>
            <a:ext cx="4885191" cy="116955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00B0F0"/>
                </a:solidFill>
              </a:rPr>
              <a:t>https://github.com/info-zas/zas-robotics-car-2-communications/blob/main/01_FoundationProjects/RCC08_Robot_Car_Control_Using_Bluetooth/RCC08_Roboti_Car_Control_Using_Bluetooth_Rx/RCC08_Roboti_Car_Control_Using_Bluetooth_Rx.ino</a:t>
            </a:r>
          </a:p>
        </p:txBody>
      </p:sp>
    </p:spTree>
    <p:extLst>
      <p:ext uri="{BB962C8B-B14F-4D97-AF65-F5344CB8AC3E}">
        <p14:creationId xmlns:p14="http://schemas.microsoft.com/office/powerpoint/2010/main" val="40190136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4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5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</TotalTime>
  <Words>452</Words>
  <Application>Microsoft Office PowerPoint</Application>
  <PresentationFormat>Widescreen</PresentationFormat>
  <Paragraphs>83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Calibri Light</vt:lpstr>
      <vt:lpstr>Office Theme</vt:lpstr>
      <vt:lpstr>Robot Car 2 (Wireless Communication Control) (RCC)</vt:lpstr>
      <vt:lpstr>Robot Car2 - Contents</vt:lpstr>
      <vt:lpstr>Robot Car2 - Contents</vt:lpstr>
      <vt:lpstr>RCC08:Robot Car Control Using Bluetooth</vt:lpstr>
      <vt:lpstr> RCC08: Bluetooth Module HC05 </vt:lpstr>
      <vt:lpstr>RCC08: Bluetooth APP</vt:lpstr>
      <vt:lpstr>RCC08:Robot Car Control Using Bluetooth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42</cp:revision>
  <dcterms:created xsi:type="dcterms:W3CDTF">2025-11-29T15:09:33Z</dcterms:created>
  <dcterms:modified xsi:type="dcterms:W3CDTF">2026-01-17T13:37:07Z</dcterms:modified>
</cp:coreProperties>
</file>