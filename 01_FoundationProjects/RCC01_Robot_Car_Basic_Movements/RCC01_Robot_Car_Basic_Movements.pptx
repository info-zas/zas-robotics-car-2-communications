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3.xml" ContentType="application/vnd.openxmlformats-officedocument.presentationml.notesSl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notesSlides/notesSlide4.xml" ContentType="application/vnd.openxmlformats-officedocument.presentationml.notesSl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  <p:sldMasterId id="2147483684" r:id="rId3"/>
  </p:sldMasterIdLst>
  <p:notesMasterIdLst>
    <p:notesMasterId r:id="rId35"/>
  </p:notesMasterIdLst>
  <p:sldIdLst>
    <p:sldId id="256" r:id="rId4"/>
    <p:sldId id="287" r:id="rId5"/>
    <p:sldId id="288" r:id="rId6"/>
    <p:sldId id="285" r:id="rId7"/>
    <p:sldId id="289" r:id="rId8"/>
    <p:sldId id="275" r:id="rId9"/>
    <p:sldId id="276" r:id="rId10"/>
    <p:sldId id="277" r:id="rId11"/>
    <p:sldId id="283" r:id="rId12"/>
    <p:sldId id="279" r:id="rId13"/>
    <p:sldId id="278" r:id="rId14"/>
    <p:sldId id="270" r:id="rId15"/>
    <p:sldId id="274" r:id="rId16"/>
    <p:sldId id="286" r:id="rId17"/>
    <p:sldId id="282" r:id="rId18"/>
    <p:sldId id="284" r:id="rId19"/>
    <p:sldId id="259" r:id="rId20"/>
    <p:sldId id="281" r:id="rId21"/>
    <p:sldId id="273" r:id="rId22"/>
    <p:sldId id="266" r:id="rId23"/>
    <p:sldId id="267" r:id="rId24"/>
    <p:sldId id="268" r:id="rId25"/>
    <p:sldId id="269" r:id="rId26"/>
    <p:sldId id="271" r:id="rId27"/>
    <p:sldId id="272" r:id="rId28"/>
    <p:sldId id="260" r:id="rId29"/>
    <p:sldId id="261" r:id="rId30"/>
    <p:sldId id="262" r:id="rId31"/>
    <p:sldId id="263" r:id="rId32"/>
    <p:sldId id="264" r:id="rId33"/>
    <p:sldId id="265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tableStyles" Target="tableStyles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presProps" Target="presProp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F9E1E9-E053-4818-89F0-4D281B166191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6C5A9F-E0C7-4312-8388-1E325D3BA4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5306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BBF9D-AC79-EB5E-03FC-7600DE12BF3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>
            <a:extLst>
              <a:ext uri="{FF2B5EF4-FFF2-40B4-BE49-F238E27FC236}">
                <a16:creationId xmlns:a16="http://schemas.microsoft.com/office/drawing/2014/main" id="{F123119F-6F80-FAA9-0FF2-519BECAE1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>
            <a:extLst>
              <a:ext uri="{FF2B5EF4-FFF2-40B4-BE49-F238E27FC236}">
                <a16:creationId xmlns:a16="http://schemas.microsoft.com/office/drawing/2014/main" id="{E3633158-1406-4F6D-6B94-0B14E809126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380102" name="Slide Number Placeholder 3">
            <a:extLst>
              <a:ext uri="{FF2B5EF4-FFF2-40B4-BE49-F238E27FC236}">
                <a16:creationId xmlns:a16="http://schemas.microsoft.com/office/drawing/2014/main" id="{EC6610E5-8732-05EC-EC87-837A91D001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13F677-0E1E-6F44-539B-EB19BF5D0C37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282464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70F2F-948D-0F65-D7F3-7FB555F3D5E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>
            <a:extLst>
              <a:ext uri="{FF2B5EF4-FFF2-40B4-BE49-F238E27FC236}">
                <a16:creationId xmlns:a16="http://schemas.microsoft.com/office/drawing/2014/main" id="{235F5BF2-276A-1551-56CD-05B6B026F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>
            <a:extLst>
              <a:ext uri="{FF2B5EF4-FFF2-40B4-BE49-F238E27FC236}">
                <a16:creationId xmlns:a16="http://schemas.microsoft.com/office/drawing/2014/main" id="{73AD26D3-6C00-C653-941B-133C8572E5D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/>
          </a:p>
        </p:txBody>
      </p:sp>
      <p:sp>
        <p:nvSpPr>
          <p:cNvPr id="1903380102" name="Slide Number Placeholder 3">
            <a:extLst>
              <a:ext uri="{FF2B5EF4-FFF2-40B4-BE49-F238E27FC236}">
                <a16:creationId xmlns:a16="http://schemas.microsoft.com/office/drawing/2014/main" id="{FC2F83E7-A1B5-B8A5-CC11-DC5606E3B1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13F677-0E1E-6F44-539B-EB19BF5D0C37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982791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F7C8939-3E88-5189-4BFF-33566C64303D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0CA908F-7FAB-24C7-0710-DFC59F62181A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801062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43331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6993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C401278-5463-3FBB-39EC-EA3E47386B1E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7C8939-3E88-5189-4BFF-33566C64303D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E24A1-B409-7574-744D-931D571B5957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F9C48C-55A4-7C71-98B9-605B71E525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AA77F-D851-5936-57D8-3FD47F3CC5D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6FF2C-82A5-C1B7-2114-AFC7753E94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9BFFD2-D2A5-E4FC-DCEE-980CA958B203}" type="slidenum">
              <a:rPr/>
              <a:t>18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653662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832388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44842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76713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C7A905-A7BD-99A6-93F6-E2967C0EA588}" type="slidenum">
              <a:rPr/>
              <a:t>20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221662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048534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71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7D42347-3609-AE03-F36C-FC34FCC72555}" type="slidenum">
              <a:rPr/>
              <a:t>21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33488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167841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89701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F5FBB-66D7-9EF0-C7B5-5C7D211EACA4}" type="slidenum">
              <a:rPr/>
              <a:t>22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231235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0742666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79635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66B4B94-7C55-2EB6-CDD0-E59D69E88D63}" type="slidenum">
              <a:rPr/>
              <a:t>23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454247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833806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6533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605338-B053-1AB3-7A62-AD6FA2DF4A04}" type="slidenum">
              <a:rPr/>
              <a:t>24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056125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4051816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10690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85AC9A-E1C6-9225-8C00-8FC5BE823A61}" type="slidenum">
              <a:rPr/>
              <a:t>25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1F3BE-512F-A9CE-900D-B6E0068F4D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11E759-8398-1C8B-4F38-3B5F5F3820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DDE8A-E854-1D1C-8B81-59D30458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4DB82-9D26-A4A7-DD71-B140CE7BA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D4B25-EB67-28E5-5C5F-D5789BB88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10060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58F54-B80F-E040-0537-D4AB53684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5052E-FBAF-9764-17B4-44EEDA19C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28461-73E6-DA43-A804-1BED2DEDC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C90D2-FEC4-8B98-89A9-8B863F908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767BA-0170-E4AA-D831-BE5F2B30C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45640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643F4-DF9D-3089-607F-F630042D2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EC6B38-3C8D-E9B6-AE09-3D4FB3A9E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396E3-1754-8F20-FFD6-495F35BE4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FECFE-EDD5-4401-2AE2-5CF0BEE56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E226EF-4679-CF6F-CF81-24B227602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0919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617A-463C-B0FA-843B-05D55BB41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0016E-78F1-F75B-BC93-791E453766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4ACE3-6B57-CC2B-E335-02B52C0EB5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BD783-A52E-0064-668C-D393154B0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6EDF47-CE09-3FD5-8ADD-0A6CFFA9A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EBE330-F483-EA66-3FEC-34BA5B610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5927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89D43-5E5B-48DD-A60B-FDDAC693B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6F32E-5382-7984-7E93-85C807443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618230-A817-7965-EFCB-0720B4ABC6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E3800D-524D-E9FD-E4E6-8A0324046C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48E2B-8B3B-4A12-8C05-6222B14B48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83518-B8B2-5C7F-CD0A-125EFA788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0EBAF-1066-8FE2-60BF-0AD28A94F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6C8C0-F362-9C7F-C203-EC0BF19B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1587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A044E-9B9D-6532-38C5-2548C08E3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C5C59B-7D5D-D630-8E28-4022FF766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96964E-2C9E-7926-8B63-80F95308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30FA47-9D75-E0FF-8FB3-0F9EF181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90736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268972-0D81-CE22-EDE6-5BD70E2B4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CF470F-F056-E314-B018-2C9E07E7F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2BD58-FE18-5B4B-0126-E111600D5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4412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1CF6-20E5-C8D0-55EF-0044CFF3B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13B3F-0A8A-88D7-368C-2C0D15C33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D8D0F0-7D28-2713-49F8-A122409C5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5D5A1-AB6A-3313-6D15-BF77B31EC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A49E29-6085-AC32-B97C-BE6FFEDD4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397273-FC10-830B-4EE1-EF7CBFF7E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2534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618FA-A510-D593-C2E8-A943D32C0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C86480-7067-230A-B3CE-415EF472B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C3E5E3-C685-17BB-99D4-CCE0E3B57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FCBDC-72D1-DA03-EEBB-12C473CA7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BEEE8-F749-3928-8336-8F0490C7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2A82A-58B8-B13C-BD66-5D340CA18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8170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1B81-8671-ED96-E3F5-C681FFE3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EFCA56-3F75-07CB-9FB7-F0F7B78EA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CC168-4ABB-D666-29C9-347EFF502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4C89C-E42B-0302-ED96-48D8638B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BADE0-9275-B9E0-72CF-A481D81CB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55067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ACC2B5-AAB4-6939-855D-759D3FB8B1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E0E091-D309-3C53-FAA0-94D42F52B9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CD9BE-9D56-0A3B-FC8E-767BBF1A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BC3CD-7309-6765-72C1-5982459D6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D70F7-1F47-1B7A-7B20-44E99C13A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38044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94838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2483304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11525440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053156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49511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0410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0397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8707084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4743855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9802565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462125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224738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6211022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2424059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9793119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269882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60747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35082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74042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7503605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916362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4736899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204065613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982523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28032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1514298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91458903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4470520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9699724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0884537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990823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8900540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4712903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16154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63497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524438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30626398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9740740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851971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657995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4455944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7525140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40843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45634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78213484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9144381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9228149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93017809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7449028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59194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56624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0452493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21280469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7994615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6458623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9130058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195264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906515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2907246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94417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3585041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14016785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666557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455797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8165240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84708329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21806836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2737700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56083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363898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26859662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62484196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99343476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1264609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663338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231880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9827232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71489920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68762987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60873274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24477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375224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44125676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4290529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93694648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4978645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15059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3637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7380486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8380627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12284726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2438575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03869209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82883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7902092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63301670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3983073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79357160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37725602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90929363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2064133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5714172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11166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11797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0641176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45559044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4868108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974168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065131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65670781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84853554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187048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105100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397981518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04341114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294927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30760033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87053239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821233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859001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30901074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55916414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0667818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801150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5969600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46776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412176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8208391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5278681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69677496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7685158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125272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232316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5752511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45320343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44170995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3597532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7350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0E771D-197D-29E2-0B81-12A4FAE2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599D2-8F60-BB7F-534F-CDB425A41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CE3F2-2023-C212-377A-F9A16C0525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D51BA1-F58B-40DF-9C13-73BC69DE2A80}" type="datetimeFigureOut">
              <a:rPr lang="en-GB" smtClean="0"/>
              <a:t>10/01/2026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9B2B7-BC4C-BF5C-4319-2E83B888F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2C4DCB-AAB0-5D1A-3349-E5C5C3E40D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9001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4501114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7414217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9321905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28789083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40911774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29711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1925858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03999621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738705793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44757819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3086872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03209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2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13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themeOverride" Target="../theme/themeOverride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13.xml"/><Relationship Id="rId1" Type="http://schemas.openxmlformats.org/officeDocument/2006/relationships/themeOverride" Target="../theme/themeOverride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themeOverride" Target="../theme/themeOverride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3.xml"/><Relationship Id="rId1" Type="http://schemas.openxmlformats.org/officeDocument/2006/relationships/themeOverride" Target="../theme/themeOverride6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3.xml"/><Relationship Id="rId1" Type="http://schemas.openxmlformats.org/officeDocument/2006/relationships/themeOverride" Target="../theme/themeOverride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13.xml"/><Relationship Id="rId1" Type="http://schemas.openxmlformats.org/officeDocument/2006/relationships/themeOverride" Target="../theme/themeOverride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jp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0772" y="665163"/>
            <a:ext cx="11434917" cy="2387600"/>
          </a:xfrm>
        </p:spPr>
        <p:txBody>
          <a:bodyPr>
            <a:normAutofit/>
          </a:bodyPr>
          <a:lstStyle/>
          <a:p>
            <a:r>
              <a:rPr lang="en-GB" sz="3600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Robot Car 2 (Wireless Communication Control) (RCC)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(Lesson Ref: RCC01)</a:t>
            </a:r>
          </a:p>
          <a:p>
            <a:r>
              <a:rPr lang="en-US" sz="3600" b="1" dirty="0">
                <a:solidFill>
                  <a:srgbClr val="7030A0"/>
                </a:solidFill>
              </a:rPr>
              <a:t>RCC01: Robot Car 2 Basic Movements</a:t>
            </a:r>
            <a:endParaRPr lang="en-GB" sz="3600" b="1" dirty="0">
              <a:solidFill>
                <a:srgbClr val="7030A0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F8A61-A0DD-1E95-4A27-EF5FD8DC6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GB"/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D94DA-C92E-EFF6-9BB4-6FD6B1B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F5A6A5-3841-4FBA-B455-67883EB3171A}" type="slidenum">
              <a:rPr lang="en-GB" smtClean="0"/>
              <a:t>1</a:t>
            </a:fld>
            <a:endParaRPr lang="en-GB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E9294-41F4-4FD5-344C-22E11DE3E5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3716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6B9BF-6D74-443A-76C3-97EF3DAA654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E8E0F4B-72B0-86C1-3711-2350992EA9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569262" y="954394"/>
            <a:ext cx="3603795" cy="4949212"/>
          </a:xfrm>
          <a:prstGeom prst="rect">
            <a:avLst/>
          </a:prstGeom>
        </p:spPr>
      </p:pic>
      <p:pic>
        <p:nvPicPr>
          <p:cNvPr id="1142226202" name="Picture 1">
            <a:extLst>
              <a:ext uri="{FF2B5EF4-FFF2-40B4-BE49-F238E27FC236}">
                <a16:creationId xmlns:a16="http://schemas.microsoft.com/office/drawing/2014/main" id="{1379F331-285B-3D09-F3A6-AD413147F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2A9224-77D5-CBC2-A311-9F1AFE07112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8973" y="1203334"/>
            <a:ext cx="3442943" cy="51138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5A342A23-27E6-A20A-F532-4A4707E1C61B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9011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Car2 -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B3964B-7F89-F1F5-5112-002C61B7E0B4}"/>
              </a:ext>
            </a:extLst>
          </p:cNvPr>
          <p:cNvSpPr txBox="1"/>
          <p:nvPr/>
        </p:nvSpPr>
        <p:spPr>
          <a:xfrm>
            <a:off x="1075116" y="6267235"/>
            <a:ext cx="4302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 (Front)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6517AF-8466-2862-14B7-C494B9B26549}"/>
              </a:ext>
            </a:extLst>
          </p:cNvPr>
          <p:cNvSpPr txBox="1"/>
          <p:nvPr/>
        </p:nvSpPr>
        <p:spPr bwMode="auto">
          <a:xfrm>
            <a:off x="6949053" y="6387324"/>
            <a:ext cx="42546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 (Back)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5F2FE22-E290-CF4E-2E75-96848852FB45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229032" y="2438400"/>
            <a:ext cx="1087911" cy="22380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195681-737C-1D0A-B09C-28835A4E828E}"/>
              </a:ext>
            </a:extLst>
          </p:cNvPr>
          <p:cNvSpPr txBox="1"/>
          <p:nvPr/>
        </p:nvSpPr>
        <p:spPr bwMode="auto">
          <a:xfrm>
            <a:off x="276745" y="1757445"/>
            <a:ext cx="12925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Car2 Receiver Motor Controller Board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31182C0-D51E-8556-950F-BED6EA293860}"/>
              </a:ext>
            </a:extLst>
          </p:cNvPr>
          <p:cNvCxnSpPr>
            <a:cxnSpLocks/>
          </p:cNvCxnSpPr>
          <p:nvPr/>
        </p:nvCxnSpPr>
        <p:spPr bwMode="auto">
          <a:xfrm flipH="1">
            <a:off x="973394" y="3500284"/>
            <a:ext cx="953729" cy="411606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EB3B5DA-94B7-E61C-D678-34BD4DC3C792}"/>
              </a:ext>
            </a:extLst>
          </p:cNvPr>
          <p:cNvSpPr txBox="1"/>
          <p:nvPr/>
        </p:nvSpPr>
        <p:spPr bwMode="auto">
          <a:xfrm>
            <a:off x="10884" y="355468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NRF 24L01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Receiver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CEC1F70-538E-36EA-5D0F-07649A3D67C8}"/>
              </a:ext>
            </a:extLst>
          </p:cNvPr>
          <p:cNvCxnSpPr>
            <a:cxnSpLocks/>
          </p:cNvCxnSpPr>
          <p:nvPr/>
        </p:nvCxnSpPr>
        <p:spPr bwMode="auto">
          <a:xfrm flipH="1">
            <a:off x="1075116" y="3466459"/>
            <a:ext cx="1874790" cy="119403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2B8E257-5297-8BD3-037D-98E80AA0BD31}"/>
              </a:ext>
            </a:extLst>
          </p:cNvPr>
          <p:cNvSpPr txBox="1"/>
          <p:nvPr/>
        </p:nvSpPr>
        <p:spPr bwMode="auto">
          <a:xfrm>
            <a:off x="428858" y="4379981"/>
            <a:ext cx="12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OLED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C54A943-A44B-8A5C-7D70-BCEF3A030FA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835122" y="1643571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F6FFB5-B40E-36A7-575E-706B204EF2C2}"/>
              </a:ext>
            </a:extLst>
          </p:cNvPr>
          <p:cNvSpPr txBox="1"/>
          <p:nvPr/>
        </p:nvSpPr>
        <p:spPr bwMode="auto">
          <a:xfrm>
            <a:off x="878758" y="1030269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TB6612 Motor Driver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138ACD1-83B5-5997-A429-C9DC38E40665}"/>
              </a:ext>
            </a:extLst>
          </p:cNvPr>
          <p:cNvCxnSpPr>
            <a:cxnSpLocks/>
          </p:cNvCxnSpPr>
          <p:nvPr/>
        </p:nvCxnSpPr>
        <p:spPr bwMode="auto">
          <a:xfrm flipH="1">
            <a:off x="1229032" y="4177401"/>
            <a:ext cx="2289387" cy="103702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CD26D10-D327-58D5-CEA3-FC0707FFB6C5}"/>
              </a:ext>
            </a:extLst>
          </p:cNvPr>
          <p:cNvSpPr txBox="1"/>
          <p:nvPr/>
        </p:nvSpPr>
        <p:spPr bwMode="auto">
          <a:xfrm>
            <a:off x="282677" y="5082624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Battery Connector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542FD16-7E2A-2225-B895-C355D346513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174133" y="3004071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B1D721E-809D-8FAC-B261-DA2EE039B2C7}"/>
              </a:ext>
            </a:extLst>
          </p:cNvPr>
          <p:cNvSpPr txBox="1"/>
          <p:nvPr/>
        </p:nvSpPr>
        <p:spPr bwMode="auto">
          <a:xfrm>
            <a:off x="5984037" y="2700392"/>
            <a:ext cx="11148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18650 Battery Holder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9DCFD46-F509-18D2-24DA-483311176CE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562507" y="1452806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C31F39A-5CC7-D962-B249-E11D85D31554}"/>
              </a:ext>
            </a:extLst>
          </p:cNvPr>
          <p:cNvSpPr txBox="1"/>
          <p:nvPr/>
        </p:nvSpPr>
        <p:spPr bwMode="auto">
          <a:xfrm>
            <a:off x="6616706" y="996758"/>
            <a:ext cx="1114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Castor Wheel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C478D83-2B59-8FED-A1BC-B65C1B5034DD}"/>
              </a:ext>
            </a:extLst>
          </p:cNvPr>
          <p:cNvCxnSpPr>
            <a:cxnSpLocks/>
          </p:cNvCxnSpPr>
          <p:nvPr/>
        </p:nvCxnSpPr>
        <p:spPr bwMode="auto">
          <a:xfrm>
            <a:off x="8454088" y="4984084"/>
            <a:ext cx="335951" cy="919523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3182FB5-8310-F044-0DFA-CF12222DE065}"/>
              </a:ext>
            </a:extLst>
          </p:cNvPr>
          <p:cNvCxnSpPr>
            <a:cxnSpLocks/>
          </p:cNvCxnSpPr>
          <p:nvPr/>
        </p:nvCxnSpPr>
        <p:spPr bwMode="auto">
          <a:xfrm flipH="1">
            <a:off x="9409471" y="4946027"/>
            <a:ext cx="228531" cy="87075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092F50C-D9EF-8FAC-1427-D796DD473A09}"/>
              </a:ext>
            </a:extLst>
          </p:cNvPr>
          <p:cNvSpPr txBox="1"/>
          <p:nvPr/>
        </p:nvSpPr>
        <p:spPr bwMode="auto">
          <a:xfrm>
            <a:off x="8852044" y="5670892"/>
            <a:ext cx="1114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DC Motors</a:t>
            </a:r>
          </a:p>
        </p:txBody>
      </p:sp>
      <p:sp>
        <p:nvSpPr>
          <p:cNvPr id="38" name="Date Placeholder 37">
            <a:extLst>
              <a:ext uri="{FF2B5EF4-FFF2-40B4-BE49-F238E27FC236}">
                <a16:creationId xmlns:a16="http://schemas.microsoft.com/office/drawing/2014/main" id="{0786DD4E-7012-E016-EA6F-AFE68A78C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39" name="Slide Number Placeholder 38">
            <a:extLst>
              <a:ext uri="{FF2B5EF4-FFF2-40B4-BE49-F238E27FC236}">
                <a16:creationId xmlns:a16="http://schemas.microsoft.com/office/drawing/2014/main" id="{45A4BF8A-0E40-3C36-302B-967A06E2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A24EA-A87A-4979-940E-A83EA2C27DA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558608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8BC6EF-45AC-6917-4732-1E59B98BBE25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D2E409F7-33F3-22DC-3ABC-779DEEDEECA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0237" y="1081554"/>
            <a:ext cx="3802472" cy="4860405"/>
          </a:xfrm>
          <a:prstGeom prst="rect">
            <a:avLst/>
          </a:prstGeom>
        </p:spPr>
      </p:pic>
      <p:pic>
        <p:nvPicPr>
          <p:cNvPr id="1142226202" name="Picture 1">
            <a:extLst>
              <a:ext uri="{FF2B5EF4-FFF2-40B4-BE49-F238E27FC236}">
                <a16:creationId xmlns:a16="http://schemas.microsoft.com/office/drawing/2014/main" id="{4DAD051F-4F75-DE05-99D8-8D674A2615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81E3F63-77A8-B54E-03A9-FDBCC9EBC5F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834" y="934063"/>
            <a:ext cx="4573176" cy="53536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ACF517-2C2F-9A6C-611F-FCF9BBC1DA81}"/>
              </a:ext>
            </a:extLst>
          </p:cNvPr>
          <p:cNvSpPr txBox="1"/>
          <p:nvPr/>
        </p:nvSpPr>
        <p:spPr bwMode="auto">
          <a:xfrm>
            <a:off x="914524" y="6269773"/>
            <a:ext cx="47115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(Front)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ADD1F7-802D-86E3-1CB7-4B66F2FEB48F}"/>
              </a:ext>
            </a:extLst>
          </p:cNvPr>
          <p:cNvSpPr txBox="1"/>
          <p:nvPr/>
        </p:nvSpPr>
        <p:spPr bwMode="auto">
          <a:xfrm>
            <a:off x="6801834" y="6396335"/>
            <a:ext cx="46634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(Back)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A210ECC-D6E1-28FC-2135-CB51EE1F8A7D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9011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Car2 -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5A66DAC-1F37-ADFD-613D-5FAD1CA9D10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98362" y="1737072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4026DC8-31C5-9852-EB53-CFFF24E87FFA}"/>
              </a:ext>
            </a:extLst>
          </p:cNvPr>
          <p:cNvSpPr txBox="1"/>
          <p:nvPr/>
        </p:nvSpPr>
        <p:spPr bwMode="auto">
          <a:xfrm>
            <a:off x="109752" y="116065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Bluetooth Connector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C59D367-9784-AACF-DFE7-E77FBE98184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927598" y="3304995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D7B8F10-1599-269F-23E5-7EC2D655586E}"/>
              </a:ext>
            </a:extLst>
          </p:cNvPr>
          <p:cNvSpPr txBox="1"/>
          <p:nvPr/>
        </p:nvSpPr>
        <p:spPr bwMode="auto">
          <a:xfrm>
            <a:off x="109752" y="2716673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Free Connector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5D9461-44A0-B01C-A926-630988EFB673}"/>
              </a:ext>
            </a:extLst>
          </p:cNvPr>
          <p:cNvSpPr txBox="1"/>
          <p:nvPr/>
        </p:nvSpPr>
        <p:spPr>
          <a:xfrm rot="21272357">
            <a:off x="1483504" y="3357724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92E881D-EC1E-9C30-1444-AC91365270AB}"/>
              </a:ext>
            </a:extLst>
          </p:cNvPr>
          <p:cNvCxnSpPr>
            <a:cxnSpLocks/>
          </p:cNvCxnSpPr>
          <p:nvPr/>
        </p:nvCxnSpPr>
        <p:spPr bwMode="auto">
          <a:xfrm flipH="1">
            <a:off x="1091001" y="4529329"/>
            <a:ext cx="546986" cy="258055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C6BBF06-35DA-DE62-B39A-D4D859A62A45}"/>
              </a:ext>
            </a:extLst>
          </p:cNvPr>
          <p:cNvSpPr txBox="1"/>
          <p:nvPr/>
        </p:nvSpPr>
        <p:spPr bwMode="auto">
          <a:xfrm>
            <a:off x="184397" y="4354723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Colour Sensor Connector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4E2C38A-3848-C212-1836-6988B7ECD5B8}"/>
              </a:ext>
            </a:extLst>
          </p:cNvPr>
          <p:cNvCxnSpPr>
            <a:cxnSpLocks/>
          </p:cNvCxnSpPr>
          <p:nvPr/>
        </p:nvCxnSpPr>
        <p:spPr bwMode="auto">
          <a:xfrm>
            <a:off x="2097000" y="4921737"/>
            <a:ext cx="134738" cy="42701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4E5A266-34C6-5AAB-CD14-F9738AB16436}"/>
              </a:ext>
            </a:extLst>
          </p:cNvPr>
          <p:cNvCxnSpPr>
            <a:cxnSpLocks/>
          </p:cNvCxnSpPr>
          <p:nvPr/>
        </p:nvCxnSpPr>
        <p:spPr bwMode="auto">
          <a:xfrm flipH="1">
            <a:off x="2652677" y="4839340"/>
            <a:ext cx="199148" cy="50940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6F688F5-2E06-717B-BC97-DCA20E433A80}"/>
              </a:ext>
            </a:extLst>
          </p:cNvPr>
          <p:cNvSpPr txBox="1"/>
          <p:nvPr/>
        </p:nvSpPr>
        <p:spPr bwMode="auto">
          <a:xfrm>
            <a:off x="2006419" y="5343537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Gesture Sensor 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D3A0FF2-2A86-22A1-2C28-E1B63CB6D7AF}"/>
              </a:ext>
            </a:extLst>
          </p:cNvPr>
          <p:cNvCxnSpPr>
            <a:cxnSpLocks/>
          </p:cNvCxnSpPr>
          <p:nvPr/>
        </p:nvCxnSpPr>
        <p:spPr bwMode="auto">
          <a:xfrm>
            <a:off x="3313916" y="5069168"/>
            <a:ext cx="555315" cy="383967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BBFC1EE-B7FA-CA95-9F22-FAC3A8B420BE}"/>
              </a:ext>
            </a:extLst>
          </p:cNvPr>
          <p:cNvSpPr txBox="1"/>
          <p:nvPr/>
        </p:nvSpPr>
        <p:spPr bwMode="auto">
          <a:xfrm>
            <a:off x="3612555" y="5450748"/>
            <a:ext cx="143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NRF 24L01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Transmitter</a:t>
            </a:r>
          </a:p>
        </p:txBody>
      </p:sp>
      <p:sp>
        <p:nvSpPr>
          <p:cNvPr id="33" name="Diamond 32">
            <a:extLst>
              <a:ext uri="{FF2B5EF4-FFF2-40B4-BE49-F238E27FC236}">
                <a16:creationId xmlns:a16="http://schemas.microsoft.com/office/drawing/2014/main" id="{72742C30-8228-BEAF-D3F8-5A042B5E12EC}"/>
              </a:ext>
            </a:extLst>
          </p:cNvPr>
          <p:cNvSpPr/>
          <p:nvPr/>
        </p:nvSpPr>
        <p:spPr>
          <a:xfrm rot="21395035">
            <a:off x="2177630" y="1529511"/>
            <a:ext cx="1188152" cy="1213287"/>
          </a:xfrm>
          <a:prstGeom prst="diamond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A58B798-285E-30AA-71B8-5A0329496F73}"/>
              </a:ext>
            </a:extLst>
          </p:cNvPr>
          <p:cNvCxnSpPr/>
          <p:nvPr/>
        </p:nvCxnSpPr>
        <p:spPr bwMode="auto">
          <a:xfrm>
            <a:off x="3106994" y="3621059"/>
            <a:ext cx="1915715" cy="13006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EE6A585-737A-0D05-6052-1001EBC5AAB2}"/>
              </a:ext>
            </a:extLst>
          </p:cNvPr>
          <p:cNvSpPr txBox="1"/>
          <p:nvPr/>
        </p:nvSpPr>
        <p:spPr bwMode="auto">
          <a:xfrm>
            <a:off x="4682164" y="4863077"/>
            <a:ext cx="1217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Joystick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E26D650-1B29-5CFF-8148-0113D0EDD31F}"/>
              </a:ext>
            </a:extLst>
          </p:cNvPr>
          <p:cNvCxnSpPr>
            <a:cxnSpLocks/>
          </p:cNvCxnSpPr>
          <p:nvPr/>
        </p:nvCxnSpPr>
        <p:spPr bwMode="auto">
          <a:xfrm>
            <a:off x="3869231" y="3716878"/>
            <a:ext cx="1305878" cy="8263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A019031-22C3-4624-8604-863F0144F71D}"/>
              </a:ext>
            </a:extLst>
          </p:cNvPr>
          <p:cNvSpPr txBox="1"/>
          <p:nvPr/>
        </p:nvSpPr>
        <p:spPr bwMode="auto">
          <a:xfrm>
            <a:off x="4993718" y="4098367"/>
            <a:ext cx="1785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Accelerometer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3C9C289-C0C7-19E0-BBB9-B4753BA1B359}"/>
              </a:ext>
            </a:extLst>
          </p:cNvPr>
          <p:cNvCxnSpPr>
            <a:cxnSpLocks/>
          </p:cNvCxnSpPr>
          <p:nvPr/>
        </p:nvCxnSpPr>
        <p:spPr bwMode="auto">
          <a:xfrm flipV="1">
            <a:off x="4138706" y="1694989"/>
            <a:ext cx="112062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E0F26A6-92A1-6A22-4545-B0A33BB0266F}"/>
              </a:ext>
            </a:extLst>
          </p:cNvPr>
          <p:cNvSpPr txBox="1"/>
          <p:nvPr/>
        </p:nvSpPr>
        <p:spPr bwMode="auto">
          <a:xfrm>
            <a:off x="5022709" y="1346416"/>
            <a:ext cx="1217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OLED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2D76E91-7FAE-B771-A34F-256E269381D6}"/>
              </a:ext>
            </a:extLst>
          </p:cNvPr>
          <p:cNvCxnSpPr>
            <a:cxnSpLocks/>
          </p:cNvCxnSpPr>
          <p:nvPr/>
        </p:nvCxnSpPr>
        <p:spPr bwMode="auto">
          <a:xfrm flipH="1">
            <a:off x="1279620" y="4270348"/>
            <a:ext cx="999512" cy="137453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E69107C6-1C56-1C2A-C8E9-650FB8D6668A}"/>
              </a:ext>
            </a:extLst>
          </p:cNvPr>
          <p:cNvSpPr txBox="1"/>
          <p:nvPr/>
        </p:nvSpPr>
        <p:spPr bwMode="auto">
          <a:xfrm>
            <a:off x="516885" y="538363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Mode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Button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2D8218-DF3F-25E6-234A-2AA0A37FD149}"/>
              </a:ext>
            </a:extLst>
          </p:cNvPr>
          <p:cNvSpPr txBox="1"/>
          <p:nvPr/>
        </p:nvSpPr>
        <p:spPr bwMode="auto">
          <a:xfrm rot="21342939">
            <a:off x="1962355" y="2747616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FF45831-2AAB-3EE3-18E1-2315FFCCE607}"/>
              </a:ext>
            </a:extLst>
          </p:cNvPr>
          <p:cNvCxnSpPr>
            <a:cxnSpLocks/>
          </p:cNvCxnSpPr>
          <p:nvPr/>
        </p:nvCxnSpPr>
        <p:spPr bwMode="auto">
          <a:xfrm flipV="1">
            <a:off x="2264319" y="2716673"/>
            <a:ext cx="2376163" cy="2803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B971BB06-04F7-CCAD-5BAC-2B87E582F882}"/>
              </a:ext>
            </a:extLst>
          </p:cNvPr>
          <p:cNvSpPr txBox="1"/>
          <p:nvPr/>
        </p:nvSpPr>
        <p:spPr bwMode="auto">
          <a:xfrm>
            <a:off x="4581605" y="2453954"/>
            <a:ext cx="1551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Mini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Breadboard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74562B1-2966-00D4-7F58-07E7AE3870AA}"/>
              </a:ext>
            </a:extLst>
          </p:cNvPr>
          <p:cNvCxnSpPr>
            <a:cxnSpLocks/>
          </p:cNvCxnSpPr>
          <p:nvPr/>
        </p:nvCxnSpPr>
        <p:spPr bwMode="auto">
          <a:xfrm flipV="1">
            <a:off x="9851137" y="2546319"/>
            <a:ext cx="78736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31AB61A-55EA-B316-64B9-C2B489F61A5E}"/>
              </a:ext>
            </a:extLst>
          </p:cNvPr>
          <p:cNvSpPr txBox="1"/>
          <p:nvPr/>
        </p:nvSpPr>
        <p:spPr bwMode="auto">
          <a:xfrm>
            <a:off x="10411450" y="1899988"/>
            <a:ext cx="1217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Arduino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Uno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42CFDBE-B119-D54E-77BD-E7263F90D98B}"/>
              </a:ext>
            </a:extLst>
          </p:cNvPr>
          <p:cNvCxnSpPr>
            <a:cxnSpLocks/>
          </p:cNvCxnSpPr>
          <p:nvPr/>
        </p:nvCxnSpPr>
        <p:spPr bwMode="auto">
          <a:xfrm flipV="1">
            <a:off x="9896434" y="4505045"/>
            <a:ext cx="78736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218E4578-BDDF-18A1-FC38-74107E7D9E32}"/>
              </a:ext>
            </a:extLst>
          </p:cNvPr>
          <p:cNvSpPr txBox="1"/>
          <p:nvPr/>
        </p:nvSpPr>
        <p:spPr bwMode="auto">
          <a:xfrm>
            <a:off x="10526484" y="4170714"/>
            <a:ext cx="11148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18650 Battery Holder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72C2589-87C7-BCD4-53B8-1F4D4FDB4D92}"/>
              </a:ext>
            </a:extLst>
          </p:cNvPr>
          <p:cNvCxnSpPr>
            <a:cxnSpLocks/>
          </p:cNvCxnSpPr>
          <p:nvPr/>
        </p:nvCxnSpPr>
        <p:spPr bwMode="auto">
          <a:xfrm flipV="1">
            <a:off x="2945240" y="1245237"/>
            <a:ext cx="507160" cy="58032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31B1F275-3BDA-A5AF-34FA-312B9A27DBF4}"/>
              </a:ext>
            </a:extLst>
          </p:cNvPr>
          <p:cNvSpPr txBox="1"/>
          <p:nvPr/>
        </p:nvSpPr>
        <p:spPr bwMode="auto">
          <a:xfrm>
            <a:off x="2865774" y="1024814"/>
            <a:ext cx="1843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Button Control</a:t>
            </a:r>
          </a:p>
        </p:txBody>
      </p:sp>
      <p:sp>
        <p:nvSpPr>
          <p:cNvPr id="59" name="Date Placeholder 58">
            <a:extLst>
              <a:ext uri="{FF2B5EF4-FFF2-40B4-BE49-F238E27FC236}">
                <a16:creationId xmlns:a16="http://schemas.microsoft.com/office/drawing/2014/main" id="{9D64FE2E-669A-76E1-4053-90C2C01E9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60" name="Slide Number Placeholder 59">
            <a:extLst>
              <a:ext uri="{FF2B5EF4-FFF2-40B4-BE49-F238E27FC236}">
                <a16:creationId xmlns:a16="http://schemas.microsoft.com/office/drawing/2014/main" id="{AAC12BB4-12AF-FD4C-AA80-7759419FA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A24EA-A87A-4979-940E-A83EA2C27DA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707018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6C33D-63F9-8BC0-F034-22093DC53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RCC01: Robot Car 2 Basic Movements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FFF72-0FE1-6758-8847-CF72C0C02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Things Needed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E3B6BB2-02A0-C333-F08A-07BCD25F3B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799157" y="1814089"/>
            <a:ext cx="3510197" cy="49800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A8E6832-164B-63D1-992D-505C092850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8513" y="3000975"/>
            <a:ext cx="2972058" cy="2606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9045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3620162" name="Title 1"/>
          <p:cNvSpPr>
            <a:spLocks noGrp="1"/>
          </p:cNvSpPr>
          <p:nvPr>
            <p:ph type="title"/>
          </p:nvPr>
        </p:nvSpPr>
        <p:spPr bwMode="auto">
          <a:xfrm>
            <a:off x="10884" y="-4988"/>
            <a:ext cx="10515600" cy="117827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Motor Driver Module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70597223" name="Picture 2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470025617" name="TextBox 10"/>
          <p:cNvSpPr txBox="1"/>
          <p:nvPr/>
        </p:nvSpPr>
        <p:spPr bwMode="auto">
          <a:xfrm>
            <a:off x="5255040" y="1326051"/>
            <a:ext cx="30543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8ECAE6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TB 6612 Motor Driver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sp>
        <p:nvSpPr>
          <p:cNvPr id="225172678" name="TextBox 11"/>
          <p:cNvSpPr txBox="1"/>
          <p:nvPr/>
        </p:nvSpPr>
        <p:spPr bwMode="auto">
          <a:xfrm>
            <a:off x="9235900" y="2150073"/>
            <a:ext cx="28616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8ECAE6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TT  DC Motor Driver</a:t>
            </a: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8ECAE6"/>
                </a:solidFill>
                <a:effectLst/>
                <a:uLnTx/>
                <a:uFillTx/>
                <a:latin typeface="Aptos"/>
                <a:cs typeface="Arial"/>
              </a:rPr>
              <a:t>(130 RPM, 6V)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pic>
        <p:nvPicPr>
          <p:cNvPr id="1574858720" name="Picture 7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787763" y="3172801"/>
            <a:ext cx="3025402" cy="2255715"/>
          </a:xfrm>
          <a:prstGeom prst="rect">
            <a:avLst/>
          </a:prstGeom>
        </p:spPr>
      </p:pic>
      <p:sp>
        <p:nvSpPr>
          <p:cNvPr id="2" name="TextBox 10">
            <a:extLst>
              <a:ext uri="{FF2B5EF4-FFF2-40B4-BE49-F238E27FC236}">
                <a16:creationId xmlns:a16="http://schemas.microsoft.com/office/drawing/2014/main" id="{8EBAC4C0-56E8-E7F6-E0C7-E651D6BDB022}"/>
              </a:ext>
            </a:extLst>
          </p:cNvPr>
          <p:cNvSpPr txBox="1"/>
          <p:nvPr/>
        </p:nvSpPr>
        <p:spPr bwMode="auto">
          <a:xfrm>
            <a:off x="1954758" y="4386179"/>
            <a:ext cx="244650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sng" strike="noStrike" kern="0" cap="none" spc="0" normalizeH="0" baseline="0" noProof="0" dirty="0">
                <a:ln>
                  <a:noFill/>
                </a:ln>
                <a:solidFill>
                  <a:srgbClr val="219EBC"/>
                </a:solidFill>
                <a:effectLst/>
                <a:uLnTx/>
                <a:uFillTx/>
                <a:latin typeface="Aptos"/>
                <a:cs typeface="Arial"/>
              </a:rPr>
              <a:t>Right</a:t>
            </a:r>
            <a:r>
              <a:rPr kumimoji="0" lang="en-GB" sz="1800" b="1" i="0" u="sng" strike="noStrike" kern="0" cap="none" spc="0" normalizeH="0" baseline="0" noProof="0" dirty="0">
                <a:ln>
                  <a:noFill/>
                </a:ln>
                <a:solidFill>
                  <a:srgbClr val="219EBC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 Motor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A-IN1 – Arduino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cs typeface="Arial"/>
              </a:rPr>
              <a:t>Un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o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3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A-IN2 – Arduino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cs typeface="Arial"/>
              </a:rPr>
              <a:t>Un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o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4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PWMA – Arduino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cs typeface="Arial"/>
              </a:rPr>
              <a:t>Un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o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5</a:t>
            </a: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69A929C4-ED20-68A7-042C-AC5A30024BA6}"/>
              </a:ext>
            </a:extLst>
          </p:cNvPr>
          <p:cNvSpPr txBox="1"/>
          <p:nvPr/>
        </p:nvSpPr>
        <p:spPr bwMode="auto">
          <a:xfrm>
            <a:off x="5562802" y="4386178"/>
            <a:ext cx="24961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sng" strike="noStrike" kern="0" cap="none" spc="0" normalizeH="0" baseline="0" noProof="0" dirty="0">
                <a:ln>
                  <a:noFill/>
                </a:ln>
                <a:solidFill>
                  <a:srgbClr val="219EBC"/>
                </a:solidFill>
                <a:effectLst/>
                <a:uLnTx/>
                <a:uFillTx/>
                <a:latin typeface="Aptos"/>
                <a:cs typeface="Arial"/>
              </a:rPr>
              <a:t>Left</a:t>
            </a:r>
            <a:r>
              <a:rPr kumimoji="0" lang="en-GB" sz="1800" b="1" i="0" u="sng" strike="noStrike" kern="0" cap="none" spc="0" normalizeH="0" baseline="0" noProof="0" dirty="0">
                <a:ln>
                  <a:noFill/>
                </a:ln>
                <a:solidFill>
                  <a:srgbClr val="219EBC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 Motor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B-IN1 – Arduino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cs typeface="Arial"/>
              </a:rPr>
              <a:t>Un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o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8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B-IN2 – Arduino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cs typeface="Arial"/>
              </a:rPr>
              <a:t>U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no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7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PWMB – Arduino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cs typeface="Arial"/>
              </a:rPr>
              <a:t>U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no 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srgbClr val="F9CB40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6</a:t>
            </a:r>
            <a:r>
              <a:rPr kumimoji="0" lang="en-GB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t> 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FB7F44-E7A1-E4DC-0785-E7D55AFFE1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806644" y="1664095"/>
            <a:ext cx="3043008" cy="2015237"/>
          </a:xfrm>
          <a:prstGeom prst="rect">
            <a:avLst/>
          </a:prstGeom>
        </p:spPr>
      </p:pic>
      <p:pic>
        <p:nvPicPr>
          <p:cNvPr id="5" name="Picture 6">
            <a:extLst>
              <a:ext uri="{FF2B5EF4-FFF2-40B4-BE49-F238E27FC236}">
                <a16:creationId xmlns:a16="http://schemas.microsoft.com/office/drawing/2014/main" id="{1224BDC8-2BDA-36F9-5286-4E85B0F3E3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5750128" y="1787716"/>
            <a:ext cx="1729890" cy="1767993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CF6E80A-353E-1AB1-FE80-067F9700F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3C5887-F42B-AB36-837B-EE54EE93B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9FCE3CD-8E5B-4FEB-BC1E-3D61BE3CC713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A9820-C1AB-5572-ABF5-B9562CEFA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b="1" dirty="0">
                <a:solidFill>
                  <a:srgbClr val="7030A0"/>
                </a:solidFill>
              </a:rPr>
            </a:br>
            <a:r>
              <a:rPr lang="en-US" b="1" dirty="0">
                <a:solidFill>
                  <a:srgbClr val="7030A0"/>
                </a:solidFill>
              </a:rPr>
              <a:t>RCC01: Robot Car 2 Basic Movements</a:t>
            </a:r>
            <a:br>
              <a:rPr lang="en-GB" b="1" dirty="0">
                <a:solidFill>
                  <a:srgbClr val="7030A0"/>
                </a:solidFill>
              </a:rPr>
            </a:b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9639C-AB62-73C2-DD9F-442CF3A9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Robot Car 2 Basic Movements:</a:t>
            </a:r>
            <a:br>
              <a:rPr lang="en-GB" dirty="0">
                <a:solidFill>
                  <a:srgbClr val="00B0F0"/>
                </a:solidFill>
              </a:rPr>
            </a:br>
            <a:endParaRPr lang="en-GB" dirty="0">
              <a:solidFill>
                <a:srgbClr val="00B0F0"/>
              </a:solidFill>
            </a:endParaRPr>
          </a:p>
          <a:p>
            <a:r>
              <a:rPr lang="en-GB" dirty="0">
                <a:solidFill>
                  <a:srgbClr val="00B0F0"/>
                </a:solidFill>
              </a:rPr>
              <a:t>Forward</a:t>
            </a:r>
          </a:p>
          <a:p>
            <a:r>
              <a:rPr lang="en-GB" dirty="0">
                <a:solidFill>
                  <a:srgbClr val="00B0F0"/>
                </a:solidFill>
              </a:rPr>
              <a:t>Backward</a:t>
            </a:r>
          </a:p>
          <a:p>
            <a:r>
              <a:rPr lang="en-GB" dirty="0">
                <a:solidFill>
                  <a:srgbClr val="00B0F0"/>
                </a:solidFill>
              </a:rPr>
              <a:t>Left</a:t>
            </a:r>
          </a:p>
          <a:p>
            <a:r>
              <a:rPr lang="en-GB" dirty="0">
                <a:solidFill>
                  <a:srgbClr val="00B0F0"/>
                </a:solidFill>
              </a:rPr>
              <a:t>Right</a:t>
            </a:r>
          </a:p>
          <a:p>
            <a:r>
              <a:rPr lang="en-GB" dirty="0">
                <a:solidFill>
                  <a:srgbClr val="00B0F0"/>
                </a:solidFill>
              </a:rPr>
              <a:t>Stop</a:t>
            </a:r>
          </a:p>
          <a:p>
            <a:endParaRPr lang="en-GB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26037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BECE2-01BC-ED9A-9A77-F2172F712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RCC01: Robot Car 2 Basic Movements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D0D22B-58E5-8CA6-2479-124C17F606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0641" y="1257907"/>
            <a:ext cx="3510197" cy="4980039"/>
          </a:xfrm>
          <a:prstGeom prst="rect">
            <a:avLst/>
          </a:prstGeom>
        </p:spPr>
      </p:pic>
      <p:sp>
        <p:nvSpPr>
          <p:cNvPr id="8" name="Rectangle 1">
            <a:extLst>
              <a:ext uri="{FF2B5EF4-FFF2-40B4-BE49-F238E27FC236}">
                <a16:creationId xmlns:a16="http://schemas.microsoft.com/office/drawing/2014/main" id="{86712AE8-A77B-F3C9-9DBC-14A7394E0B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664" y="1972496"/>
            <a:ext cx="6152322" cy="31085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 It is good practice to follow consistent </a:t>
            </a:r>
            <a:r>
              <a:rPr kumimoji="0" lang="en-US" altLang="en-US" sz="2800" b="0" i="1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orientation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terminology when navigating the car.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 As a guideline, we use the car’s orientation shown in this picture</a:t>
            </a:r>
            <a:r>
              <a:rPr lang="en-US" altLang="en-US" sz="2800" dirty="0">
                <a:solidFill>
                  <a:srgbClr val="00B0F0"/>
                </a:solidFill>
                <a:latin typeface="Arial" panose="020B0604020202020204" pitchFamily="34" charset="0"/>
              </a:rPr>
              <a:t>      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—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the car is facing away from you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1BFF1A-96F3-75C9-3304-08DD4D73286A}"/>
              </a:ext>
            </a:extLst>
          </p:cNvPr>
          <p:cNvSpPr txBox="1"/>
          <p:nvPr/>
        </p:nvSpPr>
        <p:spPr bwMode="auto">
          <a:xfrm>
            <a:off x="7763640" y="1431776"/>
            <a:ext cx="2924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Car’s FORWARD Direction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36D4AA-DCFA-2EDD-DEEA-CBEAB87A783D}"/>
              </a:ext>
            </a:extLst>
          </p:cNvPr>
          <p:cNvSpPr txBox="1"/>
          <p:nvPr/>
        </p:nvSpPr>
        <p:spPr bwMode="auto">
          <a:xfrm>
            <a:off x="7908153" y="6458786"/>
            <a:ext cx="3078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Car’s BACKWARD Direction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CE9D55-586B-2E36-F8B5-93FD2C8CA0C9}"/>
              </a:ext>
            </a:extLst>
          </p:cNvPr>
          <p:cNvSpPr txBox="1"/>
          <p:nvPr/>
        </p:nvSpPr>
        <p:spPr bwMode="auto">
          <a:xfrm rot="16200000">
            <a:off x="6336270" y="3536468"/>
            <a:ext cx="23086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Car’s LEFT Direction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9BB741-8127-CD03-897F-951E4B13F36C}"/>
              </a:ext>
            </a:extLst>
          </p:cNvPr>
          <p:cNvSpPr txBox="1"/>
          <p:nvPr/>
        </p:nvSpPr>
        <p:spPr bwMode="auto">
          <a:xfrm rot="5400000">
            <a:off x="9740755" y="3656290"/>
            <a:ext cx="248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/>
              <a:t>Car’s RIGHT Direction</a:t>
            </a:r>
          </a:p>
        </p:txBody>
      </p:sp>
    </p:spTree>
    <p:extLst>
      <p:ext uri="{BB962C8B-B14F-4D97-AF65-F5344CB8AC3E}">
        <p14:creationId xmlns:p14="http://schemas.microsoft.com/office/powerpoint/2010/main" val="37882030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3D6B32-D05A-5407-456A-749E616CAE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RCC01: Robot Car 2 Basic Movements</a:t>
            </a:r>
            <a:endParaRPr lang="en-GB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5790330-08BF-9F4F-5EA0-A72DD58AA71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23533537"/>
              </p:ext>
            </p:extLst>
          </p:nvPr>
        </p:nvGraphicFramePr>
        <p:xfrm>
          <a:off x="1019655" y="2123672"/>
          <a:ext cx="10410101" cy="290660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139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4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0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08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301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917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Movement Command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Motor (IN1 / IN2)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Motor (IN3 / IN4)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Speed (ENA / ENB)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Description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87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 = HIGH IN2 = LOW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IN3 = HIGH IN4 = LOW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 (0–255)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Both motors rotate forward at the same speed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6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BACKWARD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 = LOW IN2 = HIGH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IN3 = LOW IN4 = HIGH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 (0–255)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Both motors rotate backward at the same speed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17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TURN LEFT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 = LOW IN2 = HIGH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IN3 = HIGH IN4 = LOW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 (0–255)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motor backward, right motor forward (pivot turn)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TURN RIGHT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 = HIGH IN2 = LOW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IN3 = LOW IN4 = HIGH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 (0–255)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motor forward, right motor backward (pivot turn)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464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STOP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 = LOW IN2 = LOW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IN3 = LOW IN4 = LOW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Both motors disabled, no movement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27816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3206442" name="Title 1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192001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Lab 1:  Basic Movements</a:t>
            </a:r>
            <a:endParaRPr sz="4000" b="1" dirty="0">
              <a:solidFill>
                <a:schemeClr val="accent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9364B4-2240-D5AD-58C9-B17652C52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558435-332F-107D-CD94-BCBF0EFB6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9FCE3CD-8E5B-4FEB-BC1E-3D61BE3CC713}" type="slidenum">
              <a:rPr lang="en-GB" smtClean="0"/>
              <a:t>9</a:t>
            </a:fld>
            <a:endParaRPr lang="en-GB"/>
          </a:p>
        </p:txBody>
      </p:sp>
      <p:sp>
        <p:nvSpPr>
          <p:cNvPr id="1467460504" name="TextBox 3"/>
          <p:cNvSpPr txBox="1"/>
          <p:nvPr/>
        </p:nvSpPr>
        <p:spPr bwMode="auto">
          <a:xfrm>
            <a:off x="422818" y="1774094"/>
            <a:ext cx="4884671" cy="286232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it-IT" sz="1800" b="0" i="0" u="none" strike="noStrike" cap="none" spc="0" dirty="0">
                <a:ln>
                  <a:noFill/>
                </a:ln>
                <a:solidFill>
                  <a:srgbClr val="00B0F0"/>
                </a:solidFill>
                <a:latin typeface="Aptos"/>
                <a:ea typeface="+mn-ea"/>
                <a:cs typeface="+mn-cs"/>
              </a:rPr>
              <a:t>// ============== Pin 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srgbClr val="00B0F0"/>
                </a:solidFill>
                <a:latin typeface="Aptos"/>
                <a:ea typeface="+mn-ea"/>
                <a:cs typeface="+mn-cs"/>
              </a:rPr>
              <a:t>Definitions</a:t>
            </a:r>
            <a:r>
              <a:rPr lang="it-IT" sz="1800" b="0" i="0" u="none" strike="noStrike" cap="none" spc="0" dirty="0">
                <a:ln>
                  <a:noFill/>
                </a:ln>
                <a:solidFill>
                  <a:srgbClr val="00B0F0"/>
                </a:solidFill>
                <a:latin typeface="Aptos"/>
                <a:ea typeface="+mn-ea"/>
                <a:cs typeface="+mn-cs"/>
              </a:rPr>
              <a:t> ==========</a:t>
            </a:r>
            <a:endParaRPr dirty="0">
              <a:solidFill>
                <a:srgbClr val="00B0F0"/>
              </a:solidFill>
            </a:endParaRPr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it-IT" sz="1800" b="0" i="0" u="none" strike="noStrike" cap="none" spc="0" dirty="0">
                <a:ln>
                  <a:noFill/>
                </a:ln>
                <a:solidFill>
                  <a:srgbClr val="00B0F0"/>
                </a:solidFill>
                <a:highlight>
                  <a:srgbClr val="FF0000"/>
                </a:highlight>
                <a:latin typeface="Aptos"/>
                <a:ea typeface="+mn-ea"/>
                <a:cs typeface="+mn-cs"/>
              </a:rPr>
              <a:t>// Left Motor</a:t>
            </a:r>
            <a:endParaRPr dirty="0">
              <a:solidFill>
                <a:srgbClr val="00B0F0"/>
              </a:solidFill>
              <a:highlight>
                <a:srgbClr val="FF0000"/>
              </a:highlight>
            </a:endParaRPr>
          </a:p>
          <a:p>
            <a:pPr>
              <a:defRPr/>
            </a:pPr>
            <a:r>
              <a:rPr lang="en-US" dirty="0">
                <a:solidFill>
                  <a:srgbClr val="00B0F0"/>
                </a:solidFill>
              </a:rPr>
              <a:t>#define Left1 7</a:t>
            </a:r>
          </a:p>
          <a:p>
            <a:pPr>
              <a:defRPr/>
            </a:pPr>
            <a:r>
              <a:rPr lang="en-US" dirty="0">
                <a:solidFill>
                  <a:srgbClr val="00B0F0"/>
                </a:solidFill>
              </a:rPr>
              <a:t>#define Left2 8</a:t>
            </a:r>
          </a:p>
          <a:p>
            <a:pPr>
              <a:defRPr/>
            </a:pPr>
            <a:r>
              <a:rPr lang="en-US" dirty="0">
                <a:solidFill>
                  <a:srgbClr val="00B0F0"/>
                </a:solidFill>
              </a:rPr>
              <a:t>#define </a:t>
            </a:r>
            <a:r>
              <a:rPr lang="en-US" dirty="0" err="1">
                <a:solidFill>
                  <a:srgbClr val="00B0F0"/>
                </a:solidFill>
              </a:rPr>
              <a:t>Left_Speed</a:t>
            </a:r>
            <a:r>
              <a:rPr lang="en-US" dirty="0">
                <a:solidFill>
                  <a:srgbClr val="00B0F0"/>
                </a:solidFill>
              </a:rPr>
              <a:t> 6</a:t>
            </a:r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it-IT" sz="1800" b="0" i="0" u="none" strike="noStrike" cap="none" spc="0" dirty="0">
              <a:ln>
                <a:noFill/>
              </a:ln>
              <a:solidFill>
                <a:srgbClr val="00B0F0"/>
              </a:solidFill>
              <a:latin typeface="Aptos"/>
              <a:ea typeface="+mn-ea"/>
              <a:cs typeface="+mn-cs"/>
            </a:endParaRPr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it-IT" sz="1800" b="0" i="0" u="none" strike="noStrike" cap="none" spc="0" dirty="0">
                <a:ln>
                  <a:noFill/>
                </a:ln>
                <a:solidFill>
                  <a:srgbClr val="00B0F0"/>
                </a:solidFill>
                <a:highlight>
                  <a:srgbClr val="FF0000"/>
                </a:highlight>
                <a:latin typeface="Aptos"/>
                <a:ea typeface="+mn-ea"/>
                <a:cs typeface="+mn-cs"/>
              </a:rPr>
              <a:t>// </a:t>
            </a:r>
            <a:r>
              <a:rPr lang="it-IT" sz="1800" b="0" i="0" u="none" strike="noStrike" cap="none" spc="0" dirty="0" err="1">
                <a:ln>
                  <a:noFill/>
                </a:ln>
                <a:solidFill>
                  <a:srgbClr val="00B0F0"/>
                </a:solidFill>
                <a:highlight>
                  <a:srgbClr val="FF0000"/>
                </a:highlight>
                <a:latin typeface="Aptos"/>
                <a:ea typeface="+mn-ea"/>
                <a:cs typeface="+mn-cs"/>
              </a:rPr>
              <a:t>Right</a:t>
            </a:r>
            <a:r>
              <a:rPr lang="it-IT" sz="1800" b="0" i="0" u="none" strike="noStrike" cap="none" spc="0" dirty="0">
                <a:ln>
                  <a:noFill/>
                </a:ln>
                <a:solidFill>
                  <a:srgbClr val="00B0F0"/>
                </a:solidFill>
                <a:highlight>
                  <a:srgbClr val="FF0000"/>
                </a:highlight>
                <a:latin typeface="Aptos"/>
                <a:ea typeface="+mn-ea"/>
                <a:cs typeface="+mn-cs"/>
              </a:rPr>
              <a:t> Motor</a:t>
            </a:r>
            <a:endParaRPr dirty="0">
              <a:solidFill>
                <a:srgbClr val="00B0F0"/>
              </a:solidFill>
              <a:highlight>
                <a:srgbClr val="FF0000"/>
              </a:highlight>
            </a:endParaRPr>
          </a:p>
          <a:p>
            <a:pPr>
              <a:defRPr/>
            </a:pPr>
            <a:r>
              <a:rPr lang="en-US" dirty="0">
                <a:solidFill>
                  <a:srgbClr val="00B0F0"/>
                </a:solidFill>
              </a:rPr>
              <a:t>#define Right1 3</a:t>
            </a:r>
          </a:p>
          <a:p>
            <a:pPr>
              <a:defRPr/>
            </a:pPr>
            <a:r>
              <a:rPr lang="en-US" dirty="0">
                <a:solidFill>
                  <a:srgbClr val="00B0F0"/>
                </a:solidFill>
              </a:rPr>
              <a:t>#define Right2 4</a:t>
            </a:r>
          </a:p>
          <a:p>
            <a:pPr>
              <a:defRPr/>
            </a:pPr>
            <a:r>
              <a:rPr lang="en-US" dirty="0">
                <a:solidFill>
                  <a:srgbClr val="00B0F0"/>
                </a:solidFill>
              </a:rPr>
              <a:t>#define </a:t>
            </a:r>
            <a:r>
              <a:rPr lang="en-US" dirty="0" err="1">
                <a:solidFill>
                  <a:srgbClr val="00B0F0"/>
                </a:solidFill>
              </a:rPr>
              <a:t>Right_Speed</a:t>
            </a:r>
            <a:r>
              <a:rPr lang="en-US" dirty="0">
                <a:solidFill>
                  <a:srgbClr val="00B0F0"/>
                </a:solidFill>
              </a:rPr>
              <a:t> 5</a:t>
            </a:r>
          </a:p>
        </p:txBody>
      </p:sp>
      <p:sp>
        <p:nvSpPr>
          <p:cNvPr id="1477010180" name="TextBox 4"/>
          <p:cNvSpPr txBox="1"/>
          <p:nvPr/>
        </p:nvSpPr>
        <p:spPr bwMode="auto">
          <a:xfrm>
            <a:off x="5965371" y="1774094"/>
            <a:ext cx="595448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3600" b="1" i="0" u="none" strike="noStrike" cap="none" spc="0" dirty="0">
                <a:ln>
                  <a:noFill/>
                </a:ln>
                <a:solidFill>
                  <a:srgbClr val="00B0F0"/>
                </a:solidFill>
                <a:latin typeface="Aptos"/>
                <a:ea typeface="+mn-ea"/>
                <a:cs typeface="+mn-cs"/>
              </a:rPr>
              <a:t>Please test each direction in isolation</a:t>
            </a:r>
            <a:endParaRPr lang="en-GB" sz="1800" b="0" i="0" u="none" strike="noStrike" cap="none" spc="0" dirty="0">
              <a:ln>
                <a:noFill/>
              </a:ln>
              <a:solidFill>
                <a:srgbClr val="00B0F0"/>
              </a:solidFill>
              <a:latin typeface="Aptos"/>
              <a:ea typeface="+mn-ea"/>
              <a:cs typeface="+mn-cs"/>
            </a:endParaRPr>
          </a:p>
          <a:p>
            <a:pPr marL="742950" marR="0" lvl="1" indent="-28575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GB" sz="2400" b="0" i="0" u="none" strike="noStrike" cap="none" spc="0" dirty="0">
                <a:ln>
                  <a:noFill/>
                </a:ln>
                <a:solidFill>
                  <a:srgbClr val="00B0F0"/>
                </a:solidFill>
                <a:latin typeface="Aptos"/>
                <a:ea typeface="+mn-ea"/>
                <a:cs typeface="+mn-cs"/>
              </a:rPr>
              <a:t>Forward</a:t>
            </a:r>
            <a:endParaRPr dirty="0">
              <a:solidFill>
                <a:srgbClr val="00B0F0"/>
              </a:solidFill>
            </a:endParaRPr>
          </a:p>
          <a:p>
            <a:pPr marL="742950" marR="0" lvl="1" indent="-28575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GB" sz="2400" b="0" i="0" u="none" strike="noStrike" cap="none" spc="0" dirty="0">
                <a:ln>
                  <a:noFill/>
                </a:ln>
                <a:solidFill>
                  <a:srgbClr val="00B0F0"/>
                </a:solidFill>
                <a:latin typeface="Aptos"/>
                <a:ea typeface="+mn-ea"/>
                <a:cs typeface="+mn-cs"/>
              </a:rPr>
              <a:t>Backward</a:t>
            </a:r>
            <a:endParaRPr dirty="0">
              <a:solidFill>
                <a:srgbClr val="00B0F0"/>
              </a:solidFill>
            </a:endParaRPr>
          </a:p>
          <a:p>
            <a:pPr marL="742950" marR="0" lvl="1" indent="-28575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GB" sz="2400" b="0" i="0" u="none" strike="noStrike" cap="none" spc="0" dirty="0">
                <a:ln>
                  <a:noFill/>
                </a:ln>
                <a:solidFill>
                  <a:srgbClr val="00B0F0"/>
                </a:solidFill>
                <a:latin typeface="Aptos"/>
                <a:ea typeface="+mn-ea"/>
                <a:cs typeface="+mn-cs"/>
              </a:rPr>
              <a:t>Left</a:t>
            </a:r>
            <a:endParaRPr dirty="0">
              <a:solidFill>
                <a:srgbClr val="00B0F0"/>
              </a:solidFill>
            </a:endParaRPr>
          </a:p>
          <a:p>
            <a:pPr marL="742950" marR="0" lvl="1" indent="-28575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GB" sz="2400" b="0" i="0" u="none" strike="noStrike" cap="none" spc="0" dirty="0">
                <a:ln>
                  <a:noFill/>
                </a:ln>
                <a:solidFill>
                  <a:srgbClr val="00B0F0"/>
                </a:solidFill>
                <a:latin typeface="Aptos"/>
                <a:ea typeface="+mn-ea"/>
                <a:cs typeface="+mn-cs"/>
              </a:rPr>
              <a:t>Right</a:t>
            </a:r>
            <a:endParaRPr dirty="0">
              <a:solidFill>
                <a:srgbClr val="00B0F0"/>
              </a:solidFill>
            </a:endParaRPr>
          </a:p>
        </p:txBody>
      </p:sp>
      <p:pic>
        <p:nvPicPr>
          <p:cNvPr id="223090054" name="Picture 5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99222827" name="TextBox 9"/>
          <p:cNvSpPr txBox="1"/>
          <p:nvPr/>
        </p:nvSpPr>
        <p:spPr bwMode="auto">
          <a:xfrm>
            <a:off x="832542" y="4617562"/>
            <a:ext cx="102656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2400" b="1" i="0" u="none" strike="noStrike" cap="none" spc="0">
                <a:ln>
                  <a:noFill/>
                </a:ln>
                <a:solidFill>
                  <a:srgbClr val="FF715B"/>
                </a:solidFill>
                <a:latin typeface="Aptos"/>
                <a:ea typeface="+mn-ea"/>
                <a:cs typeface="+mn-cs"/>
              </a:rPr>
              <a:t>If incorrect direction,</a:t>
            </a:r>
            <a:r>
              <a:rPr lang="en-GB" sz="2400" b="1" i="0" u="none" strike="noStrike" cap="none" spc="0">
                <a:ln>
                  <a:noFill/>
                </a:ln>
                <a:solidFill>
                  <a:srgbClr val="F9CB40"/>
                </a:solidFill>
                <a:latin typeface="Aptos"/>
                <a:ea typeface="+mn-ea"/>
                <a:cs typeface="+mn-cs"/>
              </a:rPr>
              <a:t> then swap IN1/IN2 pins of the corresponding motor</a:t>
            </a:r>
            <a:endParaRPr/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GB" sz="2400" b="1" i="0" u="none" strike="noStrike" cap="none" spc="0">
              <a:ln>
                <a:noFill/>
              </a:ln>
              <a:solidFill>
                <a:srgbClr val="F9CB40"/>
              </a:solidFill>
              <a:latin typeface="Aptos"/>
              <a:ea typeface="+mn-ea"/>
              <a:cs typeface="+mn-cs"/>
            </a:endParaRPr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2400" b="1" i="0" u="none" strike="noStrike" cap="none" spc="0">
                <a:ln>
                  <a:noFill/>
                </a:ln>
                <a:solidFill>
                  <a:srgbClr val="FF715B"/>
                </a:solidFill>
                <a:latin typeface="Aptos"/>
                <a:ea typeface="+mn-ea"/>
                <a:cs typeface="+mn-cs"/>
              </a:rPr>
              <a:t>Expected Output:</a:t>
            </a:r>
            <a:r>
              <a:rPr lang="en-GB" sz="2400" b="1" i="0" u="none" strike="noStrike" cap="none" spc="0">
                <a:ln>
                  <a:noFill/>
                </a:ln>
                <a:solidFill>
                  <a:srgbClr val="F9CB40"/>
                </a:solidFill>
                <a:latin typeface="Aptos"/>
                <a:ea typeface="+mn-ea"/>
                <a:cs typeface="+mn-cs"/>
              </a:rPr>
              <a:t> The car moves in the desired direction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AB922-3F54-A244-3F88-D2A3B10E8F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RCC01: Robot Car 2 Basic Movements</a:t>
            </a:r>
            <a:endParaRPr lang="en-GB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69CC623-13CA-EAE6-C22C-AFF05298B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23" y="1253331"/>
            <a:ext cx="7155426" cy="4351338"/>
          </a:xfrm>
        </p:spPr>
        <p:txBody>
          <a:bodyPr>
            <a:noAutofit/>
          </a:bodyPr>
          <a:lstStyle/>
          <a:p>
            <a:r>
              <a:rPr lang="en-GB" sz="1400" b="1" dirty="0">
                <a:solidFill>
                  <a:srgbClr val="00B0F0"/>
                </a:solidFill>
              </a:rPr>
              <a:t>Forward</a:t>
            </a:r>
          </a:p>
          <a:p>
            <a:pPr lvl="1"/>
            <a:r>
              <a:rPr lang="en-GB" sz="1400" b="1" dirty="0">
                <a:solidFill>
                  <a:srgbClr val="00B0F0"/>
                </a:solidFill>
              </a:rPr>
              <a:t>First check </a:t>
            </a:r>
            <a:r>
              <a:rPr lang="en-GB" sz="1400" b="1" dirty="0">
                <a:solidFill>
                  <a:schemeClr val="accent4">
                    <a:lumMod val="75000"/>
                  </a:schemeClr>
                </a:solidFill>
              </a:rPr>
              <a:t>left motor forward </a:t>
            </a:r>
            <a:r>
              <a:rPr lang="en-GB" sz="1400" b="1" dirty="0">
                <a:solidFill>
                  <a:srgbClr val="00B0F0"/>
                </a:solidFill>
              </a:rPr>
              <a:t>code</a:t>
            </a:r>
          </a:p>
          <a:p>
            <a:pPr lvl="2"/>
            <a:r>
              <a:rPr lang="en-GB" sz="1400" b="1" dirty="0">
                <a:solidFill>
                  <a:srgbClr val="00B0F0"/>
                </a:solidFill>
              </a:rPr>
              <a:t>if not the correct motor, modify the pin assignments of left and right motors</a:t>
            </a:r>
          </a:p>
          <a:p>
            <a:pPr lvl="2"/>
            <a:r>
              <a:rPr lang="en-GB" sz="1400" b="1" dirty="0">
                <a:solidFill>
                  <a:srgbClr val="00B0F0"/>
                </a:solidFill>
              </a:rPr>
              <a:t>If not the correct direction, swap the pin assignments of left motor</a:t>
            </a:r>
          </a:p>
          <a:p>
            <a:pPr lvl="2"/>
            <a:r>
              <a:rPr lang="en-GB" sz="1400" b="1" dirty="0">
                <a:solidFill>
                  <a:srgbClr val="00B0F0"/>
                </a:solidFill>
              </a:rPr>
              <a:t>Code: </a:t>
            </a:r>
          </a:p>
          <a:p>
            <a:pPr lvl="1"/>
            <a:r>
              <a:rPr lang="en-GB" sz="1400" b="1" dirty="0">
                <a:solidFill>
                  <a:srgbClr val="00B0F0"/>
                </a:solidFill>
              </a:rPr>
              <a:t>Now check the </a:t>
            </a:r>
            <a:r>
              <a:rPr lang="en-GB" sz="1400" b="1" dirty="0">
                <a:solidFill>
                  <a:schemeClr val="accent4">
                    <a:lumMod val="75000"/>
                  </a:schemeClr>
                </a:solidFill>
              </a:rPr>
              <a:t>right motor forward </a:t>
            </a:r>
            <a:r>
              <a:rPr lang="en-GB" sz="1400" b="1" dirty="0">
                <a:solidFill>
                  <a:srgbClr val="00B0F0"/>
                </a:solidFill>
              </a:rPr>
              <a:t>code:</a:t>
            </a:r>
          </a:p>
          <a:p>
            <a:pPr lvl="2"/>
            <a:r>
              <a:rPr lang="en-GB" sz="1400" b="1" dirty="0">
                <a:solidFill>
                  <a:srgbClr val="00B0F0"/>
                </a:solidFill>
              </a:rPr>
              <a:t>If not the correct direction, swap the pin assignments of right motor</a:t>
            </a:r>
          </a:p>
          <a:p>
            <a:pPr lvl="2"/>
            <a:r>
              <a:rPr lang="en-GB" sz="1400" b="1" dirty="0">
                <a:solidFill>
                  <a:srgbClr val="00B0F0"/>
                </a:solidFill>
              </a:rPr>
              <a:t>Code:</a:t>
            </a:r>
          </a:p>
          <a:p>
            <a:r>
              <a:rPr lang="en-GB" sz="1400" b="1" dirty="0">
                <a:solidFill>
                  <a:srgbClr val="00B0F0"/>
                </a:solidFill>
              </a:rPr>
              <a:t>Backward</a:t>
            </a:r>
          </a:p>
          <a:p>
            <a:pPr lvl="2"/>
            <a:r>
              <a:rPr lang="en-GB" sz="1400" b="1" dirty="0">
                <a:solidFill>
                  <a:srgbClr val="00B0F0"/>
                </a:solidFill>
              </a:rPr>
              <a:t>Add the </a:t>
            </a:r>
            <a:r>
              <a:rPr lang="en-GB" sz="1400" b="1" dirty="0">
                <a:solidFill>
                  <a:schemeClr val="accent4">
                    <a:lumMod val="75000"/>
                  </a:schemeClr>
                </a:solidFill>
              </a:rPr>
              <a:t>backward</a:t>
            </a:r>
            <a:r>
              <a:rPr lang="en-GB" sz="1400" b="1" dirty="0">
                <a:solidFill>
                  <a:srgbClr val="00B0F0"/>
                </a:solidFill>
              </a:rPr>
              <a:t> functionality to the code.</a:t>
            </a:r>
          </a:p>
          <a:p>
            <a:pPr lvl="2"/>
            <a:r>
              <a:rPr lang="en-GB" sz="1400" b="1" dirty="0">
                <a:solidFill>
                  <a:srgbClr val="00B0F0"/>
                </a:solidFill>
              </a:rPr>
              <a:t>Code: </a:t>
            </a:r>
          </a:p>
          <a:p>
            <a:r>
              <a:rPr lang="en-GB" sz="1400" b="1" dirty="0">
                <a:solidFill>
                  <a:srgbClr val="00B0F0"/>
                </a:solidFill>
              </a:rPr>
              <a:t>Left</a:t>
            </a:r>
          </a:p>
          <a:p>
            <a:pPr lvl="2"/>
            <a:r>
              <a:rPr lang="en-GB" sz="1400" b="1" dirty="0">
                <a:solidFill>
                  <a:srgbClr val="00B0F0"/>
                </a:solidFill>
              </a:rPr>
              <a:t>Now add the </a:t>
            </a:r>
            <a:r>
              <a:rPr lang="en-GB" sz="1400" b="1" dirty="0">
                <a:solidFill>
                  <a:schemeClr val="accent4">
                    <a:lumMod val="75000"/>
                  </a:schemeClr>
                </a:solidFill>
              </a:rPr>
              <a:t>left </a:t>
            </a:r>
            <a:r>
              <a:rPr lang="en-GB" sz="1400" b="1" dirty="0">
                <a:solidFill>
                  <a:srgbClr val="00B0F0"/>
                </a:solidFill>
              </a:rPr>
              <a:t>turn code</a:t>
            </a:r>
          </a:p>
          <a:p>
            <a:pPr lvl="2"/>
            <a:r>
              <a:rPr lang="en-GB" sz="1400" b="1" dirty="0">
                <a:solidFill>
                  <a:srgbClr val="00B0F0"/>
                </a:solidFill>
              </a:rPr>
              <a:t>Code: </a:t>
            </a:r>
          </a:p>
          <a:p>
            <a:r>
              <a:rPr lang="en-GB" sz="1400" b="1" dirty="0">
                <a:solidFill>
                  <a:srgbClr val="00B0F0"/>
                </a:solidFill>
              </a:rPr>
              <a:t> Right</a:t>
            </a:r>
          </a:p>
          <a:p>
            <a:pPr lvl="2"/>
            <a:r>
              <a:rPr lang="en-GB" sz="1400" b="1" dirty="0">
                <a:solidFill>
                  <a:srgbClr val="00B0F0"/>
                </a:solidFill>
              </a:rPr>
              <a:t>Now add the</a:t>
            </a:r>
            <a:r>
              <a:rPr lang="en-GB" sz="1400" b="1" dirty="0">
                <a:solidFill>
                  <a:schemeClr val="accent4">
                    <a:lumMod val="75000"/>
                  </a:schemeClr>
                </a:solidFill>
              </a:rPr>
              <a:t> right </a:t>
            </a:r>
            <a:r>
              <a:rPr lang="en-GB" sz="1400" b="1" dirty="0">
                <a:solidFill>
                  <a:srgbClr val="00B0F0"/>
                </a:solidFill>
              </a:rPr>
              <a:t>turn code</a:t>
            </a:r>
          </a:p>
          <a:p>
            <a:pPr lvl="2"/>
            <a:r>
              <a:rPr lang="en-GB" sz="1400" b="1" dirty="0">
                <a:solidFill>
                  <a:srgbClr val="00B0F0"/>
                </a:solidFill>
              </a:rPr>
              <a:t>Code: </a:t>
            </a:r>
          </a:p>
          <a:p>
            <a:r>
              <a:rPr lang="en-GB" sz="1400" b="1" dirty="0">
                <a:solidFill>
                  <a:srgbClr val="00B0F0"/>
                </a:solidFill>
              </a:rPr>
              <a:t>Stop</a:t>
            </a:r>
          </a:p>
          <a:p>
            <a:pPr lvl="2"/>
            <a:r>
              <a:rPr lang="en-GB" sz="1400" b="1" dirty="0">
                <a:solidFill>
                  <a:srgbClr val="00B0F0"/>
                </a:solidFill>
              </a:rPr>
              <a:t>Add the </a:t>
            </a:r>
            <a:r>
              <a:rPr lang="en-GB" sz="1400" b="1" dirty="0">
                <a:solidFill>
                  <a:schemeClr val="accent4">
                    <a:lumMod val="75000"/>
                  </a:schemeClr>
                </a:solidFill>
              </a:rPr>
              <a:t>stop</a:t>
            </a:r>
            <a:r>
              <a:rPr lang="en-GB" sz="1400" b="1" dirty="0">
                <a:solidFill>
                  <a:srgbClr val="00B0F0"/>
                </a:solidFill>
              </a:rPr>
              <a:t> code</a:t>
            </a:r>
          </a:p>
          <a:p>
            <a:endParaRPr lang="en-GB" sz="1400" b="1" dirty="0">
              <a:solidFill>
                <a:srgbClr val="00B0F0"/>
              </a:solidFill>
            </a:endParaRPr>
          </a:p>
          <a:p>
            <a:endParaRPr lang="en-GB" sz="1400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5923289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7F6A7-CC88-15EB-9483-ABD150F8D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RCC01: Robot Car 2 Basic Movements</a:t>
            </a: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89F729-D85E-D69A-E969-D18434C667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61500" y="1538181"/>
            <a:ext cx="2606806" cy="5061722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6283722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4720314" name="Title 1"/>
          <p:cNvSpPr>
            <a:spLocks noGrp="1"/>
          </p:cNvSpPr>
          <p:nvPr>
            <p:ph type="title"/>
          </p:nvPr>
        </p:nvSpPr>
        <p:spPr bwMode="auto">
          <a:xfrm>
            <a:off x="295034" y="-232065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 dirty="0">
                <a:latin typeface="Aptos Display"/>
                <a:ea typeface="Arial"/>
                <a:cs typeface="Arial"/>
              </a:rPr>
              <a:t>Car Basic Movements</a:t>
            </a:r>
            <a:endParaRPr dirty="0"/>
          </a:p>
        </p:txBody>
      </p:sp>
      <p:sp>
        <p:nvSpPr>
          <p:cNvPr id="876527381" name="Content Placeholder 2"/>
          <p:cNvSpPr>
            <a:spLocks noGrp="1"/>
          </p:cNvSpPr>
          <p:nvPr>
            <p:ph idx="1"/>
          </p:nvPr>
        </p:nvSpPr>
        <p:spPr bwMode="auto">
          <a:xfrm>
            <a:off x="295034" y="765121"/>
            <a:ext cx="11620618" cy="598271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95000" lnSpcReduction="1000"/>
          </a:bodyPr>
          <a:lstStyle/>
          <a:p>
            <a:pPr>
              <a:defRPr/>
            </a:pPr>
            <a:r>
              <a:rPr sz="2800" b="1" i="0" u="none" dirty="0">
                <a:latin typeface="Aptos Display"/>
                <a:ea typeface="Aptos Display"/>
                <a:cs typeface="Aptos Display"/>
              </a:rPr>
              <a:t>During Programming (Code Upload):</a:t>
            </a:r>
            <a:endParaRPr sz="2800" dirty="0"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 dirty="0">
                <a:latin typeface="Aptos Display"/>
                <a:ea typeface="Aptos Display"/>
                <a:cs typeface="Aptos Display"/>
              </a:rPr>
              <a:t>Step 1: Connect USB cable to computer</a:t>
            </a:r>
            <a:endParaRPr sz="2800" b="0" i="0" u="none" dirty="0"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 dirty="0">
                <a:latin typeface="Aptos Display"/>
                <a:ea typeface="Aptos Display"/>
                <a:cs typeface="Aptos Display"/>
              </a:rPr>
              <a:t>Step 2: Set Switch “</a:t>
            </a:r>
            <a:r>
              <a:rPr lang="en-US" sz="2400" b="1" i="0" u="none" strike="noStrike" cap="none" spc="0" dirty="0">
                <a:latin typeface="Aptos Display"/>
                <a:ea typeface="Aptos Display"/>
                <a:cs typeface="Aptos Display"/>
              </a:rPr>
              <a:t>Motor Driver Standby/On Switch</a:t>
            </a:r>
            <a:r>
              <a:rPr sz="2400" b="0" i="0" u="none" dirty="0">
                <a:latin typeface="Aptos Display"/>
                <a:ea typeface="Aptos Display"/>
                <a:cs typeface="Aptos Display"/>
              </a:rPr>
              <a:t>” → STANDBY</a:t>
            </a:r>
            <a:endParaRPr sz="2800" b="0" i="0" u="none" dirty="0"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400" b="0" i="0" u="none" strike="noStrike" cap="none" spc="0" dirty="0">
                <a:latin typeface="Aptos Display"/>
                <a:ea typeface="Aptos Display"/>
                <a:cs typeface="Aptos Display"/>
              </a:rPr>
              <a:t>Step 3: Set Switch “</a:t>
            </a:r>
            <a:r>
              <a:rPr lang="en-US" sz="2400" b="1" i="0" u="none" strike="noStrike" cap="none" spc="0" dirty="0">
                <a:latin typeface="Times New Roman"/>
                <a:ea typeface="Times New Roman"/>
                <a:cs typeface="Times New Roman"/>
              </a:rPr>
              <a:t>ON/OFF Switch</a:t>
            </a:r>
            <a:r>
              <a:rPr lang="en-US" sz="2400" b="0" i="0" u="none" strike="noStrike" cap="none" spc="0" dirty="0">
                <a:latin typeface="Aptos Display"/>
                <a:ea typeface="Aptos Display"/>
                <a:cs typeface="Aptos Display"/>
              </a:rPr>
              <a:t>” → OFF -&gt;for batter power</a:t>
            </a:r>
            <a:endParaRPr sz="2800" b="0" i="0" u="none" dirty="0"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 dirty="0">
                <a:latin typeface="Aptos Display"/>
                <a:ea typeface="Aptos Display"/>
                <a:cs typeface="Aptos Display"/>
              </a:rPr>
              <a:t>Step 4: Upload your pit avoidance program</a:t>
            </a:r>
            <a:endParaRPr sz="2800" b="0" i="0" u="none" dirty="0"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 dirty="0">
                <a:latin typeface="Aptos Display"/>
                <a:ea typeface="Aptos Display"/>
                <a:cs typeface="Aptos Display"/>
              </a:rPr>
              <a:t>Step 5: Wait for "Upload Complete" message</a:t>
            </a:r>
            <a:endParaRPr sz="2800" b="0" i="0" u="none" dirty="0"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 dirty="0">
                <a:latin typeface="Aptos Display"/>
                <a:ea typeface="Aptos Display"/>
                <a:cs typeface="Aptos Display"/>
              </a:rPr>
              <a:t>Step 6: Disconnect USB cable</a:t>
            </a:r>
            <a:endParaRPr sz="2800" dirty="0"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 dirty="0">
                <a:latin typeface="Aptos Display"/>
                <a:ea typeface="Aptos Display"/>
                <a:cs typeface="Aptos Display"/>
              </a:rPr>
              <a:t>Before Testing (Running the Robot):</a:t>
            </a:r>
            <a:endParaRPr sz="2800" dirty="0"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 dirty="0">
                <a:latin typeface="Aptos Display"/>
                <a:ea typeface="Aptos Display"/>
                <a:cs typeface="Aptos Display"/>
              </a:rPr>
              <a:t>Step 1: Place robot on the ground. No obstacle as this test for basic movements </a:t>
            </a:r>
          </a:p>
          <a:p>
            <a:pPr lvl="1">
              <a:defRPr/>
            </a:pPr>
            <a:r>
              <a:rPr sz="2400" b="0" i="0" u="none" dirty="0">
                <a:latin typeface="Aptos Display"/>
                <a:ea typeface="Aptos Display"/>
                <a:cs typeface="Aptos Display"/>
              </a:rPr>
              <a:t>Step 2: Set Switch </a:t>
            </a:r>
            <a:r>
              <a:rPr lang="en-US" sz="2400" b="0" i="0" u="none" strike="noStrike" cap="none" spc="0" dirty="0">
                <a:latin typeface="Aptos Display"/>
                <a:ea typeface="Aptos Display"/>
                <a:cs typeface="Aptos Display"/>
              </a:rPr>
              <a:t>“</a:t>
            </a:r>
            <a:r>
              <a:rPr lang="en-US" sz="2400" b="1" i="0" u="none" strike="noStrike" cap="none" spc="0" dirty="0">
                <a:latin typeface="Aptos Display"/>
                <a:ea typeface="Aptos Display"/>
                <a:cs typeface="Aptos Display"/>
              </a:rPr>
              <a:t>Motor Driver Standby/On Switch</a:t>
            </a:r>
            <a:r>
              <a:rPr lang="en-US" sz="2400" b="0" i="0" u="none" strike="noStrike" cap="none" spc="0" dirty="0">
                <a:latin typeface="Aptos Display"/>
                <a:ea typeface="Aptos Display"/>
                <a:cs typeface="Aptos Display"/>
              </a:rPr>
              <a:t>”</a:t>
            </a:r>
            <a:r>
              <a:rPr sz="2400" b="0" i="0" u="none" dirty="0">
                <a:latin typeface="Aptos Display"/>
                <a:ea typeface="Aptos Display"/>
                <a:cs typeface="Aptos Display"/>
              </a:rPr>
              <a:t> -&gt;</a:t>
            </a:r>
            <a:r>
              <a:rPr lang="en-US" sz="2400" b="0" i="0" u="none" strike="noStrike" cap="none" spc="0" dirty="0">
                <a:latin typeface="Aptos Display"/>
                <a:ea typeface="Aptos Display"/>
                <a:cs typeface="Aptos Display"/>
              </a:rPr>
              <a:t>activate</a:t>
            </a:r>
            <a:r>
              <a:rPr sz="2400" b="0" i="0" u="none" dirty="0">
                <a:latin typeface="Aptos Display"/>
                <a:ea typeface="Aptos Display"/>
                <a:cs typeface="Aptos Display"/>
              </a:rPr>
              <a:t> (  motor driver</a:t>
            </a:r>
            <a:r>
              <a:rPr lang="en-US" sz="2400" b="0" i="0" u="none" strike="noStrike" cap="none" spc="0" dirty="0">
                <a:latin typeface="Aptos Display"/>
                <a:ea typeface="Aptos Display"/>
                <a:cs typeface="Aptos Display"/>
              </a:rPr>
              <a:t> ON</a:t>
            </a:r>
            <a:r>
              <a:rPr sz="2400" b="0" i="0" u="none" dirty="0">
                <a:latin typeface="Aptos Display"/>
                <a:ea typeface="Aptos Display"/>
                <a:cs typeface="Aptos Display"/>
              </a:rPr>
              <a:t>)</a:t>
            </a:r>
          </a:p>
          <a:p>
            <a:pPr lvl="1">
              <a:defRPr/>
            </a:pPr>
            <a:r>
              <a:rPr lang="en-US" sz="2400" b="0" i="0" u="none" strike="noStrike" cap="none" spc="0" dirty="0">
                <a:latin typeface="Aptos Display"/>
                <a:ea typeface="Aptos Display"/>
                <a:cs typeface="Aptos Display"/>
              </a:rPr>
              <a:t>Step 3: Set Switch “</a:t>
            </a:r>
            <a:r>
              <a:rPr sz="2800" b="1" dirty="0">
                <a:latin typeface="Times New Roman"/>
                <a:ea typeface="Times New Roman"/>
                <a:cs typeface="Times New Roman"/>
              </a:rPr>
              <a:t>ON/OFF Switch</a:t>
            </a:r>
            <a:r>
              <a:rPr lang="en-US" sz="2400" b="0" i="0" u="none" strike="noStrike" cap="none" spc="0" dirty="0">
                <a:latin typeface="Aptos Display"/>
                <a:ea typeface="Aptos Display"/>
                <a:cs typeface="Aptos Display"/>
              </a:rPr>
              <a:t>” → ON -&gt;for batter power</a:t>
            </a:r>
            <a:endParaRPr sz="2400" b="0" i="0" u="none" dirty="0"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400" b="0" i="0" u="none" dirty="0">
                <a:latin typeface="Aptos Display"/>
                <a:ea typeface="Aptos Display"/>
                <a:cs typeface="Aptos Display"/>
              </a:rPr>
              <a:t>Step 4: Press </a:t>
            </a:r>
            <a:r>
              <a:rPr sz="2400" b="0" i="1" u="none" dirty="0">
                <a:latin typeface="Aptos Display"/>
                <a:ea typeface="Aptos Display"/>
                <a:cs typeface="Aptos Display"/>
              </a:rPr>
              <a:t>RESET </a:t>
            </a:r>
            <a:r>
              <a:rPr sz="2400" b="0" i="0" u="none" dirty="0">
                <a:latin typeface="Aptos Display"/>
                <a:ea typeface="Aptos Display"/>
                <a:cs typeface="Aptos Display"/>
              </a:rPr>
              <a:t>button </a:t>
            </a:r>
          </a:p>
          <a:p>
            <a:pPr lvl="1">
              <a:defRPr/>
            </a:pPr>
            <a:r>
              <a:rPr sz="2400" b="0" i="0" u="none" dirty="0">
                <a:latin typeface="Aptos Display"/>
                <a:ea typeface="Aptos Display"/>
                <a:cs typeface="Aptos Display"/>
              </a:rPr>
              <a:t>Step 5: Robot car-1 starts pit avoidance program</a:t>
            </a:r>
          </a:p>
          <a:p>
            <a:pPr lvl="1">
              <a:defRPr/>
            </a:pPr>
            <a:r>
              <a:rPr sz="2400" b="0" i="0" u="none" dirty="0">
                <a:highlight>
                  <a:srgbClr val="FF0000"/>
                </a:highlight>
                <a:latin typeface="Aptos Display"/>
                <a:ea typeface="Aptos Display"/>
                <a:cs typeface="Aptos Display"/>
              </a:rPr>
              <a:t>Note: </a:t>
            </a:r>
            <a:endParaRPr sz="2400" b="0" i="0" u="none" dirty="0">
              <a:latin typeface="Aptos Display"/>
              <a:ea typeface="Aptos Display"/>
              <a:cs typeface="Aptos Display"/>
            </a:endParaRPr>
          </a:p>
          <a:p>
            <a:pPr lvl="2">
              <a:defRPr/>
            </a:pPr>
            <a:r>
              <a:rPr sz="2000" b="0" i="0" u="none" dirty="0">
                <a:latin typeface="Aptos Display"/>
                <a:ea typeface="Aptos Display"/>
                <a:cs typeface="Aptos Display"/>
              </a:rPr>
              <a:t>For Basic Movement  </a:t>
            </a:r>
            <a:r>
              <a:rPr lang="en-US" sz="2000" b="1" i="1" u="none" strike="noStrike" cap="none" spc="0" dirty="0">
                <a:latin typeface="Aptos Display"/>
                <a:ea typeface="Aptos Display"/>
                <a:cs typeface="Aptos Display"/>
              </a:rPr>
              <a:t>Line/Wall Following Switch</a:t>
            </a:r>
            <a:r>
              <a:rPr sz="2000" b="0" i="0" u="none" dirty="0">
                <a:latin typeface="Aptos Display"/>
                <a:ea typeface="Aptos Display"/>
                <a:cs typeface="Aptos Display"/>
              </a:rPr>
              <a:t> selection is not mandatory</a:t>
            </a:r>
            <a:endParaRPr sz="2400" b="0" i="0" u="none" dirty="0">
              <a:latin typeface="Aptos Display"/>
              <a:ea typeface="Aptos Display"/>
              <a:cs typeface="Aptos Display"/>
            </a:endParaRPr>
          </a:p>
        </p:txBody>
      </p:sp>
      <p:pic>
        <p:nvPicPr>
          <p:cNvPr id="852825967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456782730" name="TextBox 456782729"/>
          <p:cNvSpPr txBox="1"/>
          <p:nvPr/>
        </p:nvSpPr>
        <p:spPr bwMode="auto">
          <a:xfrm>
            <a:off x="6004378" y="3246120"/>
            <a:ext cx="183240" cy="36575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l">
              <a:defRPr/>
            </a:pP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200E9-5E59-2D85-6719-4F5F51505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b="1" dirty="0">
                <a:solidFill>
                  <a:srgbClr val="7030A0"/>
                </a:solidFill>
              </a:rPr>
            </a:br>
            <a:r>
              <a:rPr lang="en-US" b="1" dirty="0">
                <a:solidFill>
                  <a:srgbClr val="7030A0"/>
                </a:solidFill>
              </a:rPr>
              <a:t>Robot Car 2</a:t>
            </a:r>
            <a:br>
              <a:rPr lang="en-GB" b="1" dirty="0">
                <a:solidFill>
                  <a:srgbClr val="7030A0"/>
                </a:solidFill>
              </a:rPr>
            </a:b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D46590-F2F1-D392-34D6-A39097295A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502460" y="1184824"/>
            <a:ext cx="3510197" cy="49800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0B2B66B-BC74-11C3-4332-B9FFB18AE8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8157" y="1079168"/>
            <a:ext cx="4461886" cy="43507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DFFD23D-3BFA-F12D-0282-357917C660CC}"/>
              </a:ext>
            </a:extLst>
          </p:cNvPr>
          <p:cNvSpPr txBox="1"/>
          <p:nvPr/>
        </p:nvSpPr>
        <p:spPr>
          <a:xfrm>
            <a:off x="1986117" y="5602067"/>
            <a:ext cx="22862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Robot Car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4DDD2B-F088-31BD-BB6E-21AD138FCA05}"/>
              </a:ext>
            </a:extLst>
          </p:cNvPr>
          <p:cNvSpPr txBox="1"/>
          <p:nvPr/>
        </p:nvSpPr>
        <p:spPr>
          <a:xfrm>
            <a:off x="5903985" y="5602067"/>
            <a:ext cx="545232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/>
              <a:t>Wireless Control Remote</a:t>
            </a:r>
          </a:p>
        </p:txBody>
      </p:sp>
    </p:spTree>
    <p:extLst>
      <p:ext uri="{BB962C8B-B14F-4D97-AF65-F5344CB8AC3E}">
        <p14:creationId xmlns:p14="http://schemas.microsoft.com/office/powerpoint/2010/main" val="34092209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46CEE-FC74-6D34-EFFE-05E1C8FBC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75F9C-F1AD-BAA4-9F2E-DDC55DA1C8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60580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3620162" name="Title 1"/>
          <p:cNvSpPr>
            <a:spLocks noGrp="1"/>
          </p:cNvSpPr>
          <p:nvPr>
            <p:ph type="title"/>
          </p:nvPr>
        </p:nvSpPr>
        <p:spPr bwMode="auto">
          <a:xfrm>
            <a:off x="838200" y="321680"/>
            <a:ext cx="10515600" cy="117827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b="1" dirty="0">
                <a:solidFill>
                  <a:srgbClr val="7030A0"/>
                </a:solidFill>
              </a:rPr>
              <a:t>RCC01: </a:t>
            </a:r>
            <a:r>
              <a:rPr lang="en-GB" sz="4000" b="1" dirty="0">
                <a:solidFill>
                  <a:srgbClr val="7030A0"/>
                </a:solidFill>
              </a:rPr>
              <a:t>Motor</a:t>
            </a:r>
            <a:r>
              <a:rPr lang="en-GB" sz="40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4000" b="1" dirty="0">
                <a:solidFill>
                  <a:srgbClr val="7030A0"/>
                </a:solidFill>
              </a:rPr>
              <a:t>Driver Module</a:t>
            </a:r>
            <a:endParaRPr sz="4000" b="1" dirty="0">
              <a:solidFill>
                <a:srgbClr val="7030A0"/>
              </a:solidFill>
            </a:endParaRPr>
          </a:p>
        </p:txBody>
      </p:sp>
      <p:pic>
        <p:nvPicPr>
          <p:cNvPr id="470597223" name="Picture 2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470025617" name="TextBox 10"/>
          <p:cNvSpPr txBox="1"/>
          <p:nvPr/>
        </p:nvSpPr>
        <p:spPr bwMode="auto">
          <a:xfrm>
            <a:off x="5255040" y="1326051"/>
            <a:ext cx="30543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2400" b="1" i="0" u="none" strike="noStrike" cap="none" spc="0" dirty="0">
                <a:ln>
                  <a:noFill/>
                </a:ln>
                <a:solidFill>
                  <a:srgbClr val="8ECAE6"/>
                </a:solidFill>
                <a:latin typeface="Aptos"/>
                <a:ea typeface="+mn-ea"/>
                <a:cs typeface="+mn-cs"/>
              </a:rPr>
              <a:t>TB 6612 Motor Driver</a:t>
            </a:r>
            <a:endParaRPr dirty="0"/>
          </a:p>
        </p:txBody>
      </p:sp>
      <p:sp>
        <p:nvSpPr>
          <p:cNvPr id="225172678" name="TextBox 11"/>
          <p:cNvSpPr txBox="1"/>
          <p:nvPr/>
        </p:nvSpPr>
        <p:spPr bwMode="auto">
          <a:xfrm>
            <a:off x="9235900" y="2150073"/>
            <a:ext cx="28616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2400" b="1" i="0" u="none" strike="noStrike" cap="none" spc="0" dirty="0">
                <a:ln>
                  <a:noFill/>
                </a:ln>
                <a:solidFill>
                  <a:srgbClr val="8ECAE6"/>
                </a:solidFill>
                <a:latin typeface="Aptos"/>
                <a:ea typeface="+mn-ea"/>
                <a:cs typeface="+mn-cs"/>
              </a:rPr>
              <a:t>TT  DC Motor Driver</a:t>
            </a:r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2400" b="1" dirty="0">
                <a:solidFill>
                  <a:srgbClr val="8ECAE6"/>
                </a:solidFill>
                <a:latin typeface="Aptos"/>
              </a:rPr>
              <a:t>(130 RPM, 6V)</a:t>
            </a:r>
            <a:endParaRPr dirty="0"/>
          </a:p>
        </p:txBody>
      </p:sp>
      <p:pic>
        <p:nvPicPr>
          <p:cNvPr id="1574858720" name="Picture 7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787763" y="3172801"/>
            <a:ext cx="3025402" cy="2255715"/>
          </a:xfrm>
          <a:prstGeom prst="rect">
            <a:avLst/>
          </a:prstGeom>
        </p:spPr>
      </p:pic>
      <p:sp>
        <p:nvSpPr>
          <p:cNvPr id="2" name="TextBox 10">
            <a:extLst>
              <a:ext uri="{FF2B5EF4-FFF2-40B4-BE49-F238E27FC236}">
                <a16:creationId xmlns:a16="http://schemas.microsoft.com/office/drawing/2014/main" id="{8EBAC4C0-56E8-E7F6-E0C7-E651D6BDB022}"/>
              </a:ext>
            </a:extLst>
          </p:cNvPr>
          <p:cNvSpPr txBox="1"/>
          <p:nvPr/>
        </p:nvSpPr>
        <p:spPr bwMode="auto">
          <a:xfrm>
            <a:off x="1954758" y="4386179"/>
            <a:ext cx="244650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b="1" u="sng" dirty="0">
                <a:latin typeface="Aptos"/>
              </a:rPr>
              <a:t>Right</a:t>
            </a:r>
            <a:r>
              <a:rPr lang="en-GB" sz="1800" b="1" i="0" u="sng" strike="noStrike" cap="none" spc="0" dirty="0">
                <a:ln>
                  <a:noFill/>
                </a:ln>
                <a:latin typeface="Aptos"/>
                <a:ea typeface="+mn-ea"/>
                <a:cs typeface="+mn-cs"/>
              </a:rPr>
              <a:t> Motor</a:t>
            </a:r>
            <a:endParaRPr dirty="0"/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1800" b="0" i="0" u="none" strike="noStrike" cap="none" spc="0" dirty="0">
                <a:ln>
                  <a:noFill/>
                </a:ln>
                <a:latin typeface="Aptos"/>
                <a:ea typeface="+mn-ea"/>
                <a:cs typeface="+mn-cs"/>
              </a:rPr>
              <a:t>A-IN1 – Arduino </a:t>
            </a:r>
            <a:r>
              <a:rPr lang="en-GB" dirty="0">
                <a:latin typeface="Aptos"/>
              </a:rPr>
              <a:t>Un</a:t>
            </a:r>
            <a:r>
              <a:rPr lang="en-GB" sz="1800" b="0" i="0" u="none" strike="noStrike" cap="none" spc="0" dirty="0">
                <a:ln>
                  <a:noFill/>
                </a:ln>
                <a:latin typeface="Aptos"/>
                <a:ea typeface="+mn-ea"/>
                <a:cs typeface="+mn-cs"/>
              </a:rPr>
              <a:t>o 3</a:t>
            </a:r>
            <a:endParaRPr dirty="0"/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1800" b="0" i="0" u="none" strike="noStrike" cap="none" spc="0" dirty="0">
                <a:ln>
                  <a:noFill/>
                </a:ln>
                <a:latin typeface="Aptos"/>
                <a:ea typeface="+mn-ea"/>
                <a:cs typeface="+mn-cs"/>
              </a:rPr>
              <a:t>A-IN2 – Arduino </a:t>
            </a:r>
            <a:r>
              <a:rPr lang="en-GB" dirty="0">
                <a:latin typeface="Aptos"/>
              </a:rPr>
              <a:t>Un</a:t>
            </a:r>
            <a:r>
              <a:rPr lang="en-GB" sz="1800" b="0" i="0" u="none" strike="noStrike" cap="none" spc="0" dirty="0">
                <a:ln>
                  <a:noFill/>
                </a:ln>
                <a:latin typeface="Aptos"/>
                <a:ea typeface="+mn-ea"/>
                <a:cs typeface="+mn-cs"/>
              </a:rPr>
              <a:t>o 4</a:t>
            </a:r>
            <a:endParaRPr dirty="0"/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1800" b="0" i="0" u="none" strike="noStrike" cap="none" spc="0" dirty="0">
                <a:ln>
                  <a:noFill/>
                </a:ln>
                <a:latin typeface="Aptos"/>
                <a:ea typeface="+mn-ea"/>
                <a:cs typeface="+mn-cs"/>
              </a:rPr>
              <a:t>PWMA – Arduino </a:t>
            </a:r>
            <a:r>
              <a:rPr lang="en-GB" dirty="0">
                <a:latin typeface="Aptos"/>
              </a:rPr>
              <a:t>Un</a:t>
            </a:r>
            <a:r>
              <a:rPr lang="en-GB" sz="1800" b="0" i="0" u="none" strike="noStrike" cap="none" spc="0" dirty="0">
                <a:ln>
                  <a:noFill/>
                </a:ln>
                <a:latin typeface="Aptos"/>
                <a:ea typeface="+mn-ea"/>
                <a:cs typeface="+mn-cs"/>
              </a:rPr>
              <a:t>o 5</a:t>
            </a: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69A929C4-ED20-68A7-042C-AC5A30024BA6}"/>
              </a:ext>
            </a:extLst>
          </p:cNvPr>
          <p:cNvSpPr txBox="1"/>
          <p:nvPr/>
        </p:nvSpPr>
        <p:spPr bwMode="auto">
          <a:xfrm>
            <a:off x="5562802" y="4386178"/>
            <a:ext cx="24961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b="1" u="sng" dirty="0">
                <a:latin typeface="Aptos"/>
              </a:rPr>
              <a:t>Left</a:t>
            </a:r>
            <a:r>
              <a:rPr lang="en-GB" sz="1800" b="1" i="0" u="sng" strike="noStrike" cap="none" spc="0" dirty="0">
                <a:ln>
                  <a:noFill/>
                </a:ln>
                <a:latin typeface="Aptos"/>
                <a:ea typeface="+mn-ea"/>
                <a:cs typeface="+mn-cs"/>
              </a:rPr>
              <a:t> Motor</a:t>
            </a:r>
            <a:endParaRPr dirty="0"/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1800" b="0" i="0" u="none" strike="noStrike" cap="none" spc="0" dirty="0">
                <a:ln>
                  <a:noFill/>
                </a:ln>
                <a:latin typeface="Aptos"/>
                <a:ea typeface="+mn-ea"/>
                <a:cs typeface="+mn-cs"/>
              </a:rPr>
              <a:t>B-IN1 – Arduino </a:t>
            </a:r>
            <a:r>
              <a:rPr lang="en-GB" dirty="0">
                <a:latin typeface="Aptos"/>
              </a:rPr>
              <a:t>Un</a:t>
            </a:r>
            <a:r>
              <a:rPr lang="en-GB" sz="1800" b="0" i="0" u="none" strike="noStrike" cap="none" spc="0" dirty="0">
                <a:ln>
                  <a:noFill/>
                </a:ln>
                <a:latin typeface="Aptos"/>
                <a:ea typeface="+mn-ea"/>
                <a:cs typeface="+mn-cs"/>
              </a:rPr>
              <a:t>o 8</a:t>
            </a:r>
            <a:endParaRPr dirty="0"/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1800" b="0" i="0" u="none" strike="noStrike" cap="none" spc="0" dirty="0">
                <a:ln>
                  <a:noFill/>
                </a:ln>
                <a:latin typeface="Aptos"/>
                <a:ea typeface="+mn-ea"/>
                <a:cs typeface="+mn-cs"/>
              </a:rPr>
              <a:t>B-IN2 – Arduino </a:t>
            </a:r>
            <a:r>
              <a:rPr lang="en-GB" dirty="0">
                <a:latin typeface="Aptos"/>
              </a:rPr>
              <a:t>U</a:t>
            </a:r>
            <a:r>
              <a:rPr lang="en-GB" sz="1800" b="0" i="0" u="none" strike="noStrike" cap="none" spc="0" dirty="0">
                <a:ln>
                  <a:noFill/>
                </a:ln>
                <a:latin typeface="Aptos"/>
                <a:ea typeface="+mn-ea"/>
                <a:cs typeface="+mn-cs"/>
              </a:rPr>
              <a:t>no 7</a:t>
            </a:r>
            <a:endParaRPr dirty="0"/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1800" b="0" i="0" u="none" strike="noStrike" cap="none" spc="0" dirty="0">
                <a:ln>
                  <a:noFill/>
                </a:ln>
                <a:latin typeface="Aptos"/>
                <a:ea typeface="+mn-ea"/>
                <a:cs typeface="+mn-cs"/>
              </a:rPr>
              <a:t>PWMB – Arduino </a:t>
            </a:r>
            <a:r>
              <a:rPr lang="en-GB" dirty="0">
                <a:latin typeface="Aptos"/>
              </a:rPr>
              <a:t>U</a:t>
            </a:r>
            <a:r>
              <a:rPr lang="en-GB" sz="1800" b="0" i="0" u="none" strike="noStrike" cap="none" spc="0" dirty="0">
                <a:ln>
                  <a:noFill/>
                </a:ln>
                <a:latin typeface="Aptos"/>
                <a:ea typeface="+mn-ea"/>
                <a:cs typeface="+mn-cs"/>
              </a:rPr>
              <a:t>no 6 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FB7F44-E7A1-E4DC-0785-E7D55AFFE1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378835" y="1986021"/>
            <a:ext cx="3043008" cy="2015237"/>
          </a:xfrm>
          <a:prstGeom prst="rect">
            <a:avLst/>
          </a:prstGeom>
        </p:spPr>
      </p:pic>
      <p:pic>
        <p:nvPicPr>
          <p:cNvPr id="5" name="Picture 6">
            <a:extLst>
              <a:ext uri="{FF2B5EF4-FFF2-40B4-BE49-F238E27FC236}">
                <a16:creationId xmlns:a16="http://schemas.microsoft.com/office/drawing/2014/main" id="{1224BDC8-2BDA-36F9-5286-4E85B0F3E3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5750128" y="1787716"/>
            <a:ext cx="1729890" cy="1767993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CF6E80A-353E-1AB1-FE80-067F9700F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3C5887-F42B-AB36-837B-EE54EE93B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9FCE3CD-8E5B-4FEB-BC1E-3D61BE3CC713}" type="slidenum">
              <a:rPr lang="en-GB" smtClean="0"/>
              <a:t>15</a:t>
            </a:fld>
            <a:endParaRPr lang="en-GB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F6189-011A-D712-6794-BCCDB305AC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RCC01: Robot Car 2 Basic Movements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3C9F4C-EFE2-98D8-C60A-CBC68FB196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99490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196AC-FE34-509D-4488-5EEBF8147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Lab Session 1 – Car Basic Movements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A284EC-691F-E51F-6296-6DE58F6512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Understand TB6612 motor control</a:t>
            </a:r>
          </a:p>
          <a:p>
            <a:r>
              <a:rPr lang="en-GB" dirty="0">
                <a:solidFill>
                  <a:schemeClr val="bg1"/>
                </a:solidFill>
              </a:rPr>
              <a:t>Learn motor direction + speed pins</a:t>
            </a:r>
          </a:p>
          <a:p>
            <a:r>
              <a:rPr lang="en-GB" dirty="0">
                <a:solidFill>
                  <a:schemeClr val="bg1"/>
                </a:solidFill>
              </a:rPr>
              <a:t>Build basic movement functions</a:t>
            </a:r>
          </a:p>
          <a:p>
            <a:r>
              <a:rPr lang="en-GB" dirty="0">
                <a:solidFill>
                  <a:schemeClr val="bg1"/>
                </a:solidFill>
              </a:rPr>
              <a:t>Test movement on robot car</a:t>
            </a:r>
          </a:p>
          <a:p>
            <a:endParaRPr lang="en-GB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53358A-5292-1DCC-3BE2-09552A036D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1314" y="156102"/>
            <a:ext cx="2037720" cy="549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17620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9AD039F5-2AF9-88F8-38A4-20BC9AE020F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524180" name="Title 1">
            <a:extLst>
              <a:ext uri="{FF2B5EF4-FFF2-40B4-BE49-F238E27FC236}">
                <a16:creationId xmlns:a16="http://schemas.microsoft.com/office/drawing/2014/main" id="{A96AA2EE-DC03-1E14-88BA-82DE2E935E0A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192001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chemeClr val="accent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 Orientation Guidelines</a:t>
            </a:r>
            <a:endParaRPr sz="4000" b="1" dirty="0">
              <a:solidFill>
                <a:schemeClr val="accent4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543556019" name="Picture 3">
            <a:extLst>
              <a:ext uri="{FF2B5EF4-FFF2-40B4-BE49-F238E27FC236}">
                <a16:creationId xmlns:a16="http://schemas.microsoft.com/office/drawing/2014/main" id="{26906B89-164B-0AC1-82B9-7B55F3400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5D723B-0DC2-4639-3CE9-5D8B7C76F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F7CC9E-9198-E97E-6E7E-C739128B7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9FCE3CD-8E5B-4FEB-BC1E-3D61BE3CC713}" type="slidenum">
              <a:rPr lang="en-GB" smtClean="0"/>
              <a:t>18</a:t>
            </a:fld>
            <a:endParaRPr lang="en-GB"/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4BAD5D8D-DDFA-460E-9972-080C2164097B}"/>
              </a:ext>
            </a:extLst>
          </p:cNvPr>
          <p:cNvSpPr txBox="1"/>
          <p:nvPr/>
        </p:nvSpPr>
        <p:spPr bwMode="auto">
          <a:xfrm>
            <a:off x="207380" y="966334"/>
            <a:ext cx="1100490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R="0" lvl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b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endParaRPr lang="en-GB" sz="1800" b="0" i="0" u="none" strike="noStrike" cap="none" spc="0" dirty="0">
              <a:ln>
                <a:noFill/>
              </a:ln>
              <a:solidFill>
                <a:prstClr val="white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17BB56D-643C-09C0-CE36-AA7B9DAA56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54657" y="1274877"/>
            <a:ext cx="2886839" cy="51321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BF50E66-2E71-7F3F-1721-C77D04694652}"/>
              </a:ext>
            </a:extLst>
          </p:cNvPr>
          <p:cNvSpPr txBox="1"/>
          <p:nvPr/>
        </p:nvSpPr>
        <p:spPr>
          <a:xfrm>
            <a:off x="7873690" y="803109"/>
            <a:ext cx="29241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Car’s </a:t>
            </a:r>
            <a:r>
              <a:rPr lang="en-GB" b="1" dirty="0">
                <a:solidFill>
                  <a:schemeClr val="accent5">
                    <a:lumMod val="75000"/>
                  </a:schemeClr>
                </a:solidFill>
              </a:rPr>
              <a:t>FORWARD</a:t>
            </a:r>
            <a:r>
              <a:rPr lang="en-GB" b="1" dirty="0">
                <a:solidFill>
                  <a:schemeClr val="bg1"/>
                </a:solidFill>
              </a:rPr>
              <a:t> Direction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089BE0-109A-C207-B0EB-C3410C33ECFF}"/>
              </a:ext>
            </a:extLst>
          </p:cNvPr>
          <p:cNvSpPr txBox="1"/>
          <p:nvPr/>
        </p:nvSpPr>
        <p:spPr bwMode="auto">
          <a:xfrm>
            <a:off x="7873690" y="6458786"/>
            <a:ext cx="30780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Car’s </a:t>
            </a:r>
            <a:r>
              <a:rPr lang="en-GB" b="1" dirty="0">
                <a:solidFill>
                  <a:schemeClr val="accent5">
                    <a:lumMod val="75000"/>
                  </a:schemeClr>
                </a:solidFill>
              </a:rPr>
              <a:t>BACKWARD</a:t>
            </a:r>
            <a:r>
              <a:rPr lang="en-GB" b="1" dirty="0">
                <a:solidFill>
                  <a:schemeClr val="bg1"/>
                </a:solidFill>
              </a:rPr>
              <a:t> Direction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2F6570-6F61-9023-47AC-F7460D828C05}"/>
              </a:ext>
            </a:extLst>
          </p:cNvPr>
          <p:cNvSpPr txBox="1"/>
          <p:nvPr/>
        </p:nvSpPr>
        <p:spPr bwMode="auto">
          <a:xfrm rot="16200000">
            <a:off x="6301807" y="3536468"/>
            <a:ext cx="23086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Car’s </a:t>
            </a:r>
            <a:r>
              <a:rPr lang="en-GB" b="1" dirty="0">
                <a:solidFill>
                  <a:schemeClr val="accent5">
                    <a:lumMod val="75000"/>
                  </a:schemeClr>
                </a:solidFill>
              </a:rPr>
              <a:t>LEFT</a:t>
            </a:r>
            <a:r>
              <a:rPr lang="en-GB" b="1" dirty="0">
                <a:solidFill>
                  <a:schemeClr val="bg1"/>
                </a:solidFill>
              </a:rPr>
              <a:t> Direction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79E6A7-32DE-E893-CD91-30D5555B06F5}"/>
              </a:ext>
            </a:extLst>
          </p:cNvPr>
          <p:cNvSpPr txBox="1"/>
          <p:nvPr/>
        </p:nvSpPr>
        <p:spPr bwMode="auto">
          <a:xfrm rot="5400000">
            <a:off x="9706292" y="3656290"/>
            <a:ext cx="24801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Car’s </a:t>
            </a:r>
            <a:r>
              <a:rPr lang="en-GB" b="1" dirty="0">
                <a:solidFill>
                  <a:schemeClr val="accent5">
                    <a:lumMod val="75000"/>
                  </a:schemeClr>
                </a:solidFill>
              </a:rPr>
              <a:t>RIGHT</a:t>
            </a:r>
            <a:r>
              <a:rPr lang="en-GB" b="1" dirty="0">
                <a:solidFill>
                  <a:schemeClr val="bg1"/>
                </a:solidFill>
              </a:rPr>
              <a:t> Direction</a:t>
            </a:r>
          </a:p>
        </p:txBody>
      </p:sp>
      <p:sp>
        <p:nvSpPr>
          <p:cNvPr id="15" name="Rectangle 1">
            <a:extLst>
              <a:ext uri="{FF2B5EF4-FFF2-40B4-BE49-F238E27FC236}">
                <a16:creationId xmlns:a16="http://schemas.microsoft.com/office/drawing/2014/main" id="{497C75B8-39AD-B30F-5B07-17DE9BD559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664" y="1972496"/>
            <a:ext cx="6152322" cy="31085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 It is good practice to follow consistent </a:t>
            </a:r>
            <a:r>
              <a:rPr kumimoji="0" lang="en-US" altLang="en-US" sz="2800" b="0" i="1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orientation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terminology when navigating the car.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800" b="0" i="0" u="none" strike="noStrike" cap="none" normalizeH="0" baseline="0" dirty="0">
              <a:ln>
                <a:noFill/>
              </a:ln>
              <a:solidFill>
                <a:srgbClr val="00B0F0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  As a guideline, we use the car’s orientation shown in this picture</a:t>
            </a:r>
            <a:r>
              <a:rPr lang="en-US" altLang="en-US" sz="2800" dirty="0">
                <a:solidFill>
                  <a:srgbClr val="00B0F0"/>
                </a:solidFill>
                <a:latin typeface="Arial" panose="020B0604020202020204" pitchFamily="34" charset="0"/>
              </a:rPr>
              <a:t>       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—</a:t>
            </a: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the car is facing away from you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B0F0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580362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B05732-FD47-0E30-9F68-D1999F6A1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150791-C4B3-B335-A7D9-4294B6E27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Lab Session 1 – Car Basic Movements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FD03F-866B-DA54-D1B7-BEDA7E8FBB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Understand TB6612 motor control</a:t>
            </a:r>
          </a:p>
          <a:p>
            <a:r>
              <a:rPr lang="en-GB" dirty="0">
                <a:solidFill>
                  <a:schemeClr val="bg1"/>
                </a:solidFill>
              </a:rPr>
              <a:t>Learn motor direction + speed pins</a:t>
            </a:r>
          </a:p>
          <a:p>
            <a:r>
              <a:rPr lang="en-GB" dirty="0">
                <a:solidFill>
                  <a:schemeClr val="bg1"/>
                </a:solidFill>
              </a:rPr>
              <a:t>Build basic movement functions</a:t>
            </a:r>
          </a:p>
          <a:p>
            <a:r>
              <a:rPr lang="en-GB" dirty="0">
                <a:solidFill>
                  <a:schemeClr val="bg1"/>
                </a:solidFill>
              </a:rPr>
              <a:t>Test movement on robot car</a:t>
            </a:r>
          </a:p>
          <a:p>
            <a:endParaRPr lang="en-GB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869DC4A-8B59-8EBC-12C2-EF31B5C76B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1314" y="156102"/>
            <a:ext cx="2037720" cy="549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3767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5912107" name="Title 1"/>
          <p:cNvSpPr>
            <a:spLocks noGrp="1"/>
          </p:cNvSpPr>
          <p:nvPr>
            <p:ph type="title"/>
          </p:nvPr>
        </p:nvSpPr>
        <p:spPr bwMode="auto">
          <a:xfrm>
            <a:off x="105322" y="42546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 Car Basic Movements</a:t>
            </a:r>
            <a:endParaRPr/>
          </a:p>
        </p:txBody>
      </p:sp>
      <p:sp>
        <p:nvSpPr>
          <p:cNvPr id="207404541" name="Content Placeholder 2"/>
          <p:cNvSpPr>
            <a:spLocks noGrp="1"/>
          </p:cNvSpPr>
          <p:nvPr>
            <p:ph idx="1"/>
          </p:nvPr>
        </p:nvSpPr>
        <p:spPr bwMode="auto">
          <a:xfrm>
            <a:off x="268477" y="1068226"/>
            <a:ext cx="11295961" cy="558146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+mn-lt"/>
                <a:ea typeface="+mn-ea"/>
                <a:cs typeface="+mn-cs"/>
              </a:rPr>
              <a:t>Hardware System components</a:t>
            </a:r>
            <a:r>
              <a:rPr lang="en-US" sz="2800">
                <a:solidFill>
                  <a:schemeClr val="bg1"/>
                </a:solidFill>
              </a:rPr>
              <a:t> – 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Wheels &amp; DC Motors</a:t>
            </a:r>
            <a:endParaRPr sz="2800">
              <a:solidFill>
                <a:schemeClr val="bg1"/>
              </a:solidFill>
            </a:endParaRPr>
          </a:p>
        </p:txBody>
      </p:sp>
      <p:pic>
        <p:nvPicPr>
          <p:cNvPr id="75226059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sp>
        <p:nvSpPr>
          <p:cNvPr id="1024476716" name=" 1024476715"/>
          <p:cNvSpPr/>
          <p:nvPr/>
        </p:nvSpPr>
        <p:spPr bwMode="auto">
          <a:xfrm>
            <a:off x="648373" y="5704454"/>
            <a:ext cx="8887877" cy="94523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highlight>
                  <a:srgbClr val="FF0000"/>
                </a:highlight>
                <a:latin typeface="Aptos Display"/>
                <a:ea typeface="Aptos Display"/>
                <a:cs typeface="Aptos Display"/>
              </a:rPr>
              <a:t>Note: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Most of the components come pre-assembled. Avoid dismantling and unnecessary handling.</a:t>
            </a:r>
            <a:endParaRPr sz="2800">
              <a:solidFill>
                <a:schemeClr val="bg1"/>
              </a:solidFill>
            </a:endParaRPr>
          </a:p>
        </p:txBody>
      </p:sp>
      <p:pic>
        <p:nvPicPr>
          <p:cNvPr id="1045254560" name="Picture 1045254559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2355239" y="1610539"/>
            <a:ext cx="4596168" cy="1353260"/>
          </a:xfrm>
          <a:prstGeom prst="rect">
            <a:avLst/>
          </a:prstGeom>
        </p:spPr>
      </p:pic>
      <p:graphicFrame>
        <p:nvGraphicFramePr>
          <p:cNvPr id="1590958958" name="Table 1590958957"/>
          <p:cNvGraphicFramePr>
            <a:graphicFrameLocks/>
          </p:cNvGraphicFramePr>
          <p:nvPr/>
        </p:nvGraphicFramePr>
        <p:xfrm>
          <a:off x="527405" y="3235781"/>
          <a:ext cx="8861178" cy="201168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5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74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537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Component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Description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Function / Role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Two Rear Wheels (Drive Wheels)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Wheels connected to DC gear motors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Provide movement and enable turning using differential drive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Dual DC Gear Motors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TT DC motors (~130 RPM)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Control forward, reverse, left/right turns, and rotation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Front Caster Wheel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Free-rolling metal ball caster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Supports front weight and allows smooth, friction-free movement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9956686" name="Title 1"/>
          <p:cNvSpPr>
            <a:spLocks noGrp="1"/>
          </p:cNvSpPr>
          <p:nvPr>
            <p:ph type="title"/>
          </p:nvPr>
        </p:nvSpPr>
        <p:spPr bwMode="auto">
          <a:xfrm>
            <a:off x="357495" y="98734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929833303" name="Content Placeholder 2"/>
          <p:cNvSpPr>
            <a:spLocks noGrp="1"/>
          </p:cNvSpPr>
          <p:nvPr>
            <p:ph idx="1"/>
          </p:nvPr>
        </p:nvSpPr>
        <p:spPr bwMode="auto">
          <a:xfrm>
            <a:off x="474572" y="1103828"/>
            <a:ext cx="11196689" cy="557257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Arduino Component–Pin Mapping Table       OLED Configuration</a:t>
            </a:r>
          </a:p>
          <a:p>
            <a:pPr marL="0" indent="0">
              <a:buFont typeface="Arial"/>
              <a:buNone/>
              <a:defRPr/>
            </a:pPr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191938252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graphicFrame>
        <p:nvGraphicFramePr>
          <p:cNvPr id="1664072193" name="Table 1664072192"/>
          <p:cNvGraphicFramePr>
            <a:graphicFrameLocks/>
          </p:cNvGraphicFramePr>
          <p:nvPr/>
        </p:nvGraphicFramePr>
        <p:xfrm>
          <a:off x="618817" y="1557140"/>
          <a:ext cx="5805283" cy="173453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004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917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30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029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Component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Arduino Pin(s)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Function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2773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IR Sensors (Left / LC / RC / Right)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A0, A1, A2, A3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Obstacle detection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29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Driver (IN1–IN4)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8, 7, 4, 3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Direction control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29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Driver (ENA, ENB)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6, 5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Speed control (PWM)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294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OLED Display (SDA, SCL)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A4 (SDA), A5 (SCL)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Display interface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148085564" name="Table 1148085563"/>
          <p:cNvGraphicFramePr>
            <a:graphicFrameLocks/>
          </p:cNvGraphicFramePr>
          <p:nvPr/>
        </p:nvGraphicFramePr>
        <p:xfrm>
          <a:off x="609913" y="5372214"/>
          <a:ext cx="5473384" cy="137160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465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34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233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Sensor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Arduino Pin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Purpose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(L)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A0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edge detection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Left-Center (LC)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A1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Left-center path detection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Right-Center (RC)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A2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Right-center path detection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(R)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A3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edge detection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08539817" name=" 708539816"/>
          <p:cNvSpPr/>
          <p:nvPr/>
        </p:nvSpPr>
        <p:spPr bwMode="auto">
          <a:xfrm>
            <a:off x="532223" y="4486541"/>
            <a:ext cx="6749133" cy="79283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defRPr/>
            </a:pPr>
            <a:endParaRPr/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Sensors Pin Configuration</a:t>
            </a:r>
            <a:endParaRPr sz="36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graphicFrame>
        <p:nvGraphicFramePr>
          <p:cNvPr id="509290339" name="Table 509290338"/>
          <p:cNvGraphicFramePr>
            <a:graphicFrameLocks/>
          </p:cNvGraphicFramePr>
          <p:nvPr/>
        </p:nvGraphicFramePr>
        <p:xfrm>
          <a:off x="618817" y="3871139"/>
          <a:ext cx="4343409" cy="8229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4086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3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15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898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IN2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 (Speed Control)</a:t>
                      </a:r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Motor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</a:t>
                      </a:r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Motor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</a:t>
                      </a:r>
                      <a:endParaRPr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82855710" name="TextBox 1582855709"/>
          <p:cNvSpPr txBox="1"/>
          <p:nvPr/>
        </p:nvSpPr>
        <p:spPr bwMode="auto">
          <a:xfrm>
            <a:off x="6004379" y="3246120"/>
            <a:ext cx="183240" cy="3657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l">
              <a:defRPr/>
            </a:pPr>
            <a:endParaRPr/>
          </a:p>
        </p:txBody>
      </p:sp>
      <p:sp>
        <p:nvSpPr>
          <p:cNvPr id="1260249761" name=" 1260249760"/>
          <p:cNvSpPr/>
          <p:nvPr/>
        </p:nvSpPr>
        <p:spPr bwMode="auto">
          <a:xfrm>
            <a:off x="618817" y="3352619"/>
            <a:ext cx="4828224" cy="518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Motor Driver Pin Configuration</a:t>
            </a:r>
            <a:endParaRPr/>
          </a:p>
        </p:txBody>
      </p:sp>
      <p:sp>
        <p:nvSpPr>
          <p:cNvPr id="1661116681" name="TextBox 1661116680"/>
          <p:cNvSpPr txBox="1"/>
          <p:nvPr/>
        </p:nvSpPr>
        <p:spPr bwMode="auto">
          <a:xfrm>
            <a:off x="6383391" y="3429000"/>
            <a:ext cx="5335355" cy="29264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b="1" i="0" u="none">
                <a:solidFill>
                  <a:schemeClr val="bg1"/>
                </a:solidFill>
                <a:highlight>
                  <a:srgbClr val="FF0000"/>
                </a:highlight>
                <a:latin typeface="Times New Roman"/>
                <a:ea typeface="Times New Roman"/>
                <a:cs typeface="Times New Roman"/>
              </a:rPr>
              <a:t>Note: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</a:t>
            </a:r>
          </a:p>
          <a:p>
            <a:pPr marL="394023" indent="-394023">
              <a:buFont typeface="Arial"/>
              <a:buChar char="•"/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Downward IR sensors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detect lines, floor edges, and pits.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394023" indent="-394023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while 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forward IR sensors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detect walls and nearby obstacles.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marL="394023" indent="-394023" algn="l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Use the “</a:t>
            </a:r>
            <a:r>
              <a:rPr sz="2800" b="1" i="1" u="none">
                <a:solidFill>
                  <a:srgbClr val="FFC000"/>
                </a:solidFill>
                <a:latin typeface="Aptos Display"/>
                <a:ea typeface="Aptos Display"/>
                <a:cs typeface="Aptos Display"/>
              </a:rPr>
              <a:t>Line/Wall Following Switch(2)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</a:t>
            </a: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to select the mode.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graphicFrame>
        <p:nvGraphicFramePr>
          <p:cNvPr id="1512956846" name="Table 1512956845"/>
          <p:cNvGraphicFramePr>
            <a:graphicFrameLocks/>
          </p:cNvGraphicFramePr>
          <p:nvPr/>
        </p:nvGraphicFramePr>
        <p:xfrm>
          <a:off x="7039078" y="1607523"/>
          <a:ext cx="3495674" cy="128016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354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Component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Connection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OLED Display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I2C (SDA, SCL) → A4, A5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08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Servo Motor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Signal → Pin 9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Ultrasonic Sensor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Trig → Pin 10, Echo → Pin 11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021907" name="Title 1"/>
          <p:cNvSpPr>
            <a:spLocks noGrp="1"/>
          </p:cNvSpPr>
          <p:nvPr>
            <p:ph type="title"/>
          </p:nvPr>
        </p:nvSpPr>
        <p:spPr bwMode="auto">
          <a:xfrm>
            <a:off x="126048" y="42549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 dirty="0">
                <a:latin typeface="+mj-lt"/>
                <a:ea typeface="+mj-ea"/>
                <a:cs typeface="+mj-cs"/>
              </a:rPr>
              <a:t>Car Basic Movements</a:t>
            </a:r>
            <a:endParaRPr dirty="0"/>
          </a:p>
        </p:txBody>
      </p:sp>
      <p:sp>
        <p:nvSpPr>
          <p:cNvPr id="2012918922" name="Content Placeholder 2"/>
          <p:cNvSpPr>
            <a:spLocks noGrp="1"/>
          </p:cNvSpPr>
          <p:nvPr>
            <p:ph idx="1"/>
          </p:nvPr>
        </p:nvSpPr>
        <p:spPr bwMode="auto">
          <a:xfrm>
            <a:off x="312476" y="1308573"/>
            <a:ext cx="10854381" cy="539453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 fontScale="97500" lnSpcReduction="12000"/>
          </a:bodyPr>
          <a:lstStyle/>
          <a:p>
            <a:pPr marL="0" indent="0">
              <a:buFont typeface="Arial"/>
              <a:buNone/>
              <a:defRPr/>
            </a:pPr>
            <a:r>
              <a:rPr lang="en-GB" sz="2800" b="0" i="0" u="none" strike="noStrike" cap="none" spc="0" dirty="0">
                <a:latin typeface="Aptos Display"/>
                <a:ea typeface="Aptos Display"/>
                <a:cs typeface="Aptos Display"/>
              </a:rPr>
              <a:t>Schematics</a:t>
            </a:r>
            <a:r>
              <a:rPr sz="2800" b="0" i="0" u="none" dirty="0">
                <a:latin typeface="Aptos Display"/>
                <a:ea typeface="Aptos Display"/>
                <a:cs typeface="Aptos Display"/>
              </a:rPr>
              <a:t> :</a:t>
            </a:r>
            <a:endParaRPr sz="2800" b="0" i="0" u="none" dirty="0">
              <a:latin typeface="Aptos Display"/>
              <a:cs typeface="Aptos Display"/>
            </a:endParaRPr>
          </a:p>
          <a:p>
            <a:pPr>
              <a:defRPr/>
            </a:pPr>
            <a:r>
              <a:rPr sz="2800" b="0" i="0" u="none" dirty="0">
                <a:latin typeface="Aptos Display"/>
                <a:ea typeface="Aptos Display"/>
                <a:cs typeface="Aptos Display"/>
              </a:rPr>
              <a:t>Motor Driver Pin Configuration</a:t>
            </a:r>
            <a:endParaRPr sz="2800" b="0" i="0" u="none" dirty="0"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GB" sz="2800" dirty="0">
                <a:latin typeface="Aptos Display"/>
                <a:ea typeface="Aptos Display"/>
                <a:cs typeface="Aptos Display"/>
              </a:rPr>
              <a:t>Left Motor: IN1=7, IN2=8, PWM=6</a:t>
            </a:r>
            <a:endParaRPr sz="2800" dirty="0"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GB" sz="2800" dirty="0">
                <a:latin typeface="Aptos Display"/>
                <a:ea typeface="Aptos Display"/>
                <a:cs typeface="Aptos Display"/>
              </a:rPr>
              <a:t>Right Motor: IN1=3, IN2=4, PWM=5</a:t>
            </a:r>
            <a:endParaRPr sz="2800" dirty="0">
              <a:latin typeface="Aptos Display"/>
              <a:cs typeface="Aptos Display"/>
            </a:endParaRPr>
          </a:p>
          <a:p>
            <a:pPr lvl="1">
              <a:defRPr/>
            </a:pPr>
            <a:r>
              <a:rPr lang="en-GB" sz="2800" dirty="0">
                <a:latin typeface="Aptos Display"/>
                <a:ea typeface="Aptos Display"/>
                <a:cs typeface="Aptos Display"/>
              </a:rPr>
              <a:t>VM → Battery, GND shared, VCC→5V</a:t>
            </a:r>
            <a:endParaRPr sz="2800" dirty="0"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 dirty="0">
                <a:latin typeface="Aptos Display"/>
                <a:ea typeface="Aptos Display"/>
                <a:cs typeface="Aptos Display"/>
              </a:rPr>
              <a:t>Control Logic</a:t>
            </a:r>
            <a:endParaRPr sz="2800" dirty="0"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 dirty="0">
                <a:latin typeface="Aptos Display"/>
                <a:ea typeface="Aptos Display"/>
                <a:cs typeface="Aptos Display"/>
              </a:rPr>
              <a:t>Move Forward</a:t>
            </a:r>
            <a:r>
              <a:rPr sz="2400" b="0" i="0" u="none" dirty="0">
                <a:latin typeface="Aptos Display"/>
                <a:ea typeface="Aptos Display"/>
                <a:cs typeface="Aptos Display"/>
              </a:rPr>
              <a:t>: </a:t>
            </a:r>
            <a:endParaRPr sz="2800" dirty="0">
              <a:latin typeface="Aptos Display"/>
              <a:cs typeface="Aptos Display"/>
            </a:endParaRPr>
          </a:p>
          <a:p>
            <a:pPr lvl="2">
              <a:defRPr/>
            </a:pPr>
            <a:r>
              <a:rPr sz="2000" b="0" i="0" u="none" dirty="0">
                <a:latin typeface="Aptos Display"/>
                <a:ea typeface="Aptos Display"/>
                <a:cs typeface="Aptos Display"/>
              </a:rPr>
              <a:t>IN1 = HIGH, IN2 = LOW</a:t>
            </a:r>
            <a:endParaRPr sz="2800" dirty="0"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 dirty="0">
                <a:latin typeface="Aptos Display"/>
                <a:ea typeface="Aptos Display"/>
                <a:cs typeface="Aptos Display"/>
              </a:rPr>
              <a:t>Move Backward</a:t>
            </a:r>
            <a:r>
              <a:rPr sz="2400" b="0" i="0" u="none" dirty="0">
                <a:latin typeface="Aptos Display"/>
                <a:ea typeface="Aptos Display"/>
                <a:cs typeface="Aptos Display"/>
              </a:rPr>
              <a:t>: </a:t>
            </a:r>
            <a:endParaRPr sz="2800" dirty="0">
              <a:latin typeface="Aptos Display"/>
              <a:cs typeface="Aptos Display"/>
            </a:endParaRPr>
          </a:p>
          <a:p>
            <a:pPr>
              <a:defRPr/>
            </a:pPr>
            <a:r>
              <a:rPr sz="2800" dirty="0">
                <a:latin typeface="Aptos Display"/>
                <a:ea typeface="Aptos Display"/>
                <a:cs typeface="Aptos Display"/>
              </a:rPr>
              <a:t>	</a:t>
            </a:r>
            <a:r>
              <a:rPr sz="2800" b="0" i="0" u="none" dirty="0">
                <a:latin typeface="Aptos Display"/>
                <a:ea typeface="Aptos Display"/>
                <a:cs typeface="Aptos Display"/>
              </a:rPr>
              <a:t>IN1 = LOW, IN2 = HIGH</a:t>
            </a:r>
            <a:endParaRPr sz="1400" b="1" i="0" u="none" dirty="0"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 dirty="0">
                <a:latin typeface="Aptos Display"/>
                <a:ea typeface="Aptos Display"/>
                <a:cs typeface="Aptos Display"/>
              </a:rPr>
              <a:t>Key Concepts</a:t>
            </a:r>
            <a:endParaRPr sz="2800" dirty="0">
              <a:latin typeface="Aptos Display"/>
              <a:cs typeface="Aptos Display"/>
            </a:endParaRPr>
          </a:p>
          <a:p>
            <a:pPr lvl="1">
              <a:defRPr/>
            </a:pPr>
            <a:r>
              <a:rPr sz="2400" b="1" i="0" u="none" dirty="0">
                <a:latin typeface="Aptos Display"/>
                <a:ea typeface="Aptos Display"/>
                <a:cs typeface="Aptos Display"/>
              </a:rPr>
              <a:t>HIGH/LOW</a:t>
            </a:r>
            <a:r>
              <a:rPr sz="2400" b="0" i="0" u="none" dirty="0">
                <a:latin typeface="Aptos Display"/>
                <a:ea typeface="Aptos Display"/>
                <a:cs typeface="Aptos Display"/>
              </a:rPr>
              <a:t>: Control motor direction.</a:t>
            </a:r>
            <a:endParaRPr sz="2800" dirty="0"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 dirty="0">
                <a:latin typeface="Aptos Display"/>
                <a:ea typeface="Aptos Display"/>
                <a:cs typeface="Aptos Display"/>
              </a:rPr>
              <a:t>PWM</a:t>
            </a:r>
            <a:r>
              <a:rPr sz="2800" b="0" i="0" u="none" dirty="0">
                <a:latin typeface="Aptos Display"/>
                <a:ea typeface="Aptos Display"/>
                <a:cs typeface="Aptos Display"/>
              </a:rPr>
              <a:t>: Adjusts motor speed.</a:t>
            </a:r>
            <a:endParaRPr sz="2800" dirty="0">
              <a:latin typeface="Aptos"/>
              <a:cs typeface="Aptos"/>
            </a:endParaRPr>
          </a:p>
        </p:txBody>
      </p:sp>
      <p:pic>
        <p:nvPicPr>
          <p:cNvPr id="1142092327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276906" name="Title 1"/>
          <p:cNvSpPr>
            <a:spLocks noGrp="1"/>
          </p:cNvSpPr>
          <p:nvPr>
            <p:ph type="title"/>
          </p:nvPr>
        </p:nvSpPr>
        <p:spPr bwMode="auto">
          <a:xfrm>
            <a:off x="474572" y="-48641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 Car Basic Movements</a:t>
            </a:r>
            <a:endParaRPr/>
          </a:p>
        </p:txBody>
      </p:sp>
      <p:sp>
        <p:nvSpPr>
          <p:cNvPr id="1509628345" name="Content Placeholder 2"/>
          <p:cNvSpPr>
            <a:spLocks noGrp="1"/>
          </p:cNvSpPr>
          <p:nvPr>
            <p:ph idx="1"/>
          </p:nvPr>
        </p:nvSpPr>
        <p:spPr bwMode="auto">
          <a:xfrm>
            <a:off x="376651" y="979204"/>
            <a:ext cx="10515600" cy="585332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marR="0" indent="0">
              <a:spcBef>
                <a:spcPts val="2699"/>
              </a:spcBef>
              <a:defRPr/>
            </a:pPr>
            <a:r>
              <a:rPr sz="2800" b="0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Algorithm - Movement Control Logic</a:t>
            </a:r>
            <a:endParaRPr sz="2800" b="1">
              <a:solidFill>
                <a:schemeClr val="bg1">
                  <a:lumMod val="95000"/>
                </a:schemeClr>
              </a:solidFill>
              <a:latin typeface="Aptos Display"/>
              <a:ea typeface="Aptos Display"/>
              <a:cs typeface="Aptos Display"/>
            </a:endParaRPr>
          </a:p>
          <a:p>
            <a:pPr marL="0" marR="0" indent="0">
              <a:spcBef>
                <a:spcPts val="2698"/>
              </a:spcBef>
              <a:defRPr/>
            </a:pPr>
            <a:endParaRPr sz="2800" b="1">
              <a:solidFill>
                <a:schemeClr val="bg1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88864892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1"/>
            <a:ext cx="2037719" cy="549228"/>
          </a:xfrm>
          <a:prstGeom prst="rect">
            <a:avLst/>
          </a:prstGeom>
        </p:spPr>
      </p:pic>
      <p:graphicFrame>
        <p:nvGraphicFramePr>
          <p:cNvPr id="485583726" name="Table 485583725"/>
          <p:cNvGraphicFramePr>
            <a:graphicFrameLocks/>
          </p:cNvGraphicFramePr>
          <p:nvPr/>
        </p:nvGraphicFramePr>
        <p:xfrm>
          <a:off x="567371" y="1522086"/>
          <a:ext cx="10410101" cy="287857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81392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48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033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08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0301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917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Movement Command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Motor (IN1 / IN2)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Motor (IN3 / IN4)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Speed (ENA / ENB)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Description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87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 = HIGH IN2 = LOW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IN3 = HIGH IN4 = LOW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 (0–255)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Both motors rotate forward at the same speed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260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BACKWARD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 = LOW IN2 = HIGH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IN3 = LOW IN4 = HIGH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 (0–255)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Both motors rotate backward at the same speed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17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TURN LEFT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 = LOW IN2 = HIGH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IN3 = HIGH IN4 = LOW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 (0–255)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motor backward, right motor forward (pivot turn)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48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TURN RIGHT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 = HIGH IN2 = LOW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IN3 = LOW IN4 = HIGH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 (0–255)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motor forward, right motor backward (pivot turn)</a:t>
                      </a:r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464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STOP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 = LOW IN2 = LOW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IN3 = LOW IN4 = LOW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dirty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Both motors disabled, no movement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692468597" name="Table 692468596"/>
          <p:cNvGraphicFramePr>
            <a:graphicFrameLocks/>
          </p:cNvGraphicFramePr>
          <p:nvPr/>
        </p:nvGraphicFramePr>
        <p:xfrm>
          <a:off x="741050" y="5051059"/>
          <a:ext cx="7139934" cy="156799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1887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63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IN2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A Direction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IN3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IN4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B Direction</a:t>
                      </a:r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→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→</a:t>
                      </a:r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Backward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←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Backward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←</a:t>
                      </a:r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107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Stop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⛔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Stop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⛔</a:t>
                      </a:r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1076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Brake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⚠️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Brake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⚠️</a:t>
                      </a:r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73004136" name=" 873004135"/>
          <p:cNvSpPr/>
          <p:nvPr/>
        </p:nvSpPr>
        <p:spPr bwMode="auto">
          <a:xfrm>
            <a:off x="741050" y="4441391"/>
            <a:ext cx="7291146" cy="518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>
                    <a:lumMod val="95000"/>
                  </a:schemeClr>
                </a:solidFill>
                <a:latin typeface="Times New Roman"/>
                <a:ea typeface="Times New Roman"/>
                <a:cs typeface="Times New Roman"/>
              </a:rPr>
              <a:t>• </a:t>
            </a:r>
            <a:r>
              <a:rPr sz="2800" b="0" i="0" u="none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H-Bridge Motor Control Principle: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38704" name="Title 1"/>
          <p:cNvSpPr>
            <a:spLocks noGrp="1"/>
          </p:cNvSpPr>
          <p:nvPr>
            <p:ph type="title"/>
          </p:nvPr>
        </p:nvSpPr>
        <p:spPr bwMode="auto">
          <a:xfrm>
            <a:off x="474572" y="-48641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1030964831" name="Content Placeholder 2"/>
          <p:cNvSpPr>
            <a:spLocks noGrp="1"/>
          </p:cNvSpPr>
          <p:nvPr>
            <p:ph idx="1"/>
          </p:nvPr>
        </p:nvSpPr>
        <p:spPr bwMode="auto">
          <a:xfrm>
            <a:off x="474572" y="899088"/>
            <a:ext cx="10515600" cy="585332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marR="0" indent="0">
              <a:spcBef>
                <a:spcPts val="2698"/>
              </a:spcBef>
              <a:defRPr/>
            </a:pPr>
            <a:r>
              <a:rPr sz="2800" b="0" i="0" u="none">
                <a:latin typeface="Aptos Display"/>
                <a:ea typeface="Aptos Display"/>
                <a:cs typeface="Aptos Display"/>
              </a:rPr>
              <a:t>Flowchart - </a:t>
            </a:r>
            <a:endParaRPr sz="2800" b="1">
              <a:latin typeface="Aptos Display"/>
              <a:ea typeface="Aptos Display"/>
              <a:cs typeface="Aptos Display"/>
            </a:endParaRPr>
          </a:p>
          <a:p>
            <a:pPr marL="0" marR="0" indent="0">
              <a:spcBef>
                <a:spcPts val="2698"/>
              </a:spcBef>
              <a:defRPr/>
            </a:pPr>
            <a:endParaRPr sz="2800" b="1">
              <a:latin typeface="Aptos"/>
              <a:ea typeface="Aptos"/>
              <a:cs typeface="Aptos"/>
            </a:endParaRPr>
          </a:p>
        </p:txBody>
      </p:sp>
      <p:pic>
        <p:nvPicPr>
          <p:cNvPr id="9539639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  <p:pic>
        <p:nvPicPr>
          <p:cNvPr id="370529213" name="Picture 370529212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3320397" y="926481"/>
            <a:ext cx="3000375" cy="5825929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5089115" name="Title 1"/>
          <p:cNvSpPr>
            <a:spLocks noGrp="1"/>
          </p:cNvSpPr>
          <p:nvPr>
            <p:ph type="title"/>
          </p:nvPr>
        </p:nvSpPr>
        <p:spPr bwMode="auto">
          <a:xfrm>
            <a:off x="341043" y="-232066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-GB" sz="4400" b="0" i="0" u="none" strike="noStrike" cap="none" spc="0">
                <a:solidFill>
                  <a:schemeClr val="bg1"/>
                </a:solidFill>
                <a:latin typeface="Aptos Display"/>
                <a:ea typeface="Arial"/>
                <a:cs typeface="Arial"/>
              </a:rPr>
              <a:t>Car Basic Movements</a:t>
            </a:r>
            <a:endParaRPr/>
          </a:p>
        </p:txBody>
      </p:sp>
      <p:sp>
        <p:nvSpPr>
          <p:cNvPr id="224460983" name="Content Placeholder 2"/>
          <p:cNvSpPr>
            <a:spLocks noGrp="1"/>
          </p:cNvSpPr>
          <p:nvPr>
            <p:ph idx="1"/>
          </p:nvPr>
        </p:nvSpPr>
        <p:spPr bwMode="auto">
          <a:xfrm>
            <a:off x="394455" y="810069"/>
            <a:ext cx="10515600" cy="585332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marR="0" indent="0">
              <a:spcBef>
                <a:spcPts val="2698"/>
              </a:spcBef>
              <a:defRPr/>
            </a:pPr>
            <a:r>
              <a:rPr sz="2800" b="0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Code Highlight – </a:t>
            </a:r>
            <a:r>
              <a:rPr sz="2800" b="1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Mail loop</a:t>
            </a:r>
            <a:r>
              <a:rPr sz="2800" b="1">
                <a:solidFill>
                  <a:schemeClr val="bg1">
                    <a:lumMod val="95000"/>
                  </a:schemeClr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2800" b="0" i="0" u="none">
                <a:solidFill>
                  <a:schemeClr val="bg1">
                    <a:lumMod val="95000"/>
                  </a:schemeClr>
                </a:solidFill>
                <a:latin typeface="Aptos Display"/>
                <a:ea typeface="Aptos Display"/>
                <a:cs typeface="Aptos Display"/>
              </a:rPr>
              <a:t>         </a:t>
            </a:r>
            <a:r>
              <a:rPr sz="2800" b="0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Direction Control (Example)</a:t>
            </a:r>
            <a:endParaRPr sz="2800" b="1">
              <a:solidFill>
                <a:schemeClr val="bg1">
                  <a:lumMod val="95000"/>
                </a:schemeClr>
              </a:solidFill>
              <a:latin typeface="Aptos Display"/>
              <a:ea typeface="Aptos Display"/>
              <a:cs typeface="Aptos Display"/>
            </a:endParaRPr>
          </a:p>
          <a:p>
            <a:pPr marL="0" marR="0" indent="0">
              <a:spcBef>
                <a:spcPts val="2698"/>
              </a:spcBef>
              <a:defRPr/>
            </a:pPr>
            <a:endParaRPr sz="2800" b="1">
              <a:solidFill>
                <a:schemeClr val="bg1">
                  <a:lumMod val="95000"/>
                </a:schemeClr>
              </a:solidFill>
              <a:latin typeface="Aptos Display"/>
              <a:ea typeface="Aptos Display"/>
              <a:cs typeface="Aptos Display"/>
            </a:endParaRPr>
          </a:p>
          <a:p>
            <a:pPr marL="0" marR="0" indent="0">
              <a:spcBef>
                <a:spcPts val="2698"/>
              </a:spcBef>
              <a:defRPr/>
            </a:pPr>
            <a:endParaRPr sz="2800" b="1">
              <a:solidFill>
                <a:schemeClr val="bg1">
                  <a:lumMod val="95000"/>
                </a:schemeClr>
              </a:solidFill>
              <a:latin typeface="Aptos Display"/>
              <a:ea typeface="Aptos Display"/>
              <a:cs typeface="Aptos Display"/>
            </a:endParaRPr>
          </a:p>
          <a:p>
            <a:pPr marL="0" marR="0" indent="0">
              <a:spcBef>
                <a:spcPts val="2698"/>
              </a:spcBef>
              <a:buFont typeface="Arial"/>
              <a:buNone/>
              <a:defRPr/>
            </a:pPr>
            <a:endParaRPr sz="2800" b="1">
              <a:solidFill>
                <a:schemeClr val="bg1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218592473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  <p:pic>
        <p:nvPicPr>
          <p:cNvPr id="1705517282" name="Picture 1705517281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916892" y="1233385"/>
            <a:ext cx="3324223" cy="5006690"/>
          </a:xfrm>
          <a:prstGeom prst="rect">
            <a:avLst/>
          </a:prstGeom>
        </p:spPr>
      </p:pic>
      <p:pic>
        <p:nvPicPr>
          <p:cNvPr id="2008292647" name="Picture 2008292646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5118574" y="1204912"/>
            <a:ext cx="2943224" cy="240982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274598-3697-C518-42DC-9B65ACEF4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249E4-6A60-2A52-A595-6044BB8E8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Learning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5BB9D1-42CA-E3CD-E1DA-642AC6BF14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Explain direction + PWM control</a:t>
            </a:r>
          </a:p>
          <a:p>
            <a:r>
              <a:rPr lang="en-GB" dirty="0">
                <a:solidFill>
                  <a:schemeClr val="bg1"/>
                </a:solidFill>
              </a:rPr>
              <a:t>Use </a:t>
            </a:r>
            <a:r>
              <a:rPr lang="en-GB" dirty="0" err="1">
                <a:solidFill>
                  <a:schemeClr val="bg1"/>
                </a:solidFill>
              </a:rPr>
              <a:t>digitalWrite</a:t>
            </a:r>
            <a:r>
              <a:rPr lang="en-GB" dirty="0">
                <a:solidFill>
                  <a:schemeClr val="bg1"/>
                </a:solidFill>
              </a:rPr>
              <a:t> + </a:t>
            </a:r>
            <a:r>
              <a:rPr lang="en-GB" dirty="0" err="1">
                <a:solidFill>
                  <a:schemeClr val="bg1"/>
                </a:solidFill>
              </a:rPr>
              <a:t>analogWrite</a:t>
            </a:r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Move car: F / B / L / R / Stop</a:t>
            </a:r>
          </a:p>
          <a:p>
            <a:r>
              <a:rPr lang="en-GB" dirty="0">
                <a:solidFill>
                  <a:schemeClr val="bg1"/>
                </a:solidFill>
              </a:rPr>
              <a:t>Debug wiring &amp; logic</a:t>
            </a:r>
          </a:p>
          <a:p>
            <a:endParaRPr lang="en-GB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2F93F9-291A-56D5-DFB9-6E3FAEA2BB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1314" y="156102"/>
            <a:ext cx="2037720" cy="549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4574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449BE7-4D28-6D0B-03F3-7BF87DBD5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26B09-B417-8733-CF2C-EA285A44B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Schematics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8E2C9B-A67B-13E5-E0AF-29E5B6BD51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Left Motor: IN1=7, IN2=8, PWM=6</a:t>
            </a:r>
          </a:p>
          <a:p>
            <a:r>
              <a:rPr lang="en-GB" dirty="0">
                <a:solidFill>
                  <a:schemeClr val="bg1"/>
                </a:solidFill>
              </a:rPr>
              <a:t>Right Motor: IN1=3, IN2=4, PWM=5</a:t>
            </a:r>
          </a:p>
          <a:p>
            <a:r>
              <a:rPr lang="en-GB" dirty="0">
                <a:solidFill>
                  <a:schemeClr val="bg1"/>
                </a:solidFill>
              </a:rPr>
              <a:t>VM → Battery, GND shared, VCC→5V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E742C5-6895-8286-9A55-EED0C7B618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1314" y="156102"/>
            <a:ext cx="2037720" cy="549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1069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191E53-B294-9239-C2C8-F5D469198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98FA3-7158-8A96-0341-6C6EABF8E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06519D-9447-38ED-FD25-E280C2233E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Setup pins as OUTPUT</a:t>
            </a:r>
          </a:p>
          <a:p>
            <a:r>
              <a:rPr lang="en-GB" dirty="0">
                <a:solidFill>
                  <a:schemeClr val="bg1"/>
                </a:solidFill>
              </a:rPr>
              <a:t>Functions: forward/backward/turn/stop</a:t>
            </a:r>
          </a:p>
          <a:p>
            <a:r>
              <a:rPr lang="en-GB" dirty="0">
                <a:solidFill>
                  <a:schemeClr val="bg1"/>
                </a:solidFill>
              </a:rPr>
              <a:t>Loop: call movement functions</a:t>
            </a:r>
          </a:p>
          <a:p>
            <a:endParaRPr lang="en-GB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F02BE2E-BC4C-5BBE-6C8F-0C1EE44789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1314" y="156102"/>
            <a:ext cx="2037720" cy="549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6245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07F82-B8DF-FB82-3CE0-681FBD873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C1BA7D-FFB6-930D-0258-9271FD9DD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Example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8FB4DC-7351-010D-C114-8E2B13E46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#define Left1 7</a:t>
            </a:r>
          </a:p>
          <a:p>
            <a:r>
              <a:rPr lang="en-GB" dirty="0">
                <a:solidFill>
                  <a:schemeClr val="bg1"/>
                </a:solidFill>
              </a:rPr>
              <a:t>#define Left2 8</a:t>
            </a:r>
          </a:p>
          <a:p>
            <a:r>
              <a:rPr lang="en-GB" dirty="0">
                <a:solidFill>
                  <a:schemeClr val="bg1"/>
                </a:solidFill>
              </a:rPr>
              <a:t>#define </a:t>
            </a:r>
            <a:r>
              <a:rPr lang="en-GB" dirty="0" err="1">
                <a:solidFill>
                  <a:schemeClr val="bg1"/>
                </a:solidFill>
              </a:rPr>
              <a:t>Left_Speed</a:t>
            </a:r>
            <a:r>
              <a:rPr lang="en-GB" dirty="0">
                <a:solidFill>
                  <a:schemeClr val="bg1"/>
                </a:solidFill>
              </a:rPr>
              <a:t> 6</a:t>
            </a:r>
          </a:p>
          <a:p>
            <a:r>
              <a:rPr lang="en-GB" dirty="0">
                <a:solidFill>
                  <a:schemeClr val="bg1"/>
                </a:solidFill>
              </a:rPr>
              <a:t>#define Right1 3, Right2 4, </a:t>
            </a:r>
            <a:r>
              <a:rPr lang="en-GB" dirty="0" err="1">
                <a:solidFill>
                  <a:schemeClr val="bg1"/>
                </a:solidFill>
              </a:rPr>
              <a:t>Right_Speed</a:t>
            </a:r>
            <a:r>
              <a:rPr lang="en-GB" dirty="0">
                <a:solidFill>
                  <a:schemeClr val="bg1"/>
                </a:solidFill>
              </a:rPr>
              <a:t> 5</a:t>
            </a:r>
          </a:p>
          <a:p>
            <a:r>
              <a:rPr lang="en-GB" dirty="0" err="1">
                <a:solidFill>
                  <a:schemeClr val="bg1"/>
                </a:solidFill>
              </a:rPr>
              <a:t>digitalWrite</a:t>
            </a:r>
            <a:r>
              <a:rPr lang="en-GB" dirty="0">
                <a:solidFill>
                  <a:schemeClr val="bg1"/>
                </a:solidFill>
              </a:rPr>
              <a:t> + </a:t>
            </a:r>
            <a:r>
              <a:rPr lang="en-GB" dirty="0" err="1">
                <a:solidFill>
                  <a:schemeClr val="bg1"/>
                </a:solidFill>
              </a:rPr>
              <a:t>analogWrite</a:t>
            </a:r>
            <a:r>
              <a:rPr lang="en-GB" dirty="0">
                <a:solidFill>
                  <a:schemeClr val="bg1"/>
                </a:solidFill>
              </a:rPr>
              <a:t> usage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accent5"/>
                </a:solidFill>
              </a:rPr>
              <a:t>GitHub Link: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D5F2A6-0526-BD1E-4ED1-7C67E3FFF2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1314" y="156102"/>
            <a:ext cx="2037720" cy="549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33291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215261-95B6-C07C-160B-717C3FC92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B3B586-224B-3222-89EF-D6DBF4AF4D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A7BE6A-61B5-C731-D109-A50F539C4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Foundation for wireless control</a:t>
            </a:r>
          </a:p>
          <a:p>
            <a:r>
              <a:rPr lang="en-GB" dirty="0">
                <a:solidFill>
                  <a:schemeClr val="bg1"/>
                </a:solidFill>
              </a:rPr>
              <a:t>Used in delivery &amp; warehouse robots</a:t>
            </a:r>
          </a:p>
          <a:p>
            <a:r>
              <a:rPr lang="en-GB" dirty="0">
                <a:solidFill>
                  <a:schemeClr val="bg1"/>
                </a:solidFill>
              </a:rPr>
              <a:t>Supports future sensor integration</a:t>
            </a:r>
          </a:p>
          <a:p>
            <a:endParaRPr lang="en-GB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76B218-CB3B-9D01-B653-16E92441B8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1314" y="156102"/>
            <a:ext cx="2037720" cy="549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25311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69DFF6-60F7-FE01-7A26-3CF8EA34B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102E0-37D4-4612-6A81-098207957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605459-098C-C078-AB7E-1F5DF4E53D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  <a:p>
            <a:r>
              <a:rPr lang="en-GB" dirty="0"/>
              <a:t>Why two motor pins?</a:t>
            </a:r>
          </a:p>
          <a:p>
            <a:r>
              <a:rPr lang="en-GB" dirty="0"/>
              <a:t>What is PWM?</a:t>
            </a:r>
          </a:p>
          <a:p>
            <a:r>
              <a:rPr lang="en-GB" dirty="0"/>
              <a:t>Why both LOW = motor off?</a:t>
            </a:r>
          </a:p>
          <a:p>
            <a:endParaRPr lang="en-GB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F987B9-162F-9AF6-0B5B-C3575E4F8A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1314" y="156102"/>
            <a:ext cx="2037720" cy="549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2422157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2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2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3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4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5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6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7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8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1891</TotalTime>
  <Words>1720</Words>
  <Application>Microsoft Office PowerPoint</Application>
  <PresentationFormat>Widescreen</PresentationFormat>
  <Paragraphs>404</Paragraphs>
  <Slides>31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31</vt:i4>
      </vt:variant>
    </vt:vector>
  </HeadingPairs>
  <TitlesOfParts>
    <vt:vector size="40" baseType="lpstr">
      <vt:lpstr>Aptos</vt:lpstr>
      <vt:lpstr>Aptos Display</vt:lpstr>
      <vt:lpstr>Arial</vt:lpstr>
      <vt:lpstr>Calibri</vt:lpstr>
      <vt:lpstr>Calibri Light</vt:lpstr>
      <vt:lpstr>Times New Roman</vt:lpstr>
      <vt:lpstr>1_Office Theme</vt:lpstr>
      <vt:lpstr>Office Theme</vt:lpstr>
      <vt:lpstr>2_Office Theme</vt:lpstr>
      <vt:lpstr>Robot Car 2 (Wireless Communication Control) (RCC)</vt:lpstr>
      <vt:lpstr>Robot Car2 - Contents</vt:lpstr>
      <vt:lpstr>Robot Car2 - Contents</vt:lpstr>
      <vt:lpstr>RCC01: Robot Car 2 Basic Movements</vt:lpstr>
      <vt:lpstr>Motor Driver Module</vt:lpstr>
      <vt:lpstr> RCC01: Robot Car 2 Basic Movements </vt:lpstr>
      <vt:lpstr>RCC01: Robot Car 2 Basic Movements</vt:lpstr>
      <vt:lpstr>RCC01: Robot Car 2 Basic Movements</vt:lpstr>
      <vt:lpstr>Lab 1:  Basic Movements</vt:lpstr>
      <vt:lpstr>RCC01: Robot Car 2 Basic Movements</vt:lpstr>
      <vt:lpstr>RCC01: Robot Car 2 Basic Movements</vt:lpstr>
      <vt:lpstr>Car Basic Movements</vt:lpstr>
      <vt:lpstr> Robot Car 2 </vt:lpstr>
      <vt:lpstr>PowerPoint Presentation</vt:lpstr>
      <vt:lpstr>RCC01: Motor Driver Module</vt:lpstr>
      <vt:lpstr>RCC01: Robot Car 2 Basic Movements</vt:lpstr>
      <vt:lpstr>Lab Session 1 – Car Basic Movements</vt:lpstr>
      <vt:lpstr>Car Orientation Guidelines</vt:lpstr>
      <vt:lpstr>Lab Session 1 – Car Basic Movements</vt:lpstr>
      <vt:lpstr> Car Basic Movements</vt:lpstr>
      <vt:lpstr>Car Basic Movements</vt:lpstr>
      <vt:lpstr>Car Basic Movements</vt:lpstr>
      <vt:lpstr> Car Basic Movements</vt:lpstr>
      <vt:lpstr>Car Basic Movements</vt:lpstr>
      <vt:lpstr>Car Basic Movements</vt:lpstr>
      <vt:lpstr>Learning Outcomes</vt:lpstr>
      <vt:lpstr>Schematics</vt:lpstr>
      <vt:lpstr>Pseudocode</vt:lpstr>
      <vt:lpstr>Example Code</vt:lpstr>
      <vt:lpstr>Applications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24</cp:revision>
  <dcterms:created xsi:type="dcterms:W3CDTF">2025-11-29T15:09:33Z</dcterms:created>
  <dcterms:modified xsi:type="dcterms:W3CDTF">2026-01-10T20:40:19Z</dcterms:modified>
</cp:coreProperties>
</file>