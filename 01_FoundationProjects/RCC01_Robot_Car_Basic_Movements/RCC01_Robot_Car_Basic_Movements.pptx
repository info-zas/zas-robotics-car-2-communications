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6"/>
  </p:notesMasterIdLst>
  <p:sldIdLst>
    <p:sldId id="256" r:id="rId3"/>
    <p:sldId id="287" r:id="rId4"/>
    <p:sldId id="288" r:id="rId5"/>
    <p:sldId id="285" r:id="rId6"/>
    <p:sldId id="289" r:id="rId7"/>
    <p:sldId id="275" r:id="rId8"/>
    <p:sldId id="276" r:id="rId9"/>
    <p:sldId id="277" r:id="rId10"/>
    <p:sldId id="283" r:id="rId11"/>
    <p:sldId id="279" r:id="rId12"/>
    <p:sldId id="290" r:id="rId13"/>
    <p:sldId id="27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9E1E9-E053-4818-89F0-4D281B16619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C5A9F-E0C7-4312-8388-1E325D3BA4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530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7C8939-3E88-5189-4BFF-33566C64303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CA908F-7FAB-24C7-0710-DFC59F62181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0106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3331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993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4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473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50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803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61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51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08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919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952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66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608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3638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2685966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6248419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993434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126460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633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3188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982723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148992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6876298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08732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447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522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41256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42905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9369464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497864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50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3637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380486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838062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228472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243857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386920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828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90209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330167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98307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9357160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3772560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092936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064133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571417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111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1797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641176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45559044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486810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416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65131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656707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4853554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8704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05100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9798151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434111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94927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3076003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705323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212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59001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3090107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55916414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66781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801150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59696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67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1217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8208391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527868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6967749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768515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25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23231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5752511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532034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4417099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359753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35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97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2585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399962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387057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44757819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3086872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32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Ref: RCC01)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RCC01: Robot Car 2 Basic Movements</a:t>
            </a:r>
            <a:endParaRPr lang="en-GB" sz="3600" b="1" dirty="0">
              <a:solidFill>
                <a:srgbClr val="7030A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RCC01: Robot Car 2 Basic Movements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B6BB2-02A0-C333-F08A-07BCD25F3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799157" y="1814089"/>
            <a:ext cx="3510197" cy="4980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8E6832-164B-63D1-992D-505C09285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13" y="3000975"/>
            <a:ext cx="2972058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620162" name="Title 1"/>
          <p:cNvSpPr>
            <a:spLocks noGrp="1"/>
          </p:cNvSpPr>
          <p:nvPr>
            <p:ph type="title"/>
          </p:nvPr>
        </p:nvSpPr>
        <p:spPr bwMode="auto">
          <a:xfrm>
            <a:off x="10884" y="-4988"/>
            <a:ext cx="10515600" cy="11782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 Driver Module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7059722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470025617" name="TextBox 10"/>
          <p:cNvSpPr txBox="1"/>
          <p:nvPr/>
        </p:nvSpPr>
        <p:spPr bwMode="auto">
          <a:xfrm>
            <a:off x="5255040" y="1326051"/>
            <a:ext cx="3054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TB 6612 Motor Driver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225172678" name="TextBox 11"/>
          <p:cNvSpPr txBox="1"/>
          <p:nvPr/>
        </p:nvSpPr>
        <p:spPr bwMode="auto">
          <a:xfrm>
            <a:off x="9235900" y="2150073"/>
            <a:ext cx="28616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TT  DC Motor Driver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Aptos"/>
                <a:cs typeface="Arial"/>
              </a:rPr>
              <a:t>(130 RPM, 6V)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1574858720" name="Picture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787763" y="3172801"/>
            <a:ext cx="3025402" cy="2255715"/>
          </a:xfrm>
          <a:prstGeom prst="rect">
            <a:avLst/>
          </a:prstGeom>
        </p:spPr>
      </p:pic>
      <p:sp>
        <p:nvSpPr>
          <p:cNvPr id="2" name="TextBox 10">
            <a:extLst>
              <a:ext uri="{FF2B5EF4-FFF2-40B4-BE49-F238E27FC236}">
                <a16:creationId xmlns:a16="http://schemas.microsoft.com/office/drawing/2014/main" id="{8EBAC4C0-56E8-E7F6-E0C7-E651D6BDB022}"/>
              </a:ext>
            </a:extLst>
          </p:cNvPr>
          <p:cNvSpPr txBox="1"/>
          <p:nvPr/>
        </p:nvSpPr>
        <p:spPr bwMode="auto">
          <a:xfrm>
            <a:off x="1954758" y="4386179"/>
            <a:ext cx="24465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sng" strike="noStrike" kern="0" cap="none" spc="0" normalizeH="0" baseline="0" noProof="0" dirty="0">
                <a:ln>
                  <a:noFill/>
                </a:ln>
                <a:solidFill>
                  <a:srgbClr val="219EBC"/>
                </a:solidFill>
                <a:effectLst/>
                <a:uLnTx/>
                <a:uFillTx/>
                <a:latin typeface="Aptos"/>
                <a:cs typeface="Arial"/>
              </a:rPr>
              <a:t>Right</a:t>
            </a:r>
            <a:r>
              <a:rPr kumimoji="0" lang="en-GB" sz="1800" b="1" i="0" u="sng" strike="noStrike" kern="0" cap="none" spc="0" normalizeH="0" baseline="0" noProof="0" dirty="0">
                <a:ln>
                  <a:noFill/>
                </a:ln>
                <a:solidFill>
                  <a:srgbClr val="219EBC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Motor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A-IN1 – Arduino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cs typeface="Arial"/>
              </a:rPr>
              <a:t>Un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3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A-IN2 – Arduino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cs typeface="Arial"/>
              </a:rPr>
              <a:t>Un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4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PWMA – Arduino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cs typeface="Arial"/>
              </a:rPr>
              <a:t>Un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5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69A929C4-ED20-68A7-042C-AC5A30024BA6}"/>
              </a:ext>
            </a:extLst>
          </p:cNvPr>
          <p:cNvSpPr txBox="1"/>
          <p:nvPr/>
        </p:nvSpPr>
        <p:spPr bwMode="auto">
          <a:xfrm>
            <a:off x="5562802" y="4386178"/>
            <a:ext cx="24961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sng" strike="noStrike" kern="0" cap="none" spc="0" normalizeH="0" baseline="0" noProof="0" dirty="0">
                <a:ln>
                  <a:noFill/>
                </a:ln>
                <a:solidFill>
                  <a:srgbClr val="219EBC"/>
                </a:solidFill>
                <a:effectLst/>
                <a:uLnTx/>
                <a:uFillTx/>
                <a:latin typeface="Aptos"/>
                <a:cs typeface="Arial"/>
              </a:rPr>
              <a:t>Left</a:t>
            </a:r>
            <a:r>
              <a:rPr kumimoji="0" lang="en-GB" sz="1800" b="1" i="0" u="sng" strike="noStrike" kern="0" cap="none" spc="0" normalizeH="0" baseline="0" noProof="0" dirty="0">
                <a:ln>
                  <a:noFill/>
                </a:ln>
                <a:solidFill>
                  <a:srgbClr val="219EBC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Motor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B-IN1 – Arduino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cs typeface="Arial"/>
              </a:rPr>
              <a:t>Un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8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B-IN2 – Arduino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cs typeface="Arial"/>
              </a:rPr>
              <a:t>U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no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7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PWMB – Arduino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cs typeface="Arial"/>
              </a:rPr>
              <a:t>U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no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6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B7F44-E7A1-E4DC-0785-E7D55AFFE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806644" y="1664095"/>
            <a:ext cx="3043008" cy="2015237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1224BDC8-2BDA-36F9-5286-4E85B0F3E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750128" y="1787716"/>
            <a:ext cx="1729890" cy="176799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F6E80A-353E-1AB1-FE80-067F9700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C5887-F42B-AB36-837B-EE54EE93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FCE3CD-8E5B-4FEB-BC1E-3D61BE3CC713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9820-C1AB-5572-ABF5-B9562CEF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RCC01: Robot Car 2 Basic Movements</a:t>
            </a:r>
            <a:br>
              <a:rPr lang="en-GB" b="1" dirty="0">
                <a:solidFill>
                  <a:srgbClr val="7030A0"/>
                </a:solidFill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9639C-AB62-73C2-DD9F-442CF3A9D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Robot Car 2 Basic Movements:</a:t>
            </a:r>
            <a:br>
              <a:rPr lang="en-GB" dirty="0">
                <a:solidFill>
                  <a:srgbClr val="00B0F0"/>
                </a:solidFill>
              </a:rPr>
            </a:b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Forward</a:t>
            </a:r>
          </a:p>
          <a:p>
            <a:r>
              <a:rPr lang="en-GB" dirty="0">
                <a:solidFill>
                  <a:srgbClr val="00B0F0"/>
                </a:solidFill>
              </a:rPr>
              <a:t>Backward</a:t>
            </a:r>
          </a:p>
          <a:p>
            <a:r>
              <a:rPr lang="en-GB" dirty="0">
                <a:solidFill>
                  <a:srgbClr val="00B0F0"/>
                </a:solidFill>
              </a:rPr>
              <a:t>Left</a:t>
            </a:r>
          </a:p>
          <a:p>
            <a:r>
              <a:rPr lang="en-GB" dirty="0">
                <a:solidFill>
                  <a:srgbClr val="00B0F0"/>
                </a:solidFill>
              </a:rPr>
              <a:t>Right</a:t>
            </a:r>
          </a:p>
          <a:p>
            <a:r>
              <a:rPr lang="en-GB" dirty="0">
                <a:solidFill>
                  <a:srgbClr val="00B0F0"/>
                </a:solidFill>
              </a:rPr>
              <a:t>Stop</a:t>
            </a:r>
          </a:p>
          <a:p>
            <a:endParaRPr lang="en-GB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603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ECE2-01BC-ED9A-9A77-F2172F71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RCC01: Robot Car 2 Basic Movements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0D22B-58E5-8CA6-2479-124C17F606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641" y="1257907"/>
            <a:ext cx="3510197" cy="498003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6712AE8-A77B-F3C9-9DBC-14A7394E0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64" y="1972496"/>
            <a:ext cx="615232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 It is good practice to follow consistent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orientation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terminology when navigating the car.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 As a guideline, we use the car’s orientation shown in this picture</a:t>
            </a:r>
            <a:r>
              <a:rPr lang="en-US" altLang="en-US" sz="2800" dirty="0">
                <a:solidFill>
                  <a:srgbClr val="00B0F0"/>
                </a:solidFill>
                <a:latin typeface="Arial" panose="020B0604020202020204" pitchFamily="34" charset="0"/>
              </a:rPr>
              <a:t>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the car is facing away from you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BFF1A-96F3-75C9-3304-08DD4D73286A}"/>
              </a:ext>
            </a:extLst>
          </p:cNvPr>
          <p:cNvSpPr txBox="1"/>
          <p:nvPr/>
        </p:nvSpPr>
        <p:spPr bwMode="auto">
          <a:xfrm>
            <a:off x="7763640" y="1431776"/>
            <a:ext cx="2924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Car’s FORWARD Direction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6D4AA-DCFA-2EDD-DEEA-CBEAB87A783D}"/>
              </a:ext>
            </a:extLst>
          </p:cNvPr>
          <p:cNvSpPr txBox="1"/>
          <p:nvPr/>
        </p:nvSpPr>
        <p:spPr bwMode="auto">
          <a:xfrm>
            <a:off x="7908153" y="6458786"/>
            <a:ext cx="307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Car’s BACKWARD Direction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E9D55-586B-2E36-F8B5-93FD2C8CA0C9}"/>
              </a:ext>
            </a:extLst>
          </p:cNvPr>
          <p:cNvSpPr txBox="1"/>
          <p:nvPr/>
        </p:nvSpPr>
        <p:spPr bwMode="auto">
          <a:xfrm rot="16200000">
            <a:off x="6336270" y="3536468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Car’s LEFT Direction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BB741-8127-CD03-897F-951E4B13F36C}"/>
              </a:ext>
            </a:extLst>
          </p:cNvPr>
          <p:cNvSpPr txBox="1"/>
          <p:nvPr/>
        </p:nvSpPr>
        <p:spPr bwMode="auto">
          <a:xfrm rot="5400000">
            <a:off x="9740755" y="3656290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Car’s RIGHT Direction</a:t>
            </a:r>
          </a:p>
        </p:txBody>
      </p:sp>
    </p:spTree>
    <p:extLst>
      <p:ext uri="{BB962C8B-B14F-4D97-AF65-F5344CB8AC3E}">
        <p14:creationId xmlns:p14="http://schemas.microsoft.com/office/powerpoint/2010/main" val="3788203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6B32-D05A-5407-456A-749E616C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RCC01: Robot Car 2 Basic Movements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790330-08BF-9F4F-5EA0-A72DD58AA7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3533537"/>
              </p:ext>
            </p:extLst>
          </p:nvPr>
        </p:nvGraphicFramePr>
        <p:xfrm>
          <a:off x="1019655" y="2123672"/>
          <a:ext cx="10410101" cy="2906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3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0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17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Movement Command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 (IN1 / IN2)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 (IN3 / IN4)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(ENA / ENB)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8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HIGH IN2 = LOW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HIGH IN4 = LOW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(0–255)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motors rotate forward at the same speed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6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BACKWARD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LOW IN2 = HIGH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LOW IN4 = HIGH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(0–255)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motors rotate backward at the same speed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17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LEFT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LOW IN2 = HIGH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HIGH IN4 = LOW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(0–255)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 backward, right motor forward (pivot turn)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RIGHT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HIGH IN2 = LOW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LOW IN4 = HIGH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(0–255)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 forward, right motor backward (pivot turn)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6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LOW IN2 = LOW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LOW IN4 = LOW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motors disabled, no movement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781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206442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 1:  Basic Movements</a:t>
            </a:r>
            <a:endParaRPr sz="40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364B4-2240-D5AD-58C9-B17652C5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558435-332F-107D-CD94-BCBF0EFB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FCE3CD-8E5B-4FEB-BC1E-3D61BE3CC713}" type="slidenum">
              <a:rPr lang="en-GB" smtClean="0"/>
              <a:t>9</a:t>
            </a:fld>
            <a:endParaRPr lang="en-GB"/>
          </a:p>
        </p:txBody>
      </p:sp>
      <p:sp>
        <p:nvSpPr>
          <p:cNvPr id="1467460504" name="TextBox 3"/>
          <p:cNvSpPr txBox="1"/>
          <p:nvPr/>
        </p:nvSpPr>
        <p:spPr bwMode="auto">
          <a:xfrm>
            <a:off x="422818" y="1774094"/>
            <a:ext cx="4884671" cy="286232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 dirty="0">
                <a:ln>
                  <a:noFill/>
                </a:ln>
                <a:solidFill>
                  <a:srgbClr val="00B0F0"/>
                </a:solidFill>
                <a:latin typeface="Aptos"/>
                <a:ea typeface="+mn-ea"/>
                <a:cs typeface="+mn-cs"/>
              </a:rPr>
              <a:t>// ============== Pin </a:t>
            </a:r>
            <a:r>
              <a:rPr lang="en-GB" sz="1800" b="0" i="0" u="none" strike="noStrike" cap="none" spc="0" dirty="0">
                <a:ln>
                  <a:noFill/>
                </a:ln>
                <a:solidFill>
                  <a:srgbClr val="00B0F0"/>
                </a:solidFill>
                <a:latin typeface="Aptos"/>
                <a:ea typeface="+mn-ea"/>
                <a:cs typeface="+mn-cs"/>
              </a:rPr>
              <a:t>Definitions</a:t>
            </a:r>
            <a:r>
              <a:rPr lang="it-IT" sz="1800" b="0" i="0" u="none" strike="noStrike" cap="none" spc="0" dirty="0">
                <a:ln>
                  <a:noFill/>
                </a:ln>
                <a:solidFill>
                  <a:srgbClr val="00B0F0"/>
                </a:solidFill>
                <a:latin typeface="Aptos"/>
                <a:ea typeface="+mn-ea"/>
                <a:cs typeface="+mn-cs"/>
              </a:rPr>
              <a:t> ==========</a:t>
            </a:r>
            <a:endParaRPr dirty="0">
              <a:solidFill>
                <a:srgbClr val="00B0F0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 dirty="0">
                <a:ln>
                  <a:noFill/>
                </a:ln>
                <a:solidFill>
                  <a:srgbClr val="00B0F0"/>
                </a:solidFill>
                <a:highlight>
                  <a:srgbClr val="FF0000"/>
                </a:highlight>
                <a:latin typeface="Aptos"/>
                <a:ea typeface="+mn-ea"/>
                <a:cs typeface="+mn-cs"/>
              </a:rPr>
              <a:t>// Left Motor</a:t>
            </a:r>
            <a:endParaRPr dirty="0">
              <a:solidFill>
                <a:srgbClr val="00B0F0"/>
              </a:solidFill>
              <a:highlight>
                <a:srgbClr val="FF0000"/>
              </a:highlight>
            </a:endParaRP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</a:rPr>
              <a:t>#define Left1 7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</a:rPr>
              <a:t>#define Left2 8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</a:rPr>
              <a:t>#define </a:t>
            </a:r>
            <a:r>
              <a:rPr lang="en-US" dirty="0" err="1">
                <a:solidFill>
                  <a:srgbClr val="00B0F0"/>
                </a:solidFill>
              </a:rPr>
              <a:t>Left_Speed</a:t>
            </a:r>
            <a:r>
              <a:rPr lang="en-US" dirty="0">
                <a:solidFill>
                  <a:srgbClr val="00B0F0"/>
                </a:solidFill>
              </a:rPr>
              <a:t> 6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it-IT" sz="1800" b="0" i="0" u="none" strike="noStrike" cap="none" spc="0" dirty="0">
              <a:ln>
                <a:noFill/>
              </a:ln>
              <a:solidFill>
                <a:srgbClr val="00B0F0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 dirty="0">
                <a:ln>
                  <a:noFill/>
                </a:ln>
                <a:solidFill>
                  <a:srgbClr val="00B0F0"/>
                </a:solidFill>
                <a:highlight>
                  <a:srgbClr val="FF0000"/>
                </a:highlight>
                <a:latin typeface="Aptos"/>
                <a:ea typeface="+mn-ea"/>
                <a:cs typeface="+mn-cs"/>
              </a:rPr>
              <a:t>// </a:t>
            </a:r>
            <a:r>
              <a:rPr lang="it-IT" sz="1800" b="0" i="0" u="none" strike="noStrike" cap="none" spc="0" dirty="0" err="1">
                <a:ln>
                  <a:noFill/>
                </a:ln>
                <a:solidFill>
                  <a:srgbClr val="00B0F0"/>
                </a:solidFill>
                <a:highlight>
                  <a:srgbClr val="FF0000"/>
                </a:highlight>
                <a:latin typeface="Aptos"/>
                <a:ea typeface="+mn-ea"/>
                <a:cs typeface="+mn-cs"/>
              </a:rPr>
              <a:t>Right</a:t>
            </a:r>
            <a:r>
              <a:rPr lang="it-IT" sz="1800" b="0" i="0" u="none" strike="noStrike" cap="none" spc="0" dirty="0">
                <a:ln>
                  <a:noFill/>
                </a:ln>
                <a:solidFill>
                  <a:srgbClr val="00B0F0"/>
                </a:solidFill>
                <a:highlight>
                  <a:srgbClr val="FF0000"/>
                </a:highlight>
                <a:latin typeface="Aptos"/>
                <a:ea typeface="+mn-ea"/>
                <a:cs typeface="+mn-cs"/>
              </a:rPr>
              <a:t> Motor</a:t>
            </a:r>
            <a:endParaRPr dirty="0">
              <a:solidFill>
                <a:srgbClr val="00B0F0"/>
              </a:solidFill>
              <a:highlight>
                <a:srgbClr val="FF0000"/>
              </a:highlight>
            </a:endParaRP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</a:rPr>
              <a:t>#define Right1 3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</a:rPr>
              <a:t>#define Right2 4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</a:rPr>
              <a:t>#define </a:t>
            </a:r>
            <a:r>
              <a:rPr lang="en-US" dirty="0" err="1">
                <a:solidFill>
                  <a:srgbClr val="00B0F0"/>
                </a:solidFill>
              </a:rPr>
              <a:t>Right_Speed</a:t>
            </a:r>
            <a:r>
              <a:rPr lang="en-US" dirty="0">
                <a:solidFill>
                  <a:srgbClr val="00B0F0"/>
                </a:solidFill>
              </a:rPr>
              <a:t> 5</a:t>
            </a:r>
          </a:p>
        </p:txBody>
      </p:sp>
      <p:sp>
        <p:nvSpPr>
          <p:cNvPr id="1477010180" name="TextBox 4"/>
          <p:cNvSpPr txBox="1"/>
          <p:nvPr/>
        </p:nvSpPr>
        <p:spPr bwMode="auto">
          <a:xfrm>
            <a:off x="5965371" y="1774094"/>
            <a:ext cx="59544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3600" b="1" i="0" u="none" strike="noStrike" cap="none" spc="0" dirty="0">
                <a:ln>
                  <a:noFill/>
                </a:ln>
                <a:solidFill>
                  <a:srgbClr val="00B0F0"/>
                </a:solidFill>
                <a:latin typeface="Aptos"/>
                <a:ea typeface="+mn-ea"/>
                <a:cs typeface="+mn-cs"/>
              </a:rPr>
              <a:t>Please test each direction in isolation</a:t>
            </a:r>
            <a:endParaRPr lang="en-GB" sz="1800" b="0" i="0" u="none" strike="noStrike" cap="none" spc="0" dirty="0">
              <a:ln>
                <a:noFill/>
              </a:ln>
              <a:solidFill>
                <a:srgbClr val="00B0F0"/>
              </a:solidFill>
              <a:latin typeface="Aptos"/>
              <a:ea typeface="+mn-ea"/>
              <a:cs typeface="+mn-cs"/>
            </a:endParaRPr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 dirty="0">
                <a:ln>
                  <a:noFill/>
                </a:ln>
                <a:solidFill>
                  <a:srgbClr val="00B0F0"/>
                </a:solidFill>
                <a:latin typeface="Aptos"/>
                <a:ea typeface="+mn-ea"/>
                <a:cs typeface="+mn-cs"/>
              </a:rPr>
              <a:t>Forward</a:t>
            </a:r>
            <a:endParaRPr dirty="0">
              <a:solidFill>
                <a:srgbClr val="00B0F0"/>
              </a:solidFill>
            </a:endParaRPr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 dirty="0">
                <a:ln>
                  <a:noFill/>
                </a:ln>
                <a:solidFill>
                  <a:srgbClr val="00B0F0"/>
                </a:solidFill>
                <a:latin typeface="Aptos"/>
                <a:ea typeface="+mn-ea"/>
                <a:cs typeface="+mn-cs"/>
              </a:rPr>
              <a:t>Backward</a:t>
            </a:r>
            <a:endParaRPr dirty="0">
              <a:solidFill>
                <a:srgbClr val="00B0F0"/>
              </a:solidFill>
            </a:endParaRPr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 dirty="0">
                <a:ln>
                  <a:noFill/>
                </a:ln>
                <a:solidFill>
                  <a:srgbClr val="00B0F0"/>
                </a:solidFill>
                <a:latin typeface="Aptos"/>
                <a:ea typeface="+mn-ea"/>
                <a:cs typeface="+mn-cs"/>
              </a:rPr>
              <a:t>Left</a:t>
            </a:r>
            <a:endParaRPr dirty="0">
              <a:solidFill>
                <a:srgbClr val="00B0F0"/>
              </a:solidFill>
            </a:endParaRPr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 dirty="0">
                <a:ln>
                  <a:noFill/>
                </a:ln>
                <a:solidFill>
                  <a:srgbClr val="00B0F0"/>
                </a:solidFill>
                <a:latin typeface="Aptos"/>
                <a:ea typeface="+mn-ea"/>
                <a:cs typeface="+mn-cs"/>
              </a:rPr>
              <a:t>Right</a:t>
            </a:r>
            <a:endParaRPr dirty="0">
              <a:solidFill>
                <a:srgbClr val="00B0F0"/>
              </a:solidFill>
            </a:endParaRPr>
          </a:p>
        </p:txBody>
      </p:sp>
      <p:pic>
        <p:nvPicPr>
          <p:cNvPr id="223090054" name="Picture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99222827" name="TextBox 9"/>
          <p:cNvSpPr txBox="1"/>
          <p:nvPr/>
        </p:nvSpPr>
        <p:spPr bwMode="auto">
          <a:xfrm>
            <a:off x="832542" y="4617562"/>
            <a:ext cx="10265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If incorrect direction,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 then swap IN1/IN2 pins of the corresponding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Expected Output: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 The car moves in the desired direction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B922-3F54-A244-3F88-D2A3B10E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RCC01: Robot Car 2 Basic Movements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9CC623-13CA-EAE6-C22C-AFF05298B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854" y="1511748"/>
            <a:ext cx="8856406" cy="4351338"/>
          </a:xfrm>
        </p:spPr>
        <p:txBody>
          <a:bodyPr>
            <a:noAutofit/>
          </a:bodyPr>
          <a:lstStyle/>
          <a:p>
            <a:r>
              <a:rPr lang="en-GB" sz="1400" b="1" dirty="0">
                <a:solidFill>
                  <a:srgbClr val="00B0F0"/>
                </a:solidFill>
              </a:rPr>
              <a:t>Forward</a:t>
            </a:r>
          </a:p>
          <a:p>
            <a:pPr lvl="1"/>
            <a:r>
              <a:rPr lang="en-GB" sz="1400" b="1" dirty="0">
                <a:solidFill>
                  <a:srgbClr val="00B0F0"/>
                </a:solidFill>
              </a:rPr>
              <a:t>First check </a:t>
            </a:r>
            <a:r>
              <a:rPr lang="en-GB" sz="1400" b="1" dirty="0">
                <a:solidFill>
                  <a:schemeClr val="accent4">
                    <a:lumMod val="75000"/>
                  </a:schemeClr>
                </a:solidFill>
              </a:rPr>
              <a:t>left motor forward </a:t>
            </a:r>
            <a:r>
              <a:rPr lang="en-GB" sz="1400" b="1" dirty="0">
                <a:solidFill>
                  <a:srgbClr val="00B0F0"/>
                </a:solidFill>
              </a:rPr>
              <a:t>code</a:t>
            </a:r>
          </a:p>
          <a:p>
            <a:pPr lvl="2"/>
            <a:r>
              <a:rPr lang="en-GB" sz="1400" b="1" dirty="0">
                <a:solidFill>
                  <a:srgbClr val="00B0F0"/>
                </a:solidFill>
              </a:rPr>
              <a:t>if not the correct motor, modify the pin assignments of left and right motors</a:t>
            </a:r>
          </a:p>
          <a:p>
            <a:pPr lvl="2"/>
            <a:r>
              <a:rPr lang="en-GB" sz="1400" b="1" dirty="0">
                <a:solidFill>
                  <a:srgbClr val="00B0F0"/>
                </a:solidFill>
              </a:rPr>
              <a:t>If not the correct direction, swap the pin assignments of left motor</a:t>
            </a:r>
          </a:p>
          <a:p>
            <a:pPr lvl="2"/>
            <a:r>
              <a:rPr lang="en-GB" sz="1400" b="1" dirty="0" err="1">
                <a:solidFill>
                  <a:srgbClr val="FFFF00"/>
                </a:solidFill>
              </a:rPr>
              <a:t>Github</a:t>
            </a:r>
            <a:r>
              <a:rPr lang="en-GB" sz="1400" b="1" dirty="0">
                <a:solidFill>
                  <a:srgbClr val="FFFF00"/>
                </a:solidFill>
              </a:rPr>
              <a:t> Code: </a:t>
            </a:r>
          </a:p>
          <a:p>
            <a:pPr lvl="3"/>
            <a:r>
              <a:rPr lang="en-GB" sz="1200" b="1" dirty="0">
                <a:solidFill>
                  <a:srgbClr val="FFFF00"/>
                </a:solidFill>
              </a:rPr>
              <a:t> https://github.com/info-zas/zas-robotics-car-2-communications/blob/main/01_FoundationProjects/RCC01_Robot_Car_Basic_Movements/RCC01_a_Left_Forward_Rx/RCC01_a_Left_Forward_Rx.ino</a:t>
            </a:r>
          </a:p>
          <a:p>
            <a:pPr lvl="1"/>
            <a:r>
              <a:rPr lang="en-GB" sz="1400" b="1" dirty="0">
                <a:solidFill>
                  <a:srgbClr val="00B0F0"/>
                </a:solidFill>
              </a:rPr>
              <a:t>Now check the </a:t>
            </a:r>
            <a:r>
              <a:rPr lang="en-GB" sz="1400" b="1" dirty="0">
                <a:solidFill>
                  <a:schemeClr val="accent4">
                    <a:lumMod val="75000"/>
                  </a:schemeClr>
                </a:solidFill>
              </a:rPr>
              <a:t>right motor forward </a:t>
            </a:r>
            <a:r>
              <a:rPr lang="en-GB" sz="1400" b="1" dirty="0">
                <a:solidFill>
                  <a:srgbClr val="00B0F0"/>
                </a:solidFill>
              </a:rPr>
              <a:t>code:</a:t>
            </a:r>
          </a:p>
          <a:p>
            <a:pPr lvl="2"/>
            <a:r>
              <a:rPr lang="en-GB" sz="1400" b="1" dirty="0">
                <a:solidFill>
                  <a:srgbClr val="00B0F0"/>
                </a:solidFill>
              </a:rPr>
              <a:t>If not the correct direction, swap the pin assignments of right motor</a:t>
            </a:r>
          </a:p>
          <a:p>
            <a:pPr lvl="2"/>
            <a:r>
              <a:rPr lang="en-GB" sz="1400" b="1" dirty="0" err="1">
                <a:solidFill>
                  <a:srgbClr val="FFFF00"/>
                </a:solidFill>
              </a:rPr>
              <a:t>Github</a:t>
            </a:r>
            <a:r>
              <a:rPr lang="en-GB" sz="1400" b="1" dirty="0">
                <a:solidFill>
                  <a:srgbClr val="FFFF00"/>
                </a:solidFill>
              </a:rPr>
              <a:t> Code:</a:t>
            </a:r>
          </a:p>
          <a:p>
            <a:pPr lvl="3"/>
            <a:r>
              <a:rPr lang="en-GB" sz="1200" b="1" dirty="0">
                <a:solidFill>
                  <a:srgbClr val="FFFF00"/>
                </a:solidFill>
              </a:rPr>
              <a:t>https://github.com/info-zas/zas-robotics-car-2-communications/blob/main/01_FoundationProjects/RCC01_Robot_Car_Basic_Movements/RCC01_b_Right_Forward_Rx/RCC01_b_Right_Forward_Rx.ino</a:t>
            </a:r>
          </a:p>
          <a:p>
            <a:r>
              <a:rPr lang="en-GB" sz="1400" b="1" dirty="0">
                <a:solidFill>
                  <a:srgbClr val="00B0F0"/>
                </a:solidFill>
              </a:rPr>
              <a:t>Backward</a:t>
            </a:r>
          </a:p>
          <a:p>
            <a:pPr lvl="2"/>
            <a:r>
              <a:rPr lang="en-GB" sz="1400" b="1" dirty="0">
                <a:solidFill>
                  <a:srgbClr val="00B0F0"/>
                </a:solidFill>
              </a:rPr>
              <a:t>Add the </a:t>
            </a:r>
            <a:r>
              <a:rPr lang="en-GB" sz="1400" b="1" dirty="0">
                <a:solidFill>
                  <a:schemeClr val="accent4">
                    <a:lumMod val="75000"/>
                  </a:schemeClr>
                </a:solidFill>
              </a:rPr>
              <a:t>backward</a:t>
            </a:r>
            <a:r>
              <a:rPr lang="en-GB" sz="1400" b="1" dirty="0">
                <a:solidFill>
                  <a:srgbClr val="00B0F0"/>
                </a:solidFill>
              </a:rPr>
              <a:t> functionality to the code.</a:t>
            </a:r>
          </a:p>
          <a:p>
            <a:pPr lvl="2"/>
            <a:r>
              <a:rPr lang="en-GB" sz="1400" b="1" dirty="0" err="1">
                <a:solidFill>
                  <a:srgbClr val="FFFF00"/>
                </a:solidFill>
              </a:rPr>
              <a:t>Github</a:t>
            </a:r>
            <a:r>
              <a:rPr lang="en-GB" sz="1400" b="1" dirty="0">
                <a:solidFill>
                  <a:srgbClr val="FFFF00"/>
                </a:solidFill>
              </a:rPr>
              <a:t> Code: </a:t>
            </a:r>
          </a:p>
          <a:p>
            <a:pPr lvl="3"/>
            <a:r>
              <a:rPr lang="en-GB" sz="1200" b="1" dirty="0">
                <a:solidFill>
                  <a:srgbClr val="FFFF00"/>
                </a:solidFill>
              </a:rPr>
              <a:t>https://github.com/info-zas/zas-robotics-car-2-communications/blob/main/01_FoundationProjects/RCC01_Robot_Car_Basic_Movements/RCC01_c_Backward_Rx/RCC01_c_Backward_Rx.ino</a:t>
            </a:r>
          </a:p>
          <a:p>
            <a:endParaRPr lang="en-GB" sz="1400" b="1" dirty="0">
              <a:solidFill>
                <a:srgbClr val="00B0F0"/>
              </a:solidFill>
            </a:endParaRPr>
          </a:p>
          <a:p>
            <a:endParaRPr lang="en-GB" sz="1400" b="1" dirty="0">
              <a:solidFill>
                <a:srgbClr val="00B0F0"/>
              </a:solidFill>
            </a:endParaRPr>
          </a:p>
          <a:p>
            <a:endParaRPr lang="en-GB" sz="1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232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C7826-9F3C-C165-4776-D3BA4C0D5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RCC01: Robot Car 2 Basic Movements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55E22-A5D7-0D3E-AA9A-71351A79E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400" b="1" dirty="0">
                <a:solidFill>
                  <a:srgbClr val="00B0F0"/>
                </a:solidFill>
              </a:rPr>
              <a:t>Left</a:t>
            </a:r>
          </a:p>
          <a:p>
            <a:pPr lvl="2"/>
            <a:r>
              <a:rPr lang="en-GB" sz="1400" b="1" dirty="0">
                <a:solidFill>
                  <a:srgbClr val="00B0F0"/>
                </a:solidFill>
              </a:rPr>
              <a:t>Now add the </a:t>
            </a:r>
            <a:r>
              <a:rPr lang="en-GB" sz="1400" b="1" dirty="0">
                <a:solidFill>
                  <a:schemeClr val="accent4">
                    <a:lumMod val="75000"/>
                  </a:schemeClr>
                </a:solidFill>
              </a:rPr>
              <a:t>left </a:t>
            </a:r>
            <a:r>
              <a:rPr lang="en-GB" sz="1400" b="1" dirty="0">
                <a:solidFill>
                  <a:srgbClr val="00B0F0"/>
                </a:solidFill>
              </a:rPr>
              <a:t>turn code</a:t>
            </a:r>
          </a:p>
          <a:p>
            <a:pPr lvl="2"/>
            <a:r>
              <a:rPr lang="en-GB" sz="1400" b="1" dirty="0" err="1">
                <a:solidFill>
                  <a:srgbClr val="FFFF00"/>
                </a:solidFill>
              </a:rPr>
              <a:t>Github</a:t>
            </a:r>
            <a:r>
              <a:rPr lang="en-GB" sz="1400" b="1" dirty="0">
                <a:solidFill>
                  <a:srgbClr val="FFFF00"/>
                </a:solidFill>
              </a:rPr>
              <a:t> Code: </a:t>
            </a:r>
          </a:p>
          <a:p>
            <a:pPr lvl="3"/>
            <a:r>
              <a:rPr lang="en-GB" sz="1200" b="1" dirty="0">
                <a:solidFill>
                  <a:srgbClr val="FFFF00"/>
                </a:solidFill>
              </a:rPr>
              <a:t>https://github.com/info-zas/zas-robotics-car-2-communications/blob/main/01_FoundationProjects/RCC01_Robot_Car_Basic_Movements/RCC01_d_LeftTurn_Rx/RCC01_d_LeftTurn_Rx.ino</a:t>
            </a:r>
          </a:p>
          <a:p>
            <a:r>
              <a:rPr lang="en-GB" sz="1400" b="1" dirty="0">
                <a:solidFill>
                  <a:srgbClr val="00B0F0"/>
                </a:solidFill>
              </a:rPr>
              <a:t> Right</a:t>
            </a:r>
          </a:p>
          <a:p>
            <a:pPr lvl="2"/>
            <a:r>
              <a:rPr lang="en-GB" sz="1400" b="1" dirty="0">
                <a:solidFill>
                  <a:srgbClr val="00B0F0"/>
                </a:solidFill>
              </a:rPr>
              <a:t>Now add the</a:t>
            </a:r>
            <a:r>
              <a:rPr lang="en-GB" sz="1400" b="1" dirty="0">
                <a:solidFill>
                  <a:schemeClr val="accent4">
                    <a:lumMod val="75000"/>
                  </a:schemeClr>
                </a:solidFill>
              </a:rPr>
              <a:t> right </a:t>
            </a:r>
            <a:r>
              <a:rPr lang="en-GB" sz="1400" b="1" dirty="0">
                <a:solidFill>
                  <a:srgbClr val="00B0F0"/>
                </a:solidFill>
              </a:rPr>
              <a:t>turn code</a:t>
            </a:r>
          </a:p>
          <a:p>
            <a:pPr lvl="2"/>
            <a:r>
              <a:rPr lang="en-GB" sz="1400" b="1" dirty="0" err="1">
                <a:solidFill>
                  <a:srgbClr val="FFFF00"/>
                </a:solidFill>
              </a:rPr>
              <a:t>Github</a:t>
            </a:r>
            <a:r>
              <a:rPr lang="en-GB" sz="1400" b="1" dirty="0">
                <a:solidFill>
                  <a:srgbClr val="FFFF00"/>
                </a:solidFill>
              </a:rPr>
              <a:t> Code: </a:t>
            </a:r>
          </a:p>
          <a:p>
            <a:pPr lvl="3"/>
            <a:r>
              <a:rPr lang="en-GB" sz="1200" b="1" dirty="0">
                <a:solidFill>
                  <a:srgbClr val="FFFF00"/>
                </a:solidFill>
              </a:rPr>
              <a:t>https://github.com/info-zas/zas-robotics-car-2-communications/blob/main/01_FoundationProjects/RCC01_Robot_Car_Basic_Movements/RCC01_e_right_Rx/RCC01_e_right_Rx.ino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894A5-2821-150C-34AC-B28C8A6A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0E8E6-BDCB-7279-89E6-EFE9669A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783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F6A7-CC88-15EB-9483-ABD150F8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RCC01: Robot Car 2 All Basic Movements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89F729-D85E-D69A-E969-D18434C66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61500" y="1538181"/>
            <a:ext cx="2606806" cy="5061722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71EBAC-8E31-4C2B-6BE2-F6E53A8B67A8}"/>
              </a:ext>
            </a:extLst>
          </p:cNvPr>
          <p:cNvSpPr txBox="1"/>
          <p:nvPr/>
        </p:nvSpPr>
        <p:spPr>
          <a:xfrm>
            <a:off x="4462225" y="2760300"/>
            <a:ext cx="6097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b="1" dirty="0">
                <a:solidFill>
                  <a:srgbClr val="00B0F0"/>
                </a:solidFill>
              </a:rPr>
              <a:t>All movements combined</a:t>
            </a:r>
          </a:p>
          <a:p>
            <a:pPr lvl="1">
              <a:lnSpc>
                <a:spcPct val="100000"/>
              </a:lnSpc>
            </a:pPr>
            <a:r>
              <a:rPr lang="en-GB" sz="1400" b="1" dirty="0" err="1">
                <a:solidFill>
                  <a:srgbClr val="FFFF00"/>
                </a:solidFill>
              </a:rPr>
              <a:t>Github</a:t>
            </a:r>
            <a:r>
              <a:rPr lang="en-GB" sz="1400" b="1" dirty="0">
                <a:solidFill>
                  <a:srgbClr val="FFFF00"/>
                </a:solidFill>
              </a:rPr>
              <a:t> code:</a:t>
            </a:r>
          </a:p>
          <a:p>
            <a:pPr lvl="2">
              <a:lnSpc>
                <a:spcPct val="100000"/>
              </a:lnSpc>
            </a:pPr>
            <a:r>
              <a:rPr lang="en-GB" sz="1400" b="1" dirty="0">
                <a:solidFill>
                  <a:srgbClr val="FFFF00"/>
                </a:solidFill>
              </a:rPr>
              <a:t>https://github.com/info-zas/zas-robotics-car-2-communications/blob/main/01_FoundationProjects/RCC01_Robot_Car_Basic_Movements/RCC01_f_All_Basic_Movements_Rx/RCC01_f_All_Basic_Movements_Rx.ino</a:t>
            </a:r>
          </a:p>
        </p:txBody>
      </p:sp>
    </p:spTree>
    <p:extLst>
      <p:ext uri="{BB962C8B-B14F-4D97-AF65-F5344CB8AC3E}">
        <p14:creationId xmlns:p14="http://schemas.microsoft.com/office/powerpoint/2010/main" val="1628372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720314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7030A0"/>
                </a:solidFill>
              </a:rPr>
              <a:t>RCC01: Robot Car 2 All Basic Movements</a:t>
            </a:r>
            <a:endParaRPr dirty="0"/>
          </a:p>
        </p:txBody>
      </p:sp>
      <p:sp>
        <p:nvSpPr>
          <p:cNvPr id="876527381" name="Content Placeholder 2"/>
          <p:cNvSpPr>
            <a:spLocks noGrp="1"/>
          </p:cNvSpPr>
          <p:nvPr>
            <p:ph idx="1"/>
          </p:nvPr>
        </p:nvSpPr>
        <p:spPr bwMode="auto">
          <a:xfrm>
            <a:off x="295034" y="765121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 dirty="0">
              <a:solidFill>
                <a:srgbClr val="00B0F0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 dirty="0">
              <a:solidFill>
                <a:srgbClr val="00B0F0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” → STANDBY</a:t>
            </a:r>
            <a:endParaRPr sz="2800" b="0" i="0" u="none" dirty="0">
              <a:solidFill>
                <a:srgbClr val="00B0F0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 dirty="0">
              <a:solidFill>
                <a:srgbClr val="00B0F0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4: Upload your pit avoidance program</a:t>
            </a:r>
            <a:endParaRPr sz="2800" b="0" i="0" u="none" dirty="0">
              <a:solidFill>
                <a:srgbClr val="00B0F0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 dirty="0">
              <a:solidFill>
                <a:srgbClr val="00B0F0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 dirty="0">
              <a:solidFill>
                <a:srgbClr val="00B0F0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 dirty="0">
              <a:solidFill>
                <a:srgbClr val="00B0F0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lang="en-US" sz="2400" b="0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lang="en-US" sz="2400" b="0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activate</a:t>
            </a: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 (  motor driver</a:t>
            </a:r>
            <a:r>
              <a:rPr lang="en-US" sz="2400" b="0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)</a:t>
            </a:r>
          </a:p>
          <a:p>
            <a:pPr lvl="1">
              <a:defRPr/>
            </a:pPr>
            <a:r>
              <a:rPr lang="en-US" sz="2400" b="0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sz="2800" b="1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” → ON -&gt;for batter power</a:t>
            </a:r>
            <a:endParaRPr sz="2400" b="0" i="0" u="none" dirty="0">
              <a:solidFill>
                <a:srgbClr val="00B0F0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4: Press </a:t>
            </a:r>
            <a:r>
              <a:rPr sz="2400" b="0" i="1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RESET </a:t>
            </a: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button </a:t>
            </a: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Step 5: Robot car-1 starts pit avoidance program</a:t>
            </a:r>
          </a:p>
          <a:p>
            <a:pPr lvl="1">
              <a:defRPr/>
            </a:pPr>
            <a:r>
              <a:rPr sz="2400" b="0" i="0" u="none" dirty="0">
                <a:solidFill>
                  <a:srgbClr val="00B0F0"/>
                </a:solidFill>
                <a:highlight>
                  <a:srgbClr val="FF0000"/>
                </a:highlight>
                <a:latin typeface="Aptos Display"/>
                <a:ea typeface="Aptos Display"/>
                <a:cs typeface="Aptos Display"/>
              </a:rPr>
              <a:t>Note: </a:t>
            </a:r>
            <a:endParaRPr sz="2400" b="0" i="0" u="none" dirty="0">
              <a:solidFill>
                <a:srgbClr val="00B0F0"/>
              </a:solidFill>
              <a:latin typeface="Aptos Display"/>
              <a:ea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For Basic Movement  </a:t>
            </a:r>
            <a:r>
              <a:rPr lang="en-US" sz="2000" b="1" i="1" u="none" strike="noStrike" cap="none" spc="0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000" b="0" i="0" u="none" dirty="0">
                <a:solidFill>
                  <a:srgbClr val="00B0F0"/>
                </a:solidFill>
                <a:latin typeface="Aptos Display"/>
                <a:ea typeface="Aptos Display"/>
                <a:cs typeface="Aptos Display"/>
              </a:rPr>
              <a:t> selection is not mandatory</a:t>
            </a:r>
            <a:endParaRPr sz="2400" b="0" i="0" u="none" dirty="0">
              <a:solidFill>
                <a:srgbClr val="00B0F0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852825967" name="Picture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456782730" name="TextBox 456782729"/>
          <p:cNvSpPr txBox="1"/>
          <p:nvPr/>
        </p:nvSpPr>
        <p:spPr bwMode="auto">
          <a:xfrm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0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1932</TotalTime>
  <Words>1078</Words>
  <Application>Microsoft Office PowerPoint</Application>
  <PresentationFormat>Widescreen</PresentationFormat>
  <Paragraphs>176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2_Office Theme</vt:lpstr>
      <vt:lpstr>Robot Car 2 (Wireless Communication Control) (RCC)</vt:lpstr>
      <vt:lpstr>Robot Car2 - Contents</vt:lpstr>
      <vt:lpstr>Robot Car2 - Contents</vt:lpstr>
      <vt:lpstr>RCC01: Robot Car 2 Basic Movements</vt:lpstr>
      <vt:lpstr>Motor Driver Module</vt:lpstr>
      <vt:lpstr> RCC01: Robot Car 2 Basic Movements </vt:lpstr>
      <vt:lpstr>RCC01: Robot Car 2 Basic Movements</vt:lpstr>
      <vt:lpstr>RCC01: Robot Car 2 Basic Movements</vt:lpstr>
      <vt:lpstr>Lab 1:  Basic Movements</vt:lpstr>
      <vt:lpstr>RCC01: Robot Car 2 Basic Movements</vt:lpstr>
      <vt:lpstr>RCC01: Robot Car 2 Basic Movements</vt:lpstr>
      <vt:lpstr>RCC01: Robot Car 2 All Basic Movements</vt:lpstr>
      <vt:lpstr>RCC01: Robot Car 2 All Basic Movements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27</cp:revision>
  <dcterms:created xsi:type="dcterms:W3CDTF">2025-11-29T15:09:33Z</dcterms:created>
  <dcterms:modified xsi:type="dcterms:W3CDTF">2026-01-17T13:04:29Z</dcterms:modified>
</cp:coreProperties>
</file>